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728655" cy="91440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VASANTDADA PATIL PRATISHTHAN'S COLLEGE OF ENGINEERING AND VISUAL ARTS</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Department of Information Technology</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Accredited by NAAC | Approved by AICTE, New Delhi | Affiliated to University of Mumbai</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Eastern Express Highway, Near Everard Nagar, Sion, Mumbai, Maharashtra 400022</a:t>
            </a:r>
            <a:endParaRPr lang="en-US" sz="1200" dirty="0"/>
          </a:p>
        </p:txBody>
      </p:sp>
      <p:sp>
        <p:nvSpPr>
          <p:cNvPr id="3" name="Shape 1"/>
          <p:cNvSpPr/>
          <p:nvPr/>
        </p:nvSpPr>
        <p:spPr>
          <a:xfrm>
            <a:off x="731520" y="1325880"/>
            <a:ext cx="10728655" cy="22860"/>
          </a:xfrm>
          <a:prstGeom prst="rect">
            <a:avLst/>
          </a:prstGeom>
          <a:solidFill>
            <a:srgbClr val="0284C7"/>
          </a:solidFill>
          <a:ln w="12700">
            <a:solidFill>
              <a:srgbClr val="0284C7"/>
            </a:solidFill>
            <a:prstDash val="solid"/>
          </a:ln>
        </p:spPr>
      </p:sp>
      <p:sp>
        <p:nvSpPr>
          <p:cNvPr id="4" name="Text 2"/>
          <p:cNvSpPr/>
          <p:nvPr/>
        </p:nvSpPr>
        <p:spPr>
          <a:xfrm>
            <a:off x="731520" y="1463040"/>
            <a:ext cx="10728655" cy="1143000"/>
          </a:xfrm>
          <a:prstGeom prst="rect">
            <a:avLst/>
          </a:prstGeom>
          <a:noFill/>
          <a:ln/>
        </p:spPr>
        <p:txBody>
          <a:bodyPr wrap="square" rtlCol="0" anchor="ctr"/>
          <a:lstStyle/>
          <a:p>
            <a:pPr algn="ctr" indent="0" marL="0">
              <a:buNone/>
            </a:pPr>
            <a:r>
              <a:rPr lang="en-US" sz="1900" b="1" dirty="0">
                <a:solidFill>
                  <a:srgbClr val="0F172A"/>
                </a:solidFill>
                <a:latin typeface="Arial" pitchFamily="34" charset="0"/>
                <a:ea typeface="Arial" pitchFamily="34" charset="-122"/>
                <a:cs typeface="Arial" pitchFamily="34" charset="-120"/>
              </a:rPr>
              <a:t>B.E. MAJOR PROJECT REVIEW 1 (ACADEMIC YEAR 2026–27)</a:t>
            </a:r>
            <a:endParaRPr lang="en-US" sz="1900" dirty="0"/>
          </a:p>
          <a:p>
            <a:pPr algn="ctr" indent="0" marL="0">
              <a:buNone/>
            </a:pPr>
            <a:endParaRPr lang="en-US" sz="1900" dirty="0"/>
          </a:p>
          <a:p>
            <a:pPr algn="ctr" indent="0" marL="0">
              <a:buNone/>
            </a:pPr>
            <a:r>
              <a:rPr lang="en-US" sz="1900" b="1" dirty="0">
                <a:solidFill>
                  <a:srgbClr val="0F172A"/>
                </a:solidFill>
                <a:latin typeface="Arial" pitchFamily="34" charset="0"/>
                <a:ea typeface="Arial" pitchFamily="34" charset="-122"/>
                <a:cs typeface="Arial" pitchFamily="34" charset="-120"/>
              </a:rPr>
              <a:t>AI-Powered Smart Civic Intelligence &amp;</a:t>
            </a:r>
            <a:endParaRPr lang="en-US" sz="1900" dirty="0"/>
          </a:p>
          <a:p>
            <a:pPr algn="ctr" indent="0" marL="0">
              <a:buNone/>
            </a:pPr>
            <a:r>
              <a:rPr lang="en-US" sz="1900" b="1" dirty="0">
                <a:solidFill>
                  <a:srgbClr val="0F172A"/>
                </a:solidFill>
                <a:latin typeface="Arial" pitchFamily="34" charset="0"/>
                <a:ea typeface="Arial" pitchFamily="34" charset="-122"/>
                <a:cs typeface="Arial" pitchFamily="34" charset="-120"/>
              </a:rPr>
              <a:t>Urban Issue Management System</a:t>
            </a:r>
            <a:endParaRPr lang="en-US" sz="1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371600" y="2743200"/>
          <a:ext cx="9448495" cy="1737360"/>
        </p:xfrm>
        <a:graphic>
          <a:graphicData uri="http://schemas.openxmlformats.org/drawingml/2006/table">
            <a:tbl>
              <a:tblPr/>
              <a:tblGrid>
                <a:gridCol w="914400"/>
                <a:gridCol w="5303520"/>
                <a:gridCol w="3230575"/>
              </a:tblGrid>
              <a:tr h="347472">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Sr. No.</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Student Full Name</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Student University ID No.</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THANGE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VU4F2324090</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SABLE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ALOK PANDEY</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VU4F2324138</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ASMIT YADAV</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VU4F2324141</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Text 3"/>
          <p:cNvSpPr/>
          <p:nvPr/>
        </p:nvSpPr>
        <p:spPr>
          <a:xfrm>
            <a:off x="731520" y="4754880"/>
            <a:ext cx="10728655" cy="32004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Department of Information Technology • Vasantdada Patil Pratishthan's College of Engineering and Visual Arts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 Problem Identification &amp; Motivation</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2</a:t>
            </a:r>
            <a:endParaRPr lang="en-US" sz="850" dirty="0"/>
          </a:p>
        </p:txBody>
      </p:sp>
      <p:sp>
        <p:nvSpPr>
          <p:cNvPr id="6" name="Text 4"/>
          <p:cNvSpPr/>
          <p:nvPr/>
        </p:nvSpPr>
        <p:spPr>
          <a:xfrm>
            <a:off x="731520" y="1188720"/>
            <a:ext cx="10728655" cy="274320"/>
          </a:xfrm>
          <a:prstGeom prst="rect">
            <a:avLst/>
          </a:prstGeom>
          <a:noFill/>
          <a:ln/>
        </p:spPr>
        <p:txBody>
          <a:bodyPr wrap="square" rtlCol="0" anchor="ctr"/>
          <a:lstStyle/>
          <a:p>
            <a:pPr indent="0" marL="0">
              <a:buNone/>
            </a:pPr>
            <a:r>
              <a:rPr lang="en-US" sz="1100" b="1" dirty="0">
                <a:solidFill>
                  <a:srgbClr val="0284C7"/>
                </a:solidFill>
              </a:rPr>
              <a:t>URBAN CIVIC INFRASTRUCTURE CHALLENGES</a:t>
            </a:r>
            <a:endParaRPr lang="en-US" sz="1100" dirty="0"/>
          </a:p>
        </p:txBody>
      </p:sp>
      <p:sp>
        <p:nvSpPr>
          <p:cNvPr id="7" name="Text 5"/>
          <p:cNvSpPr/>
          <p:nvPr/>
        </p:nvSpPr>
        <p:spPr>
          <a:xfrm>
            <a:off x="731520" y="1508760"/>
            <a:ext cx="10728655" cy="246888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 High Complaint Volume: Over 5,000+ civic grievances filed daily across Mumbai (BMC) covering potholes, waste piles, waterlogging, and streetlights.</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Manual Triage Bottlenecks: Complaints are hand-routed by operators, leading to 24 to 72-hour administrative delays before field crews receive tickets.</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Severe Ticket Duplication: In high-density urban areas, 100+ citizens submit separate tickets for the exact same issue, clogging databases and wasting municipal funds.</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Lack of Governance Transparency: Citizens receive generic status updates ('In Progress') without SLA timers, ward leaderboards, or timestamped proof photos.</a:t>
            </a:r>
            <a:endParaRPr lang="en-US" sz="1100" dirty="0"/>
          </a:p>
        </p:txBody>
      </p:sp>
      <p:sp>
        <p:nvSpPr>
          <p:cNvPr id="8" name="Shape 6"/>
          <p:cNvSpPr/>
          <p:nvPr/>
        </p:nvSpPr>
        <p:spPr>
          <a:xfrm>
            <a:off x="731520" y="4160520"/>
            <a:ext cx="10728655" cy="13716"/>
          </a:xfrm>
          <a:prstGeom prst="rect">
            <a:avLst/>
          </a:prstGeom>
          <a:solidFill>
            <a:srgbClr val="CBD5E1"/>
          </a:solidFill>
          <a:ln w="12700">
            <a:solidFill>
              <a:srgbClr val="CBD5E1"/>
            </a:solidFill>
            <a:prstDash val="solid"/>
          </a:ln>
        </p:spPr>
      </p:sp>
      <p:sp>
        <p:nvSpPr>
          <p:cNvPr id="9" name="Text 7"/>
          <p:cNvSpPr/>
          <p:nvPr/>
        </p:nvSpPr>
        <p:spPr>
          <a:xfrm>
            <a:off x="731520" y="4297680"/>
            <a:ext cx="10728655" cy="274320"/>
          </a:xfrm>
          <a:prstGeom prst="rect">
            <a:avLst/>
          </a:prstGeom>
          <a:noFill/>
          <a:ln/>
        </p:spPr>
        <p:txBody>
          <a:bodyPr wrap="square" rtlCol="0" anchor="ctr"/>
          <a:lstStyle/>
          <a:p>
            <a:pPr indent="0" marL="0">
              <a:buNone/>
            </a:pPr>
            <a:r>
              <a:rPr lang="en-US" sz="1100" b="1" dirty="0">
                <a:solidFill>
                  <a:srgbClr val="0284C7"/>
                </a:solidFill>
              </a:rPr>
              <a:t>MOTIVATION FOR DEVELOPING SMART CIVIC AI</a:t>
            </a:r>
            <a:endParaRPr lang="en-US" sz="1100" dirty="0"/>
          </a:p>
        </p:txBody>
      </p:sp>
      <p:sp>
        <p:nvSpPr>
          <p:cNvPr id="10" name="Text 8"/>
          <p:cNvSpPr/>
          <p:nvPr/>
        </p:nvSpPr>
        <p:spPr>
          <a:xfrm>
            <a:off x="731520" y="4617720"/>
            <a:ext cx="10728655" cy="1463040"/>
          </a:xfrm>
          <a:prstGeom prst="rect">
            <a:avLst/>
          </a:prstGeom>
          <a:noFill/>
          <a:ln/>
        </p:spPr>
        <p:txBody>
          <a:bodyPr wrap="square" rtlCol="0" anchor="ctr"/>
          <a:lstStyle/>
          <a:p>
            <a:pPr indent="0" marL="0">
              <a:buNone/>
            </a:pPr>
            <a:r>
              <a:rPr lang="en-US" sz="1100" dirty="0">
                <a:solidFill>
                  <a:srgbClr val="0F172A"/>
                </a:solidFill>
                <a:latin typeface="Arial" pitchFamily="34" charset="0"/>
                <a:ea typeface="Arial" pitchFamily="34" charset="-122"/>
                <a:cs typeface="Arial" pitchFamily="34" charset="-120"/>
              </a:rPr>
              <a:t>• Automated AI Vision Triage eliminates manual hand-routing, classifying issue category &amp; urgency in &lt;1.2 seconds.</a:t>
            </a:r>
            <a:endParaRPr lang="en-US" sz="1100" dirty="0"/>
          </a:p>
          <a:p>
            <a:pPr indent="0" marL="0">
              <a:buNone/>
            </a:pPr>
            <a:r>
              <a:rPr lang="en-US" sz="1100" dirty="0">
                <a:solidFill>
                  <a:srgbClr val="0F172A"/>
                </a:solidFill>
                <a:latin typeface="Arial" pitchFamily="34" charset="0"/>
                <a:ea typeface="Arial" pitchFamily="34" charset="-122"/>
                <a:cs typeface="Arial" pitchFamily="34" charset="-120"/>
              </a:rPr>
              <a:t>• Spatial Geo-Deduplication ($geoWithin 20m radius) auto-merges duplicate tickets and increments upvote counts.</a:t>
            </a:r>
            <a:endParaRPr lang="en-US" sz="1100" dirty="0"/>
          </a:p>
          <a:p>
            <a:pPr indent="0" marL="0">
              <a:buNone/>
            </a:pPr>
            <a:r>
              <a:rPr lang="en-US" sz="1100" dirty="0">
                <a:solidFill>
                  <a:srgbClr val="0F172A"/>
                </a:solidFill>
                <a:latin typeface="Arial" pitchFamily="34" charset="0"/>
                <a:ea typeface="Arial" pitchFamily="34" charset="-122"/>
                <a:cs typeface="Arial" pitchFamily="34" charset="-120"/>
              </a:rPr>
              <a:t>• Real-Time Ward Governance Scorecards establish transparent SLA accountability across municipal ward offices.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2. Problem Statement &amp; Project Objectives</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3</a:t>
            </a:r>
            <a:endParaRPr lang="en-US" sz="850" dirty="0"/>
          </a:p>
        </p:txBody>
      </p:sp>
      <p:sp>
        <p:nvSpPr>
          <p:cNvPr id="6" name="Shape 4"/>
          <p:cNvSpPr/>
          <p:nvPr/>
        </p:nvSpPr>
        <p:spPr>
          <a:xfrm>
            <a:off x="731520" y="1188720"/>
            <a:ext cx="10728655" cy="1463040"/>
          </a:xfrm>
          <a:prstGeom prst="rect">
            <a:avLst/>
          </a:prstGeom>
          <a:solidFill>
            <a:srgbClr val="F8FAFC"/>
          </a:solidFill>
          <a:ln w="19050">
            <a:solidFill>
              <a:srgbClr val="0284C7"/>
            </a:solidFill>
            <a:prstDash val="solid"/>
          </a:ln>
        </p:spPr>
      </p:sp>
      <p:sp>
        <p:nvSpPr>
          <p:cNvPr id="7" name="Text 5"/>
          <p:cNvSpPr/>
          <p:nvPr/>
        </p:nvSpPr>
        <p:spPr>
          <a:xfrm>
            <a:off x="914400" y="1280160"/>
            <a:ext cx="10332720" cy="228600"/>
          </a:xfrm>
          <a:prstGeom prst="rect">
            <a:avLst/>
          </a:prstGeom>
          <a:noFill/>
          <a:ln/>
        </p:spPr>
        <p:txBody>
          <a:bodyPr wrap="square" rtlCol="0" anchor="ctr"/>
          <a:lstStyle/>
          <a:p>
            <a:pPr indent="0" marL="0">
              <a:buNone/>
            </a:pPr>
            <a:r>
              <a:rPr lang="en-US" sz="1000" b="1" dirty="0">
                <a:solidFill>
                  <a:srgbClr val="0284C7"/>
                </a:solidFill>
              </a:rPr>
              <a:t>FORMAL PROBLEM STATEMENT</a:t>
            </a:r>
            <a:endParaRPr lang="en-US" sz="1000" dirty="0"/>
          </a:p>
        </p:txBody>
      </p:sp>
      <p:sp>
        <p:nvSpPr>
          <p:cNvPr id="8" name="Text 6"/>
          <p:cNvSpPr/>
          <p:nvPr/>
        </p:nvSpPr>
        <p:spPr>
          <a:xfrm>
            <a:off x="914400" y="1554480"/>
            <a:ext cx="10332720" cy="1005840"/>
          </a:xfrm>
          <a:prstGeom prst="rect">
            <a:avLst/>
          </a:prstGeom>
          <a:noFill/>
          <a:ln/>
        </p:spPr>
        <p:txBody>
          <a:bodyPr wrap="square" rtlCol="0" anchor="ctr"/>
          <a:lstStyle/>
          <a:p>
            <a:pPr indent="0" marL="0">
              <a:buNone/>
            </a:pPr>
            <a:r>
              <a:rPr lang="en-US" sz="1050" i="1" dirty="0">
                <a:solidFill>
                  <a:srgbClr val="0F172A"/>
                </a:solidFill>
                <a:latin typeface="Arial" pitchFamily="34" charset="0"/>
                <a:ea typeface="Arial" pitchFamily="34" charset="-122"/>
                <a:cs typeface="Arial" pitchFamily="34" charset="-120"/>
              </a:rPr>
              <a:t>"Current municipal grievance redressal systems suffer from manual triage delays, severe ticket duplication in high-density urban areas, lack of automated issue verification, and absence of transparent SLA performance metrics for ward governance. The objective of this project is to design and implement Smart Civic AI, an enterprise-grade platform incorporating YOLOv8 Computer Vision, Google Gemini AI, 20m Spatial Proximity Engine, GIS OpenStreetMap visualization, and Real-Time Ward Governance SLA Scorecards."</a:t>
            </a:r>
            <a:endParaRPr lang="en-US" sz="1050" dirty="0"/>
          </a:p>
        </p:txBody>
      </p:sp>
      <p:sp>
        <p:nvSpPr>
          <p:cNvPr id="9" name="Text 7"/>
          <p:cNvSpPr/>
          <p:nvPr/>
        </p:nvSpPr>
        <p:spPr>
          <a:xfrm>
            <a:off x="731520" y="2788920"/>
            <a:ext cx="10728655" cy="274320"/>
          </a:xfrm>
          <a:prstGeom prst="rect">
            <a:avLst/>
          </a:prstGeom>
          <a:noFill/>
          <a:ln/>
        </p:spPr>
        <p:txBody>
          <a:bodyPr wrap="square" rtlCol="0" anchor="ctr"/>
          <a:lstStyle/>
          <a:p>
            <a:pPr indent="0" marL="0">
              <a:buNone/>
            </a:pPr>
            <a:r>
              <a:rPr lang="en-US" sz="1100" b="1" dirty="0">
                <a:solidFill>
                  <a:srgbClr val="0284C7"/>
                </a:solidFill>
              </a:rPr>
              <a:t>PROJECT OBJECTIVES</a:t>
            </a:r>
            <a:endParaRPr lang="en-US" sz="1100" dirty="0"/>
          </a:p>
        </p:txBody>
      </p:sp>
      <p:sp>
        <p:nvSpPr>
          <p:cNvPr id="10" name="Text 8"/>
          <p:cNvSpPr/>
          <p:nvPr/>
        </p:nvSpPr>
        <p:spPr>
          <a:xfrm>
            <a:off x="731520" y="3108960"/>
            <a:ext cx="10728655" cy="301752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1. Automated Computer Vision Triage: Classify complaint categories (Potholes, Garbage, Waterlogging) &amp; priority levels in &lt;1.2s using YOLOv8 &amp; Gemini Vision AI.</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2. 20-Meter Spatial Deduplication: Auto-merge duplicate complaints within a 20m radius ($geoWithin GeoJSON query) and increment community upvote scores.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3. Real-Time Ward Governance Scorecards: Calculate live SLA performance scores and rank municipal wards (Ward A, H-West, G-South, K-East) on a public leaderboard.</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4. GIS Public Map Visualization: Render active tickets on Leaflet OpenStreetMap with color-coded severity markers (Red/Orange/Yellow/Green) &amp; multi-filters.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5. Multilingual &amp; Voice Input: Full localization for English, Hindi, Marathi via i18next with Web Speech API dictation for accessible ticket filing.</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6. Timestamped Resolution Proof &amp; PDF Audits: Mandate WebRTC photo proof for field crews and export vector PDF audit reports using jsPDF.</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3. Literature Survey — Existing Systems &amp; Research</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4</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2011680"/>
                <a:gridCol w="731520"/>
                <a:gridCol w="2286000"/>
                <a:gridCol w="2926080"/>
                <a:gridCol w="2773375"/>
              </a:tblGrid>
              <a:tr h="792480">
                <a:tc>
                  <a:txBody>
                    <a:bodyPr/>
                    <a:lstStyle/>
                    <a:p>
                      <a:pPr indent="0" marL="0">
                        <a:buNone/>
                      </a:pPr>
                      <a:r>
                        <a:rPr lang="en-US" sz="950" b="1" dirty="0">
                          <a:solidFill>
                            <a:srgbClr val="FFFFFF"/>
                          </a:solidFill>
                          <a:latin typeface="Arial" pitchFamily="34" charset="0"/>
                          <a:ea typeface="Arial" pitchFamily="34" charset="-122"/>
                          <a:cs typeface="Arial" pitchFamily="34" charset="-120"/>
                        </a:rPr>
                        <a:t>Research / Existing System</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Year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Approach &amp; Technology</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Key Contribution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Critical Limitation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792480">
                <a:tc>
                  <a:txBody>
                    <a:bodyPr/>
                    <a:lstStyle/>
                    <a:p>
                      <a:pPr indent="0" marL="0">
                        <a:buNone/>
                      </a:pPr>
                      <a:r>
                        <a:rPr lang="en-US" sz="950" dirty="0">
                          <a:solidFill>
                            <a:srgbClr val="000000"/>
                          </a:solidFill>
                          <a:latin typeface="Arial" pitchFamily="34" charset="0"/>
                          <a:ea typeface="Arial" pitchFamily="34" charset="-122"/>
                          <a:cs typeface="Arial" pitchFamily="34" charset="-120"/>
                        </a:rPr>
                        <a:t>SeeClickFix (USA)</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2018</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Mobile Web, GPS Tagging, MySQL</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Public issue feed &amp; location tagging</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Manual triage; no spatial deduplication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50" dirty="0">
                          <a:solidFill>
                            <a:srgbClr val="000000"/>
                          </a:solidFill>
                          <a:latin typeface="Arial" pitchFamily="34" charset="0"/>
                          <a:ea typeface="Arial" pitchFamily="34" charset="-122"/>
                          <a:cs typeface="Arial" pitchFamily="34" charset="-120"/>
                        </a:rPr>
                        <a:t>Swachhata App (MoHUA)</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2020</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Android, REST API</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National adoption in Indian cities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Waste management only; zero AI vision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50" dirty="0">
                          <a:solidFill>
                            <a:srgbClr val="000000"/>
                          </a:solidFill>
                          <a:latin typeface="Arial" pitchFamily="34" charset="0"/>
                          <a:ea typeface="Arial" pitchFamily="34" charset="-122"/>
                          <a:cs typeface="Arial" pitchFamily="34" charset="-120"/>
                        </a:rPr>
                        <a:t>FixMyStreet (UK)</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2019</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Perl, OpenStreetMap</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Open-source email routing to UK councils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Email-based routing; no SLA timers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50" dirty="0">
                          <a:solidFill>
                            <a:srgbClr val="000000"/>
                          </a:solidFill>
                          <a:latin typeface="Arial" pitchFamily="34" charset="0"/>
                          <a:ea typeface="Arial" pitchFamily="34" charset="-122"/>
                          <a:cs typeface="Arial" pitchFamily="34" charset="-120"/>
                        </a:rPr>
                        <a:t>YOLOv8 Paper (IEEE)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2023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PyTorch, YOLOv8n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High-speed 45 FPS pothole detection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Standalone script; no web DB integration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50" b="1" dirty="0">
                          <a:solidFill>
                            <a:srgbClr val="0284C7"/>
                          </a:solidFill>
                          <a:latin typeface="Arial" pitchFamily="34" charset="0"/>
                          <a:ea typeface="Arial" pitchFamily="34" charset="-122"/>
                          <a:cs typeface="Arial" pitchFamily="34" charset="-120"/>
                        </a:rPr>
                        <a:t>Smart Civic AI (Our System)</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2026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b="1" dirty="0">
                          <a:solidFill>
                            <a:srgbClr val="0284C7"/>
                          </a:solidFill>
                          <a:latin typeface="Arial" pitchFamily="34" charset="0"/>
                          <a:ea typeface="Arial" pitchFamily="34" charset="-122"/>
                          <a:cs typeface="Arial" pitchFamily="34" charset="-120"/>
                        </a:rPr>
                        <a:t>React 19, Express, MongoDB, YOLOv8 + Gemini</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b="1" dirty="0">
                          <a:solidFill>
                            <a:srgbClr val="0284C7"/>
                          </a:solidFill>
                          <a:latin typeface="Arial" pitchFamily="34" charset="0"/>
                          <a:ea typeface="Arial" pitchFamily="34" charset="-122"/>
                          <a:cs typeface="Arial" pitchFamily="34" charset="-120"/>
                        </a:rPr>
                        <a:t>AI Vision Triage, 20m Spatial Engine, Ward SLA Scorecards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b="1" dirty="0">
                          <a:solidFill>
                            <a:srgbClr val="0284C7"/>
                          </a:solidFill>
                          <a:latin typeface="Arial" pitchFamily="34" charset="0"/>
                          <a:ea typeface="Arial" pitchFamily="34" charset="-122"/>
                          <a:cs typeface="Arial" pitchFamily="34" charset="-120"/>
                        </a:rPr>
                        <a:t>Requires active camera &amp; GPS connection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4. Research &amp; Technical Gap Analysis</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5</a:t>
            </a:r>
            <a:endParaRPr lang="en-US" sz="850" dirty="0"/>
          </a:p>
        </p:txBody>
      </p:sp>
      <p:sp>
        <p:nvSpPr>
          <p:cNvPr id="6" name="Shape 4"/>
          <p:cNvSpPr/>
          <p:nvPr/>
        </p:nvSpPr>
        <p:spPr>
          <a:xfrm>
            <a:off x="731520" y="1188720"/>
            <a:ext cx="10728655" cy="1005840"/>
          </a:xfrm>
          <a:prstGeom prst="rect">
            <a:avLst/>
          </a:prstGeom>
          <a:solidFill>
            <a:srgbClr val="F8FAFC"/>
          </a:solidFill>
          <a:ln w="12700">
            <a:solidFill>
              <a:srgbClr val="CBD5E1"/>
            </a:solidFill>
            <a:prstDash val="solid"/>
          </a:ln>
        </p:spPr>
      </p:sp>
      <p:sp>
        <p:nvSpPr>
          <p:cNvPr id="7" name="Text 5"/>
          <p:cNvSpPr/>
          <p:nvPr/>
        </p:nvSpPr>
        <p:spPr>
          <a:xfrm>
            <a:off x="914400" y="1298448"/>
            <a:ext cx="10332720" cy="228600"/>
          </a:xfrm>
          <a:prstGeom prst="rect">
            <a:avLst/>
          </a:prstGeom>
          <a:noFill/>
          <a:ln/>
        </p:spPr>
        <p:txBody>
          <a:bodyPr wrap="square" rtlCol="0" anchor="ctr"/>
          <a:lstStyle/>
          <a:p>
            <a:pPr indent="0" marL="0">
              <a:buNone/>
            </a:pPr>
            <a:r>
              <a:rPr lang="en-US" sz="1050" b="1" dirty="0">
                <a:solidFill>
                  <a:srgbClr val="0F172A"/>
                </a:solidFill>
              </a:rPr>
              <a:t>1. EXISTING SYSTEMS</a:t>
            </a:r>
            <a:endParaRPr lang="en-US" sz="1050" dirty="0"/>
          </a:p>
        </p:txBody>
      </p:sp>
      <p:sp>
        <p:nvSpPr>
          <p:cNvPr id="8" name="Text 6"/>
          <p:cNvSpPr/>
          <p:nvPr/>
        </p:nvSpPr>
        <p:spPr>
          <a:xfrm>
            <a:off x="914400" y="1572768"/>
            <a:ext cx="10332720" cy="5029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Manual operator triage (24–72h latency), duplicate ticket database bloat, generic static text status.</a:t>
            </a:r>
            <a:endParaRPr lang="en-US" sz="1000" dirty="0"/>
          </a:p>
        </p:txBody>
      </p:sp>
      <p:sp>
        <p:nvSpPr>
          <p:cNvPr id="9" name="Shape 7"/>
          <p:cNvSpPr/>
          <p:nvPr/>
        </p:nvSpPr>
        <p:spPr>
          <a:xfrm>
            <a:off x="731520" y="2377440"/>
            <a:ext cx="10728655" cy="1005840"/>
          </a:xfrm>
          <a:prstGeom prst="rect">
            <a:avLst/>
          </a:prstGeom>
          <a:solidFill>
            <a:srgbClr val="F8FAFC"/>
          </a:solidFill>
          <a:ln w="12700">
            <a:solidFill>
              <a:srgbClr val="CBD5E1"/>
            </a:solidFill>
            <a:prstDash val="solid"/>
          </a:ln>
        </p:spPr>
      </p:sp>
      <p:sp>
        <p:nvSpPr>
          <p:cNvPr id="10" name="Text 8"/>
          <p:cNvSpPr/>
          <p:nvPr/>
        </p:nvSpPr>
        <p:spPr>
          <a:xfrm>
            <a:off x="914400" y="2487168"/>
            <a:ext cx="10332720" cy="228600"/>
          </a:xfrm>
          <a:prstGeom prst="rect">
            <a:avLst/>
          </a:prstGeom>
          <a:noFill/>
          <a:ln/>
        </p:spPr>
        <p:txBody>
          <a:bodyPr wrap="square" rtlCol="0" anchor="ctr"/>
          <a:lstStyle/>
          <a:p>
            <a:pPr indent="0" marL="0">
              <a:buNone/>
            </a:pPr>
            <a:r>
              <a:rPr lang="en-US" sz="1050" b="1" dirty="0">
                <a:solidFill>
                  <a:srgbClr val="0F172A"/>
                </a:solidFill>
              </a:rPr>
              <a:t>2. IDENTIFIED LIMITATIONS</a:t>
            </a:r>
            <a:endParaRPr lang="en-US" sz="1050" dirty="0"/>
          </a:p>
        </p:txBody>
      </p:sp>
      <p:sp>
        <p:nvSpPr>
          <p:cNvPr id="11" name="Text 9"/>
          <p:cNvSpPr/>
          <p:nvPr/>
        </p:nvSpPr>
        <p:spPr>
          <a:xfrm>
            <a:off x="914400" y="2761488"/>
            <a:ext cx="10332720" cy="5029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Lack of real-time computer vision &amp; NLP classification, absence of spatial proximity deduplication algorithms.</a:t>
            </a:r>
            <a:endParaRPr lang="en-US" sz="1000" dirty="0"/>
          </a:p>
        </p:txBody>
      </p:sp>
      <p:sp>
        <p:nvSpPr>
          <p:cNvPr id="12" name="Shape 10"/>
          <p:cNvSpPr/>
          <p:nvPr/>
        </p:nvSpPr>
        <p:spPr>
          <a:xfrm>
            <a:off x="731520" y="3566160"/>
            <a:ext cx="10728655" cy="1005840"/>
          </a:xfrm>
          <a:prstGeom prst="rect">
            <a:avLst/>
          </a:prstGeom>
          <a:solidFill>
            <a:srgbClr val="F8FAFC"/>
          </a:solidFill>
          <a:ln w="12700">
            <a:solidFill>
              <a:srgbClr val="CBD5E1"/>
            </a:solidFill>
            <a:prstDash val="solid"/>
          </a:ln>
        </p:spPr>
      </p:sp>
      <p:sp>
        <p:nvSpPr>
          <p:cNvPr id="13" name="Text 11"/>
          <p:cNvSpPr/>
          <p:nvPr/>
        </p:nvSpPr>
        <p:spPr>
          <a:xfrm>
            <a:off x="914400" y="3675888"/>
            <a:ext cx="10332720" cy="228600"/>
          </a:xfrm>
          <a:prstGeom prst="rect">
            <a:avLst/>
          </a:prstGeom>
          <a:noFill/>
          <a:ln/>
        </p:spPr>
        <p:txBody>
          <a:bodyPr wrap="square" rtlCol="0" anchor="ctr"/>
          <a:lstStyle/>
          <a:p>
            <a:pPr indent="0" marL="0">
              <a:buNone/>
            </a:pPr>
            <a:r>
              <a:rPr lang="en-US" sz="1050" b="1" dirty="0">
                <a:solidFill>
                  <a:srgbClr val="0F172A"/>
                </a:solidFill>
              </a:rPr>
              <a:t>3. TECHNICAL GAP</a:t>
            </a:r>
            <a:endParaRPr lang="en-US" sz="1050" dirty="0"/>
          </a:p>
        </p:txBody>
      </p:sp>
      <p:sp>
        <p:nvSpPr>
          <p:cNvPr id="14" name="Text 12"/>
          <p:cNvSpPr/>
          <p:nvPr/>
        </p:nvSpPr>
        <p:spPr>
          <a:xfrm>
            <a:off x="914400" y="3950208"/>
            <a:ext cx="10332720" cy="5029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Need for integrated edge/cloud AI triage (&lt;1.2s), 20m spherical spatial deduplication, and live SLA scorecards.</a:t>
            </a:r>
            <a:endParaRPr lang="en-US" sz="1000" dirty="0"/>
          </a:p>
        </p:txBody>
      </p:sp>
      <p:sp>
        <p:nvSpPr>
          <p:cNvPr id="15" name="Shape 13"/>
          <p:cNvSpPr/>
          <p:nvPr/>
        </p:nvSpPr>
        <p:spPr>
          <a:xfrm>
            <a:off x="731520" y="4754880"/>
            <a:ext cx="10728655" cy="1005840"/>
          </a:xfrm>
          <a:prstGeom prst="rect">
            <a:avLst/>
          </a:prstGeom>
          <a:solidFill>
            <a:srgbClr val="ECFDF5"/>
          </a:solidFill>
          <a:ln w="12700">
            <a:solidFill>
              <a:srgbClr val="0284C7"/>
            </a:solidFill>
            <a:prstDash val="solid"/>
          </a:ln>
        </p:spPr>
      </p:sp>
      <p:sp>
        <p:nvSpPr>
          <p:cNvPr id="16" name="Text 14"/>
          <p:cNvSpPr/>
          <p:nvPr/>
        </p:nvSpPr>
        <p:spPr>
          <a:xfrm>
            <a:off x="914400" y="4864608"/>
            <a:ext cx="10332720" cy="228600"/>
          </a:xfrm>
          <a:prstGeom prst="rect">
            <a:avLst/>
          </a:prstGeom>
          <a:noFill/>
          <a:ln/>
        </p:spPr>
        <p:txBody>
          <a:bodyPr wrap="square" rtlCol="0" anchor="ctr"/>
          <a:lstStyle/>
          <a:p>
            <a:pPr indent="0" marL="0">
              <a:buNone/>
            </a:pPr>
            <a:r>
              <a:rPr lang="en-US" sz="1050" b="1" dirty="0">
                <a:solidFill>
                  <a:srgbClr val="0284C7"/>
                </a:solidFill>
              </a:rPr>
              <a:t>4. PROPOSED SYSTEM (Smart Civic AI)</a:t>
            </a:r>
            <a:endParaRPr lang="en-US" sz="1050" dirty="0"/>
          </a:p>
        </p:txBody>
      </p:sp>
      <p:sp>
        <p:nvSpPr>
          <p:cNvPr id="17" name="Text 15"/>
          <p:cNvSpPr/>
          <p:nvPr/>
        </p:nvSpPr>
        <p:spPr>
          <a:xfrm>
            <a:off x="914400" y="5138928"/>
            <a:ext cx="10332720" cy="5029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YOLOv8 + Gemini AI, MongoDB GeoJSON 2DSphere $geoWithin spatial engine, Real-Time Ward SLA Scorecards.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5. Proposed Solution Overview</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6</a:t>
            </a:r>
            <a:endParaRPr lang="en-US" sz="850" dirty="0"/>
          </a:p>
        </p:txBody>
      </p:sp>
      <p:sp>
        <p:nvSpPr>
          <p:cNvPr id="6" name="Text 4"/>
          <p:cNvSpPr/>
          <p:nvPr/>
        </p:nvSpPr>
        <p:spPr>
          <a:xfrm>
            <a:off x="731520" y="1188720"/>
            <a:ext cx="10728655" cy="274320"/>
          </a:xfrm>
          <a:prstGeom prst="rect">
            <a:avLst/>
          </a:prstGeom>
          <a:noFill/>
          <a:ln/>
        </p:spPr>
        <p:txBody>
          <a:bodyPr wrap="square" rtlCol="0" anchor="ctr"/>
          <a:lstStyle/>
          <a:p>
            <a:pPr indent="0" marL="0">
              <a:buNone/>
            </a:pPr>
            <a:r>
              <a:rPr lang="en-US" sz="1100" b="1" dirty="0">
                <a:solidFill>
                  <a:srgbClr val="0284C7"/>
                </a:solidFill>
              </a:rPr>
              <a:t>CORE FUNCTIONAL PROPOSAL</a:t>
            </a:r>
            <a:endParaRPr lang="en-US" sz="1100" dirty="0"/>
          </a:p>
        </p:txBody>
      </p:sp>
      <p:sp>
        <p:nvSpPr>
          <p:cNvPr id="7" name="Text 5"/>
          <p:cNvSpPr/>
          <p:nvPr/>
        </p:nvSpPr>
        <p:spPr>
          <a:xfrm>
            <a:off x="731520" y="1508760"/>
            <a:ext cx="10728655" cy="457200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 1. Intelligent AI Auto-Triage: Combines YOLOv8 computer vision object detection and Gemini Pro Vision NLP to categorize complaints and assign urgency levels in &lt;1.2 seconds.</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2. 20-Meter Spatial Deduplication Engine: Prevents database bloat by checking incoming ticket coordinates against active complaints within a 0.0002° (~20m) radius, merging duplicates and updating community upvote counts.</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3. Real-Time Ward Governance SLA Scorecard: Dynamically calculates ward performance scores (% tickets resolved within SLA) and ranks Ward A, H-West, G-South, and K-East on a live public leaderboard.</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4. Interactive GIS Map &amp; Multilingual Voice Input: Displays color-coded severity pins on Leaflet OpenStreetMap with tri-lingual UI (English, Hindi, Marathi) and Web Speech API voice dictation.</a:t>
            </a:r>
            <a:endParaRPr lang="en-US" sz="1100" dirty="0"/>
          </a:p>
          <a:p>
            <a:pPr indent="0" marL="0">
              <a:buNone/>
            </a:pPr>
            <a:endParaRPr lang="en-US" sz="1100" dirty="0"/>
          </a:p>
          <a:p>
            <a:pPr indent="0" marL="0">
              <a:buNone/>
            </a:pPr>
            <a:r>
              <a:rPr lang="en-US" sz="1100" dirty="0">
                <a:solidFill>
                  <a:srgbClr val="334155"/>
                </a:solidFill>
                <a:latin typeface="Arial" pitchFamily="34" charset="0"/>
                <a:ea typeface="Arial" pitchFamily="34" charset="-122"/>
                <a:cs typeface="Arial" pitchFamily="34" charset="-120"/>
              </a:rPr>
              <a:t>• 5. Timestamped Field Proof &amp; Executive PDF Exports: Mandates WebRTC camera proof photos for field crews before ticket closure and generates vector PDF audit reports via jsPDF.</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6. System Architecture Layering</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7</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2286000"/>
                <a:gridCol w="3657600"/>
                <a:gridCol w="4785055"/>
              </a:tblGrid>
              <a:tr h="950976">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Layer</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Core Technologies Used</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Functional Responsibilities</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1. Presentation Layer</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React 19, TypeScript, Vite, TailwindCSS, Lucide</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Citizen Web Portal, Ward Command Center, Leaflet GIS Map, Voice Dictation</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2. API &amp; Security Layer</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Node.js, Express.js, JWT, BCrypt, Helmet, Rate Limiter</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REST API Endpoints (/api/complaints, /api/admin), Security Stack, Auth Middleware</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3. Intelligence Layer</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Python 3, PyTorch, YOLOv8n, Gemini Pro Vision API</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Vision object detection, NLP category/urgency scoring, 20m Spatial Deduplication</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4. Data &amp; Storage Layer</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MongoDB Enterprise (2DSphere Indexing), Cloudinary</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GeoJSON spatial indexing, Complaint &amp; User schemas, Media upload storage</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7. Software Methodology &amp; End-to-End Workflow</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8</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914400"/>
                <a:gridCol w="2468880"/>
                <a:gridCol w="7345375"/>
              </a:tblGrid>
              <a:tr h="528320">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Step</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Workflow Stage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Action &amp; System Processing Description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1</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Citizen Report Input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Citizen uploads photo &amp; GPS coordinates via React 19 web portal.</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2</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Voice Dictation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Web Speech API converts spoken voice notes (EN/HI/MR) into text descriptions.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Spatial Deduplication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MongoDB checks 20m radius ($geoWithin spherical query) for existing open tickets.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4</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AI Vision Triage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YOLOv8 + Gemini AI classify category &amp; priority level in &lt;1.2 seconds.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5</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Ward Registration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Complaint stored and mapped to Ward A / H-West / G-South / K-East.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Officer Dispatch</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Ward officer assigns ticket to field maintenance crew with SLA deadline timer.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7</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Resolution Proof</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Field worker uploads timestamped WebRTC proof photo upon repair completion.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528320">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Step 8</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Scorecard Update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Ward SLA leaderboard updates live and citizen receives resolution notification.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8. Technology Selection Justification Matrix</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9</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1828800"/>
                <a:gridCol w="2468880"/>
                <a:gridCol w="6430975"/>
              </a:tblGrid>
              <a:tr h="679269">
                <a:tc>
                  <a:txBody>
                    <a:bodyPr/>
                    <a:lstStyle/>
                    <a:p>
                      <a:pPr indent="0" marL="0">
                        <a:buNone/>
                      </a:pPr>
                      <a:r>
                        <a:rPr lang="en-US" sz="950" b="1" dirty="0">
                          <a:solidFill>
                            <a:srgbClr val="FFFFFF"/>
                          </a:solidFill>
                          <a:latin typeface="Arial" pitchFamily="34" charset="0"/>
                          <a:ea typeface="Arial" pitchFamily="34" charset="-122"/>
                          <a:cs typeface="Arial" pitchFamily="34" charset="-120"/>
                        </a:rPr>
                        <a:t>Layer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Technology Selected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Selection Rationale / Technical Justification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Frontend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React 19 + TypeScript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Component modularity, strict compile-time type safety, fast DOM re-rendering for real-time dashboards.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GIS Mapping</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Leaflet.js / OpenStreetMap</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Lightweight open-source tile layer rendering without expensive API billing limitations.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Document Engine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jsPDF + AutoTable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Client-side vector rendering for executive governance reports without adding server workload.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Backend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Node.js + Express.js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Non-blocking asynchronous event loop handling high-concurrency REST API requests efficiently.</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Database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MongoDB + Mongoose ODM</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Native 2DSphere spherical spatial index ($geoWithin) for 20m deduplication without GIS extensions.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AI / ML</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Python YOLOv8 + Gemini AI</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Hybrid approach combining real-time edge object detection (YOLOv8) with deep contextual reasoning (Gemini API).</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9. Feasibility Analysis (4 Dimensions)</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10</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2743200"/>
                <a:gridCol w="7985455"/>
              </a:tblGrid>
              <a:tr h="950976">
                <a:tc>
                  <a:txBody>
                    <a:bodyPr/>
                    <a:lstStyle/>
                    <a:p>
                      <a:pPr indent="0" marL="0">
                        <a:buNone/>
                      </a:pPr>
                      <a:r>
                        <a:rPr lang="en-US" sz="1000" b="1" dirty="0">
                          <a:solidFill>
                            <a:srgbClr val="FFFFFF"/>
                          </a:solidFill>
                          <a:latin typeface="Arial" pitchFamily="34" charset="0"/>
                          <a:ea typeface="Arial" pitchFamily="34" charset="-122"/>
                          <a:cs typeface="Arial" pitchFamily="34" charset="-120"/>
                        </a:rPr>
                        <a:t>Feasibility Dimension</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Analysis &amp; Technical Justification</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1. Technical Feasibility</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Built entirely on open-source production stacks (Node.js, React 19, MongoDB, Python). YOLOv8n (nano) model runs efficiently on standard hardware without expensive GPU infrastructure.</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2. Operational Feasibility</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Tri-lingual interface (English, Hindi, Marathi) and Web Speech API voice dictation ensure seamless adoption for all citizen demographics. Intuitive SLA countdown timers streamline ward officer workflow.</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3. Economic Feasibility</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Zero software licensing costs using open-source frameworks and OpenStreetMap tiles. 20m spatial deduplication prevents redundant municipal contractor field dispatches, saving municipal budget.</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1000" dirty="0">
                          <a:solidFill>
                            <a:srgbClr val="000000"/>
                          </a:solidFill>
                          <a:latin typeface="Arial" pitchFamily="34" charset="0"/>
                          <a:ea typeface="Arial" pitchFamily="34" charset="-122"/>
                          <a:cs typeface="Arial" pitchFamily="34" charset="-120"/>
                        </a:rPr>
                        <a:t>4. Time Feasibility</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Development structured across 16 academic project weeks. Core AI classification, database schemas, spatial deduplication engine, and governance dashboards are 100% completed and verified.</a:t>
                      </a:r>
                      <a:endParaRPr lang="en-US" sz="10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10. Project Planning &amp; Milestone Breakdown</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11</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1371600"/>
                <a:gridCol w="5242255"/>
                <a:gridCol w="2286000"/>
                <a:gridCol w="1828800"/>
              </a:tblGrid>
              <a:tr h="679269">
                <a:tc>
                  <a:txBody>
                    <a:bodyPr/>
                    <a:lstStyle/>
                    <a:p>
                      <a:pPr indent="0" marL="0">
                        <a:buNone/>
                      </a:pPr>
                      <a:r>
                        <a:rPr lang="en-US" sz="950" b="1" dirty="0">
                          <a:solidFill>
                            <a:srgbClr val="FFFFFF"/>
                          </a:solidFill>
                          <a:latin typeface="Arial" pitchFamily="34" charset="0"/>
                          <a:ea typeface="Arial" pitchFamily="34" charset="-122"/>
                          <a:cs typeface="Arial" pitchFamily="34" charset="-120"/>
                        </a:rPr>
                        <a:t>Phase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Milestone Work Description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Target Academic Timeline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Phase 1</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Literature survey, domain analysis, requirement gathering &amp; SLA definition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Weeks 01 – 03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Phase 2</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MongoDB schema architecture, JWT security middleware, Express API routes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Weeks 04 – 06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Phase 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YOLOv8 &amp; Gemini AI model integration, 20m spatial deduplication engine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Weeks 07 – 09</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Phase 4</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React 19 UI, Leaflet GIS map layers, Ward SLA scorecards &amp; jsPDF export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Weeks 10 – 12</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Phase 5</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Review 1 presentation preparation, Oxlint code auditing &amp; live demo testing</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Weeks 13 – 14</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F172A"/>
                          </a:solidFill>
                          <a:latin typeface="Arial" pitchFamily="34" charset="0"/>
                          <a:ea typeface="Arial" pitchFamily="34" charset="-122"/>
                          <a:cs typeface="Arial" pitchFamily="34" charset="-120"/>
                        </a:rPr>
                        <a:t>CURRENT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Phase 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Service Worker PWA offline caching, load testing &amp; university defense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Weeks 15 – 16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64748B"/>
                          </a:solidFill>
                          <a:latin typeface="Arial" pitchFamily="34" charset="0"/>
                          <a:ea typeface="Arial" pitchFamily="34" charset="-122"/>
                          <a:cs typeface="Arial" pitchFamily="34" charset="-120"/>
                        </a:rPr>
                        <a:t>UPCOMING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11. Academic Project Timeline &amp; Gantt Chart</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12</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3870655"/>
                <a:gridCol w="1143000"/>
                <a:gridCol w="1143000"/>
                <a:gridCol w="1143000"/>
                <a:gridCol w="1143000"/>
                <a:gridCol w="1143000"/>
                <a:gridCol w="1143000"/>
              </a:tblGrid>
              <a:tr h="679269">
                <a:tc>
                  <a:txBody>
                    <a:bodyPr/>
                    <a:lstStyle/>
                    <a:p>
                      <a:pPr indent="0" marL="0">
                        <a:buNone/>
                      </a:pPr>
                      <a:r>
                        <a:rPr lang="en-US" sz="950" b="1" dirty="0">
                          <a:solidFill>
                            <a:srgbClr val="FFFFFF"/>
                          </a:solidFill>
                          <a:latin typeface="Arial" pitchFamily="34" charset="0"/>
                          <a:ea typeface="Arial" pitchFamily="34" charset="-122"/>
                          <a:cs typeface="Arial" pitchFamily="34" charset="-120"/>
                        </a:rPr>
                        <a:t>Task Name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W1-3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W4-6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W7-9</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W10-12</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W13-14</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W15-16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1. Literature &amp; Requirements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2. Database &amp; REST API</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3. AI Triage &amp; Spatial Engine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4. Frontend UI &amp; GIS Map View</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5. Review 1 Demo &amp; Presentation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F172A"/>
                          </a:solidFill>
                          <a:latin typeface="Arial" pitchFamily="34" charset="0"/>
                          <a:ea typeface="Arial" pitchFamily="34" charset="-122"/>
                          <a:cs typeface="Arial" pitchFamily="34" charset="-120"/>
                        </a:rPr>
                        <a:t>★ CURRENT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79269">
                <a:tc>
                  <a:txBody>
                    <a:bodyPr/>
                    <a:lstStyle/>
                    <a:p>
                      <a:pPr indent="0" marL="0">
                        <a:buNone/>
                      </a:pPr>
                      <a:r>
                        <a:rPr lang="en-US" sz="950" dirty="0">
                          <a:solidFill>
                            <a:srgbClr val="000000"/>
                          </a:solidFill>
                          <a:latin typeface="Arial" pitchFamily="34" charset="0"/>
                          <a:ea typeface="Arial" pitchFamily="34" charset="-122"/>
                          <a:cs typeface="Arial" pitchFamily="34" charset="-120"/>
                        </a:rPr>
                        <a:t>6. PWA Offline Caching &amp; Defense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64748B"/>
                          </a:solidFill>
                          <a:latin typeface="Arial" pitchFamily="34" charset="0"/>
                          <a:ea typeface="Arial" pitchFamily="34" charset="-122"/>
                          <a:cs typeface="Arial" pitchFamily="34" charset="-120"/>
                        </a:rPr>
                        <a:t>░░ UPCOMING</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12. Suggestions Given in Previous Review &amp; Action Taken</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13</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3200400"/>
                <a:gridCol w="5973775"/>
                <a:gridCol w="1554480"/>
              </a:tblGrid>
              <a:tr h="950976">
                <a:tc>
                  <a:txBody>
                    <a:bodyPr/>
                    <a:lstStyle/>
                    <a:p>
                      <a:pPr indent="0" marL="0">
                        <a:buNone/>
                      </a:pPr>
                      <a:r>
                        <a:rPr lang="en-US" sz="950" b="1" dirty="0">
                          <a:solidFill>
                            <a:srgbClr val="FFFFFF"/>
                          </a:solidFill>
                          <a:latin typeface="Arial" pitchFamily="34" charset="0"/>
                          <a:ea typeface="Arial" pitchFamily="34" charset="-122"/>
                          <a:cs typeface="Arial" pitchFamily="34" charset="-120"/>
                        </a:rPr>
                        <a:t>Previous Faculty Suggestion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Action Taken / Technical Improvement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1. Avoid misclassifying non-civic photos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Integrated dual-tier verification: YOLOv8 edge object detection + Gemini Vision API to reject non-civic uploads.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2. Avoid DB overload from duplicate complaints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Implemented 20m spatial radius query ($geoWithin) auto-linking duplicate photos &amp; updating upvote count.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3. Provide quantifiable governance metrics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Developed Ward SLA Scorecards for Ward A, H-West, G-South, K-East with SLA compliance badges.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4. Enable audit report downloading for officers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Built client-side vector PDF report generator (jsPDF + AutoTable) producing executive audit downloads.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13. Progress Verification After Previous Review</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14</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2286000"/>
                <a:gridCol w="2468880"/>
                <a:gridCol w="4419295"/>
                <a:gridCol w="1554480"/>
              </a:tblGrid>
              <a:tr h="792480">
                <a:tc>
                  <a:txBody>
                    <a:bodyPr/>
                    <a:lstStyle/>
                    <a:p>
                      <a:pPr indent="0" marL="0">
                        <a:buNone/>
                      </a:pPr>
                      <a:r>
                        <a:rPr lang="en-US" sz="900" b="1" dirty="0">
                          <a:solidFill>
                            <a:srgbClr val="FFFFFF"/>
                          </a:solidFill>
                          <a:latin typeface="Arial" pitchFamily="34" charset="0"/>
                          <a:ea typeface="Arial" pitchFamily="34" charset="-122"/>
                          <a:cs typeface="Arial" pitchFamily="34" charset="-120"/>
                        </a:rPr>
                        <a:t>System Module / Feature</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State Before Previous Review</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Work Completed After Previous Review</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Verification Status</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792480">
                <a:tc>
                  <a:txBody>
                    <a:bodyPr/>
                    <a:lstStyle/>
                    <a:p>
                      <a:pPr indent="0" marL="0">
                        <a:buNone/>
                      </a:pPr>
                      <a:r>
                        <a:rPr lang="en-US" sz="900" dirty="0">
                          <a:solidFill>
                            <a:srgbClr val="000000"/>
                          </a:solidFill>
                          <a:latin typeface="Arial" pitchFamily="34" charset="0"/>
                          <a:ea typeface="Arial" pitchFamily="34" charset="-122"/>
                          <a:cs typeface="Arial" pitchFamily="34" charset="-120"/>
                        </a:rPr>
                        <a:t>Backend REST API &amp; DB</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Static HTML wireframes &amp; unintegrated scripts</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Complete Node.js API with MongoDB GeoJSON 2DSphere spatial engine</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00" b="1" dirty="0">
                          <a:solidFill>
                            <a:srgbClr val="0284C7"/>
                          </a:solidFill>
                          <a:latin typeface="Arial" pitchFamily="34" charset="0"/>
                          <a:ea typeface="Arial" pitchFamily="34" charset="-122"/>
                          <a:cs typeface="Arial" pitchFamily="34" charset="-120"/>
                        </a:rPr>
                        <a:t>COMPLETED ✓</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00" dirty="0">
                          <a:solidFill>
                            <a:srgbClr val="000000"/>
                          </a:solidFill>
                          <a:latin typeface="Arial" pitchFamily="34" charset="0"/>
                          <a:ea typeface="Arial" pitchFamily="34" charset="-122"/>
                          <a:cs typeface="Arial" pitchFamily="34" charset="-120"/>
                        </a:rPr>
                        <a:t>AI Vision Triage Engine</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Zero automated classification logic</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YOLOv8 + Gemini Pro Vision pipeline classifying in &lt;1.2 seconds</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00" b="1" dirty="0">
                          <a:solidFill>
                            <a:srgbClr val="0284C7"/>
                          </a:solidFill>
                          <a:latin typeface="Arial" pitchFamily="34" charset="0"/>
                          <a:ea typeface="Arial" pitchFamily="34" charset="-122"/>
                          <a:cs typeface="Arial" pitchFamily="34" charset="-120"/>
                        </a:rPr>
                        <a:t>COMPLETED ✓</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00" dirty="0">
                          <a:solidFill>
                            <a:srgbClr val="000000"/>
                          </a:solidFill>
                          <a:latin typeface="Arial" pitchFamily="34" charset="0"/>
                          <a:ea typeface="Arial" pitchFamily="34" charset="-122"/>
                          <a:cs typeface="Arial" pitchFamily="34" charset="-120"/>
                        </a:rPr>
                        <a:t>GIS Map &amp; Governance</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Static map placeholders</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Interactive Leaflet OpenStreetMap layer with severity filters &amp; scorecards</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00" b="1" dirty="0">
                          <a:solidFill>
                            <a:srgbClr val="0284C7"/>
                          </a:solidFill>
                          <a:latin typeface="Arial" pitchFamily="34" charset="0"/>
                          <a:ea typeface="Arial" pitchFamily="34" charset="-122"/>
                          <a:cs typeface="Arial" pitchFamily="34" charset="-120"/>
                        </a:rPr>
                        <a:t>COMPLETED ✓</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00" dirty="0">
                          <a:solidFill>
                            <a:srgbClr val="000000"/>
                          </a:solidFill>
                          <a:latin typeface="Arial" pitchFamily="34" charset="0"/>
                          <a:ea typeface="Arial" pitchFamily="34" charset="-122"/>
                          <a:cs typeface="Arial" pitchFamily="34" charset="-120"/>
                        </a:rPr>
                        <a:t>Audit PDF Exports</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No report export capability</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Client-side jsPDF executive ward governance report generator live</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00" b="1" dirty="0">
                          <a:solidFill>
                            <a:srgbClr val="0284C7"/>
                          </a:solidFill>
                          <a:latin typeface="Arial" pitchFamily="34" charset="0"/>
                          <a:ea typeface="Arial" pitchFamily="34" charset="-122"/>
                          <a:cs typeface="Arial" pitchFamily="34" charset="-120"/>
                        </a:rPr>
                        <a:t>COMPLETED ✓</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792480">
                <a:tc>
                  <a:txBody>
                    <a:bodyPr/>
                    <a:lstStyle/>
                    <a:p>
                      <a:pPr indent="0" marL="0">
                        <a:buNone/>
                      </a:pPr>
                      <a:r>
                        <a:rPr lang="en-US" sz="900" dirty="0">
                          <a:solidFill>
                            <a:srgbClr val="000000"/>
                          </a:solidFill>
                          <a:latin typeface="Arial" pitchFamily="34" charset="0"/>
                          <a:ea typeface="Arial" pitchFamily="34" charset="-122"/>
                          <a:cs typeface="Arial" pitchFamily="34" charset="-120"/>
                        </a:rPr>
                        <a:t>Multilingual &amp; Voice Input</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English static text only</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Tri-lingual localization (EN, HI, MR) &amp; Web Speech API voice dictation</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00" b="1" dirty="0">
                          <a:solidFill>
                            <a:srgbClr val="0284C7"/>
                          </a:solidFill>
                          <a:latin typeface="Arial" pitchFamily="34" charset="0"/>
                          <a:ea typeface="Arial" pitchFamily="34" charset="-122"/>
                          <a:cs typeface="Arial" pitchFamily="34" charset="-120"/>
                        </a:rPr>
                        <a:t>COMPLETED ✓</a:t>
                      </a:r>
                      <a:endParaRPr lang="en-US" sz="90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14. Current System Implementation &amp; Demo Credentials</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15</a:t>
            </a:r>
            <a:endParaRPr lang="en-US" sz="850" dirty="0"/>
          </a:p>
        </p:txBody>
      </p:sp>
      <p:sp>
        <p:nvSpPr>
          <p:cNvPr id="6" name="Text 4"/>
          <p:cNvSpPr/>
          <p:nvPr/>
        </p:nvSpPr>
        <p:spPr>
          <a:xfrm>
            <a:off x="731520" y="1143000"/>
            <a:ext cx="10728655" cy="274320"/>
          </a:xfrm>
          <a:prstGeom prst="rect">
            <a:avLst/>
          </a:prstGeom>
          <a:noFill/>
          <a:ln/>
        </p:spPr>
        <p:txBody>
          <a:bodyPr wrap="square" rtlCol="0" anchor="ctr"/>
          <a:lstStyle/>
          <a:p>
            <a:pPr indent="0" marL="0">
              <a:buNone/>
            </a:pPr>
            <a:r>
              <a:rPr lang="en-US" sz="1000" b="1" dirty="0">
                <a:solidFill>
                  <a:srgbClr val="0284C7"/>
                </a:solidFill>
              </a:rPr>
              <a:t>SYSTEM EXECUTION PARAMETERS: Backend API: http://localhost:5000 | Frontend Client: http://localhost:5173</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508760"/>
          <a:ext cx="10728655" cy="4389120"/>
        </p:xfrm>
        <a:graphic>
          <a:graphicData uri="http://schemas.openxmlformats.org/drawingml/2006/table">
            <a:tbl>
              <a:tblPr/>
              <a:tblGrid>
                <a:gridCol w="1645920"/>
                <a:gridCol w="2560320"/>
                <a:gridCol w="1828800"/>
                <a:gridCol w="4693615"/>
              </a:tblGrid>
              <a:tr h="877824">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Role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Login Email Address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Password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Verifiable System Capabilities &amp; Features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87782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Admin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admin@bmc.gov.in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Full Command Center, PDF Audits, Ward Leaderboard Scorecards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87782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Officer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officer@bmc.gov.in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Ward Triage, Ticket Assignment, SLA Escalation Controls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87782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Worker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worker@bmc.gov.in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Field Queue, WebRTC Live Resolution Proof Photo Upload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87782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Citizen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citizen@bmc.gov.in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Ticket Filing, Web Speech Voice Input, 5-Step Stepper Tracking</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15. Individual Team Member Contribution</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16</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2011680"/>
                <a:gridCol w="1463040"/>
                <a:gridCol w="3200400"/>
                <a:gridCol w="4053535"/>
              </a:tblGrid>
              <a:tr h="950976">
                <a:tc>
                  <a:txBody>
                    <a:bodyPr/>
                    <a:lstStyle/>
                    <a:p>
                      <a:pPr indent="0" marL="0">
                        <a:buNone/>
                      </a:pPr>
                      <a:r>
                        <a:rPr lang="en-US" sz="950" b="1" dirty="0">
                          <a:solidFill>
                            <a:srgbClr val="FFFFFF"/>
                          </a:solidFill>
                          <a:latin typeface="Arial" pitchFamily="34" charset="0"/>
                          <a:ea typeface="Arial" pitchFamily="34" charset="-122"/>
                          <a:cs typeface="Arial" pitchFamily="34" charset="-120"/>
                        </a:rPr>
                        <a:t>Student Name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University ID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Primary Project Domain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Verified Completed Contributions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THANGE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VU4F2324090</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AI Pipeline &amp; Spatial Engine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Developed YOLOv8 &amp; Gemini AI model runner, constructed 20m spatial deduplication engine.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SABLE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VU4F2324096</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Full-Stack Architect &amp; API</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Architected Express REST API, Mongoose schemas, JWT auth, SLA score calculation logic.</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ALOK PANDEY</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VU4F2324138</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GIS Map &amp; UI Specialist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Built React 19 UI, Leaflet GIS map visualization, tri-lingual i18n support, and Voice Dictation.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ASMIT YADAV</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VU4F2324141</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QA, PDF Engine &amp; Database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Implemented jsPDF report generator, database seeding scripts, Oxlint linter audits.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320040"/>
            <a:ext cx="10728655"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DEPARTMENT OF INFORMATION TECHNOLOGY • MAJOR PROJECT REVIEW 1</a:t>
            </a:r>
            <a:endParaRPr lang="en-US" sz="900" dirty="0"/>
          </a:p>
        </p:txBody>
      </p:sp>
      <p:sp>
        <p:nvSpPr>
          <p:cNvPr id="3" name="Text 1"/>
          <p:cNvSpPr/>
          <p:nvPr/>
        </p:nvSpPr>
        <p:spPr>
          <a:xfrm>
            <a:off x="731520" y="548640"/>
            <a:ext cx="10728655" cy="411480"/>
          </a:xfrm>
          <a:prstGeom prst="rect">
            <a:avLst/>
          </a:prstGeom>
          <a:noFill/>
          <a:ln/>
        </p:spPr>
        <p:txBody>
          <a:bodyPr wrap="square" rtlCol="0" anchor="ctr"/>
          <a:lstStyle/>
          <a:p>
            <a:pPr indent="0" marL="0">
              <a:buNone/>
            </a:pPr>
            <a:r>
              <a:rPr lang="en-US" sz="1900" b="1" dirty="0">
                <a:solidFill>
                  <a:srgbClr val="0F172A"/>
                </a:solidFill>
                <a:latin typeface="Arial" pitchFamily="34" charset="0"/>
                <a:ea typeface="Arial" pitchFamily="34" charset="-122"/>
                <a:cs typeface="Arial" pitchFamily="34" charset="-120"/>
              </a:rPr>
              <a:t>16. Current Status, Remaining Work &amp; Expected Outcome</a:t>
            </a:r>
            <a:endParaRPr lang="en-US" sz="1900" dirty="0"/>
          </a:p>
        </p:txBody>
      </p:sp>
      <p:sp>
        <p:nvSpPr>
          <p:cNvPr id="4" name="Shape 2"/>
          <p:cNvSpPr/>
          <p:nvPr/>
        </p:nvSpPr>
        <p:spPr>
          <a:xfrm>
            <a:off x="731520" y="1005840"/>
            <a:ext cx="10728655" cy="13716"/>
          </a:xfrm>
          <a:prstGeom prst="rect">
            <a:avLst/>
          </a:prstGeom>
          <a:solidFill>
            <a:srgbClr val="CBD5E1"/>
          </a:solidFill>
          <a:ln w="12700">
            <a:solidFill>
              <a:srgbClr val="CBD5E1"/>
            </a:solidFill>
            <a:prstDash val="solid"/>
          </a:ln>
        </p:spPr>
      </p:sp>
      <p:sp>
        <p:nvSpPr>
          <p:cNvPr id="5" name="Text 3"/>
          <p:cNvSpPr/>
          <p:nvPr/>
        </p:nvSpPr>
        <p:spPr>
          <a:xfrm>
            <a:off x="731520" y="6400800"/>
            <a:ext cx="10728655" cy="274320"/>
          </a:xfrm>
          <a:prstGeom prst="rect">
            <a:avLst/>
          </a:prstGeom>
          <a:noFill/>
          <a:ln/>
        </p:spPr>
        <p:txBody>
          <a:bodyPr wrap="square" rtlCol="0" anchor="ctr"/>
          <a:lstStyle/>
          <a:p>
            <a:pPr algn="l" indent="0" marL="0">
              <a:buNone/>
            </a:pPr>
            <a:r>
              <a:rPr lang="en-US" sz="850" dirty="0">
                <a:solidFill>
                  <a:srgbClr val="64748B"/>
                </a:solidFill>
                <a:latin typeface="Arial" pitchFamily="34" charset="0"/>
                <a:ea typeface="Arial" pitchFamily="34" charset="-122"/>
                <a:cs typeface="Arial" pitchFamily="34" charset="-120"/>
              </a:rPr>
              <a:t>AI-Powered Smart Civic Intelligence &amp; Urban Issue Management System    |    Slide 17</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4754880"/>
        </p:xfrm>
        <a:graphic>
          <a:graphicData uri="http://schemas.openxmlformats.org/drawingml/2006/table">
            <a:tbl>
              <a:tblPr/>
              <a:tblGrid>
                <a:gridCol w="2011680"/>
                <a:gridCol w="6888175"/>
                <a:gridCol w="1828800"/>
              </a:tblGrid>
              <a:tr h="950976">
                <a:tc>
                  <a:txBody>
                    <a:bodyPr/>
                    <a:lstStyle/>
                    <a:p>
                      <a:pPr indent="0" marL="0">
                        <a:buNone/>
                      </a:pPr>
                      <a:r>
                        <a:rPr lang="en-US" sz="950" b="1" dirty="0">
                          <a:solidFill>
                            <a:srgbClr val="FFFFFF"/>
                          </a:solidFill>
                          <a:latin typeface="Arial" pitchFamily="34" charset="0"/>
                          <a:ea typeface="Arial" pitchFamily="34" charset="-122"/>
                          <a:cs typeface="Arial" pitchFamily="34" charset="-120"/>
                        </a:rPr>
                        <a:t>Category</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Milestone Work Description</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Completion Status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Express REST API, MongoDB GeoJSON spatial engine, YOLOv8 + Gemini AI triage, Leaflet GIS map layer, Ward SLA scorecards, PDF audit report generator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100% VERIFIED</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IN PROGRESS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Socket-based real-time citizen SLA status push notifications &amp; Service Worker PWA offline caching layer</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F172A"/>
                          </a:solidFill>
                          <a:latin typeface="Arial" pitchFamily="34" charset="0"/>
                          <a:ea typeface="Arial" pitchFamily="34" charset="-122"/>
                          <a:cs typeface="Arial" pitchFamily="34" charset="-120"/>
                        </a:rPr>
                        <a:t>70% IN PROGRESS</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REMAINING SCOPE ○</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End-to-end stress testing under 1,000+ simulated concurrent complaints &amp; university final defense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dirty="0">
                          <a:solidFill>
                            <a:srgbClr val="64748B"/>
                          </a:solidFill>
                          <a:latin typeface="Arial" pitchFamily="34" charset="0"/>
                          <a:ea typeface="Arial" pitchFamily="34" charset="-122"/>
                          <a:cs typeface="Arial" pitchFamily="34" charset="-120"/>
                        </a:rPr>
                        <a:t>UPCOMING</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950976">
                <a:tc>
                  <a:txBody>
                    <a:bodyPr/>
                    <a:lstStyle/>
                    <a:p>
                      <a:pPr indent="0" marL="0">
                        <a:buNone/>
                      </a:pPr>
                      <a:r>
                        <a:rPr lang="en-US" sz="950" dirty="0">
                          <a:solidFill>
                            <a:srgbClr val="000000"/>
                          </a:solidFill>
                          <a:latin typeface="Arial" pitchFamily="34" charset="0"/>
                          <a:ea typeface="Arial" pitchFamily="34" charset="-122"/>
                          <a:cs typeface="Arial" pitchFamily="34" charset="-120"/>
                        </a:rPr>
                        <a:t>EXPECTED OUTCOME</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90%+ reduction in initial triage latency (&lt;1.2s vs 24–72h), 30%+ reduction in redundant dispatches via 20m spatial deduplication, and transparent Ward SLA accountability.</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284C7"/>
                          </a:solidFill>
                          <a:latin typeface="Arial" pitchFamily="34" charset="0"/>
                          <a:ea typeface="Arial" pitchFamily="34" charset="-122"/>
                          <a:cs typeface="Arial" pitchFamily="34" charset="-120"/>
                        </a:rPr>
                        <a:t>TARGET MET</a:t>
                      </a:r>
                      <a:endParaRPr lang="en-US" sz="9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011680"/>
            <a:ext cx="10728655" cy="731520"/>
          </a:xfrm>
          <a:prstGeom prst="rect">
            <a:avLst/>
          </a:prstGeom>
          <a:noFill/>
          <a:ln/>
        </p:spPr>
        <p:txBody>
          <a:bodyPr wrap="square" rtlCol="0" anchor="ctr"/>
          <a:lstStyle/>
          <a:p>
            <a:pPr algn="ctr" indent="0" marL="0">
              <a:buNone/>
            </a:pPr>
            <a:r>
              <a:rPr lang="en-US" sz="2800" b="1" dirty="0">
                <a:solidFill>
                  <a:srgbClr val="0284C7"/>
                </a:solidFill>
                <a:latin typeface="Arial" pitchFamily="34" charset="0"/>
                <a:ea typeface="Arial" pitchFamily="34" charset="-122"/>
                <a:cs typeface="Arial" pitchFamily="34" charset="-120"/>
              </a:rPr>
              <a:t>THANK YOU!</a:t>
            </a:r>
            <a:endParaRPr lang="en-US" sz="2800" dirty="0"/>
          </a:p>
        </p:txBody>
      </p:sp>
      <p:sp>
        <p:nvSpPr>
          <p:cNvPr id="3" name="Text 1"/>
          <p:cNvSpPr/>
          <p:nvPr/>
        </p:nvSpPr>
        <p:spPr>
          <a:xfrm>
            <a:off x="731520" y="2834640"/>
            <a:ext cx="10728655" cy="457200"/>
          </a:xfrm>
          <a:prstGeom prst="rect">
            <a:avLst/>
          </a:prstGeom>
          <a:noFill/>
          <a:ln/>
        </p:spPr>
        <p:txBody>
          <a:bodyPr wrap="square"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Questions &amp; Panel Discussion</a:t>
            </a:r>
            <a:endParaRPr lang="en-US" sz="1800" dirty="0"/>
          </a:p>
        </p:txBody>
      </p:sp>
      <p:sp>
        <p:nvSpPr>
          <p:cNvPr id="4" name="Shape 2"/>
          <p:cNvSpPr/>
          <p:nvPr/>
        </p:nvSpPr>
        <p:spPr>
          <a:xfrm>
            <a:off x="4114800" y="3474720"/>
            <a:ext cx="3962095" cy="18288"/>
          </a:xfrm>
          <a:prstGeom prst="rect">
            <a:avLst/>
          </a:prstGeom>
          <a:solidFill>
            <a:srgbClr val="0284C7"/>
          </a:solidFill>
          <a:ln w="12700">
            <a:solidFill>
              <a:srgbClr val="0284C7"/>
            </a:solidFill>
            <a:prstDash val="solid"/>
          </a:ln>
        </p:spPr>
      </p:sp>
      <p:sp>
        <p:nvSpPr>
          <p:cNvPr id="5" name="Text 3"/>
          <p:cNvSpPr/>
          <p:nvPr/>
        </p:nvSpPr>
        <p:spPr>
          <a:xfrm>
            <a:off x="731520" y="3840480"/>
            <a:ext cx="10728655" cy="1371600"/>
          </a:xfrm>
          <a:prstGeom prst="rect">
            <a:avLst/>
          </a:prstGeom>
          <a:noFill/>
          <a:ln/>
        </p:spPr>
        <p:txBody>
          <a:bodyPr wrap="square"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Project Team: Nikhil Thange | Nikhil Sable | Alok Pandey | Asmit Yadav</a:t>
            </a:r>
            <a:endParaRPr lang="en-US" sz="1200" dirty="0"/>
          </a:p>
          <a:p>
            <a:pPr algn="ctr" indent="0" marL="0">
              <a:buNone/>
            </a:pPr>
            <a:r>
              <a:rPr lang="en-US" sz="1200" dirty="0">
                <a:solidFill>
                  <a:srgbClr val="64748B"/>
                </a:solidFill>
                <a:latin typeface="Arial" pitchFamily="34" charset="0"/>
                <a:ea typeface="Arial" pitchFamily="34" charset="-122"/>
                <a:cs typeface="Arial" pitchFamily="34" charset="-120"/>
              </a:rPr>
              <a:t>Department of Information Technology</a:t>
            </a:r>
            <a:endParaRPr lang="en-US" sz="1200" dirty="0"/>
          </a:p>
          <a:p>
            <a:pPr algn="ctr" indent="0" marL="0">
              <a:buNone/>
            </a:pPr>
            <a:r>
              <a:rPr lang="en-US" sz="1200" dirty="0">
                <a:solidFill>
                  <a:srgbClr val="64748B"/>
                </a:solidFill>
                <a:latin typeface="Arial" pitchFamily="34" charset="0"/>
                <a:ea typeface="Arial" pitchFamily="34" charset="-122"/>
                <a:cs typeface="Arial" pitchFamily="34" charset="-120"/>
              </a:rPr>
              <a:t>Vasantdada Patil Pratishthan's College of Engineering and Visual Arts, Mumbai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Civic Intelligence &amp; Urban Issue Management System</dc:title>
  <dc:subject>PptxGenJS Presentation</dc:subject>
  <dc:creator>Department of Information Technology - VPPCOE&amp;VA</dc:creator>
  <cp:lastModifiedBy>Department of Information Technology - VPPCOE&amp;VA</cp:lastModifiedBy>
  <cp:revision>1</cp:revision>
  <dcterms:created xsi:type="dcterms:W3CDTF">2026-08-11T17:11:25Z</dcterms:created>
  <dcterms:modified xsi:type="dcterms:W3CDTF">2026-08-11T17:11:25Z</dcterms:modified>
</cp:coreProperties>
</file>