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228600"/>
            <a:ext cx="11094415" cy="914400"/>
          </a:xfrm>
          <a:prstGeom prst="rect">
            <a:avLst/>
          </a:prstGeom>
          <a:noFill/>
          <a:ln/>
        </p:spPr>
        <p:txBody>
          <a:bodyPr wrap="square" rtlCol="0" anchor="ctr"/>
          <a:lstStyle/>
          <a:p>
            <a:pPr algn="ctr" indent="0" marL="0">
              <a:buNone/>
            </a:pPr>
            <a:r>
              <a:rPr lang="en-US" sz="1200" b="1" dirty="0">
                <a:solidFill>
                  <a:srgbClr val="0F172A"/>
                </a:solidFill>
                <a:latin typeface="Arial" pitchFamily="34" charset="0"/>
                <a:ea typeface="Arial" pitchFamily="34" charset="-122"/>
                <a:cs typeface="Arial" pitchFamily="34" charset="-120"/>
              </a:rPr>
              <a:t>VASANTDADA PATIL PRATISHTHAN'S COLLEGE OF ENGINEERING AND VISUAL ARTS</a:t>
            </a:r>
            <a:endParaRPr lang="en-US" sz="1200" dirty="0"/>
          </a:p>
          <a:p>
            <a:pPr algn="ctr" indent="0" marL="0">
              <a:buNone/>
            </a:pPr>
            <a:r>
              <a:rPr lang="en-US" sz="1200" b="1" dirty="0">
                <a:solidFill>
                  <a:srgbClr val="0F172A"/>
                </a:solidFill>
                <a:latin typeface="Arial" pitchFamily="34" charset="0"/>
                <a:ea typeface="Arial" pitchFamily="34" charset="-122"/>
                <a:cs typeface="Arial" pitchFamily="34" charset="-120"/>
              </a:rPr>
              <a:t>Department of Information Technology</a:t>
            </a:r>
            <a:endParaRPr lang="en-US" sz="1200" dirty="0"/>
          </a:p>
          <a:p>
            <a:pPr algn="ctr" indent="0" marL="0">
              <a:buNone/>
            </a:pPr>
            <a:r>
              <a:rPr lang="en-US" sz="1200" b="1" dirty="0">
                <a:solidFill>
                  <a:srgbClr val="0F172A"/>
                </a:solidFill>
                <a:latin typeface="Arial" pitchFamily="34" charset="0"/>
                <a:ea typeface="Arial" pitchFamily="34" charset="-122"/>
                <a:cs typeface="Arial" pitchFamily="34" charset="-120"/>
              </a:rPr>
              <a:t>Accredited by NAAC | Approved by AICTE, New Delhi | Affiliated to University of Mumbai</a:t>
            </a:r>
            <a:endParaRPr lang="en-US" sz="1200" dirty="0"/>
          </a:p>
          <a:p>
            <a:pPr algn="ctr" indent="0" marL="0">
              <a:buNone/>
            </a:pPr>
            <a:r>
              <a:rPr lang="en-US" sz="1200" b="1" dirty="0">
                <a:solidFill>
                  <a:srgbClr val="0F172A"/>
                </a:solidFill>
                <a:latin typeface="Arial" pitchFamily="34" charset="0"/>
                <a:ea typeface="Arial" pitchFamily="34" charset="-122"/>
                <a:cs typeface="Arial" pitchFamily="34" charset="-120"/>
              </a:rPr>
              <a:t>Eastern Express Highway, Near Everard Nagar, Sion, Mumbai, Maharashtra 400022</a:t>
            </a:r>
            <a:endParaRPr lang="en-US" sz="1200" dirty="0"/>
          </a:p>
        </p:txBody>
      </p:sp>
      <p:sp>
        <p:nvSpPr>
          <p:cNvPr id="3" name="Shape 1"/>
          <p:cNvSpPr/>
          <p:nvPr/>
        </p:nvSpPr>
        <p:spPr>
          <a:xfrm>
            <a:off x="548640" y="1188720"/>
            <a:ext cx="11094415" cy="22860"/>
          </a:xfrm>
          <a:prstGeom prst="rect">
            <a:avLst/>
          </a:prstGeom>
          <a:solidFill>
            <a:srgbClr val="10B981"/>
          </a:solidFill>
          <a:ln w="12700">
            <a:solidFill>
              <a:srgbClr val="10B981"/>
            </a:solidFill>
            <a:prstDash val="solid"/>
          </a:ln>
        </p:spPr>
      </p:sp>
      <p:sp>
        <p:nvSpPr>
          <p:cNvPr id="4" name="Text 2"/>
          <p:cNvSpPr/>
          <p:nvPr/>
        </p:nvSpPr>
        <p:spPr>
          <a:xfrm>
            <a:off x="548640" y="1325880"/>
            <a:ext cx="11094415" cy="1143000"/>
          </a:xfrm>
          <a:prstGeom prst="rect">
            <a:avLst/>
          </a:prstGeom>
          <a:noFill/>
          <a:ln/>
        </p:spPr>
        <p:txBody>
          <a:bodyPr wrap="square" rtlCol="0" anchor="ctr"/>
          <a:lstStyle/>
          <a:p>
            <a:pPr algn="ctr" indent="0" marL="0">
              <a:buNone/>
            </a:pPr>
            <a:r>
              <a:rPr lang="en-US" sz="1900" b="1" dirty="0">
                <a:solidFill>
                  <a:srgbClr val="0F172A"/>
                </a:solidFill>
                <a:latin typeface="Arial" pitchFamily="34" charset="0"/>
                <a:ea typeface="Arial" pitchFamily="34" charset="-122"/>
                <a:cs typeface="Arial" pitchFamily="34" charset="-120"/>
              </a:rPr>
              <a:t>B.E. MAJOR PROJECT REVIEW 1 (ACADEMIC YEAR 2026–27)</a:t>
            </a:r>
            <a:endParaRPr lang="en-US" sz="1900" dirty="0"/>
          </a:p>
          <a:p>
            <a:pPr algn="ctr" indent="0" marL="0">
              <a:buNone/>
            </a:pPr>
            <a:endParaRPr lang="en-US" sz="1900" dirty="0"/>
          </a:p>
          <a:p>
            <a:pPr algn="ctr" indent="0" marL="0">
              <a:buNone/>
            </a:pPr>
            <a:r>
              <a:rPr lang="en-US" sz="1900" b="1" dirty="0">
                <a:solidFill>
                  <a:srgbClr val="0F172A"/>
                </a:solidFill>
                <a:latin typeface="Arial" pitchFamily="34" charset="0"/>
                <a:ea typeface="Arial" pitchFamily="34" charset="-122"/>
                <a:cs typeface="Arial" pitchFamily="34" charset="-120"/>
              </a:rPr>
              <a:t>AI-Powered Smart Civic Intelligence &amp;</a:t>
            </a:r>
            <a:endParaRPr lang="en-US" sz="1900" dirty="0"/>
          </a:p>
          <a:p>
            <a:pPr algn="ctr" indent="0" marL="0">
              <a:buNone/>
            </a:pPr>
            <a:r>
              <a:rPr lang="en-US" sz="1900" b="1" dirty="0">
                <a:solidFill>
                  <a:srgbClr val="0F172A"/>
                </a:solidFill>
                <a:latin typeface="Arial" pitchFamily="34" charset="0"/>
                <a:ea typeface="Arial" pitchFamily="34" charset="-122"/>
                <a:cs typeface="Arial" pitchFamily="34" charset="-120"/>
              </a:rPr>
              <a:t>Urban Issue Management System</a:t>
            </a:r>
            <a:endParaRPr lang="en-US" sz="1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371600" y="2606040"/>
          <a:ext cx="9448495" cy="1737360"/>
        </p:xfrm>
        <a:graphic>
          <a:graphicData uri="http://schemas.openxmlformats.org/drawingml/2006/table">
            <a:tbl>
              <a:tblPr/>
              <a:tblGrid>
                <a:gridCol w="914400"/>
                <a:gridCol w="5303520"/>
                <a:gridCol w="3230575"/>
              </a:tblGrid>
              <a:tr h="347472">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Sr. No.</a:t>
                      </a:r>
                      <a:endParaRPr lang="en-US" sz="10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Student Full Name</a:t>
                      </a:r>
                      <a:endParaRPr lang="en-US" sz="10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Student University ID No.</a:t>
                      </a:r>
                      <a:endParaRPr lang="en-US" sz="10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347472">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1</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NIKHIL THANGE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VU4F2324090</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r>
              <a:tr h="347472">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2</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NIKHIL SABLE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VU4F2324096</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r>
              <a:tr h="347472">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ALOK PANDEY</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VU4F2324138</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r>
              <a:tr h="347472">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ASMIT YADAV</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VU4F2324141</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r>
            </a:tbl>
          </a:graphicData>
        </a:graphic>
      </p:graphicFrame>
      <p:sp>
        <p:nvSpPr>
          <p:cNvPr id="6" name="Text 3"/>
          <p:cNvSpPr/>
          <p:nvPr/>
        </p:nvSpPr>
        <p:spPr>
          <a:xfrm>
            <a:off x="548640" y="4572000"/>
            <a:ext cx="11094415" cy="320040"/>
          </a:xfrm>
          <a:prstGeom prst="rect">
            <a:avLst/>
          </a:prstGeom>
          <a:noFill/>
          <a:ln/>
        </p:spPr>
        <p:txBody>
          <a:bodyPr wrap="square" rtlCol="0" anchor="ctr"/>
          <a:lstStyle/>
          <a:p>
            <a:pPr algn="ctr" indent="0" marL="0">
              <a:buNone/>
            </a:pPr>
            <a:r>
              <a:rPr lang="en-US" sz="950" dirty="0">
                <a:solidFill>
                  <a:srgbClr val="64748B"/>
                </a:solidFill>
              </a:rPr>
              <a:t>Department of Information Technology • Vasantdada Patil Pratishthan's College of Engineering and Visual Arts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Presentation Overview &amp; Review Index</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5394960" cy="3931920"/>
          </a:xfrm>
          <a:prstGeom prst="roundRect">
            <a:avLst>
              <a:gd name="adj" fmla="val 930"/>
            </a:avLst>
          </a:prstGeom>
          <a:solidFill>
            <a:srgbClr val="F8FAFC"/>
          </a:solidFill>
          <a:ln w="12700">
            <a:solidFill>
              <a:srgbClr val="E2E8F0"/>
            </a:solidFill>
            <a:prstDash val="solid"/>
          </a:ln>
        </p:spPr>
      </p:sp>
      <p:sp>
        <p:nvSpPr>
          <p:cNvPr id="6" name="Text 4"/>
          <p:cNvSpPr/>
          <p:nvPr/>
        </p:nvSpPr>
        <p:spPr>
          <a:xfrm>
            <a:off x="731520" y="1234440"/>
            <a:ext cx="5029200" cy="274320"/>
          </a:xfrm>
          <a:prstGeom prst="rect">
            <a:avLst/>
          </a:prstGeom>
          <a:noFill/>
          <a:ln/>
        </p:spPr>
        <p:txBody>
          <a:bodyPr wrap="square" rtlCol="0" anchor="ctr"/>
          <a:lstStyle/>
          <a:p>
            <a:pPr indent="0" marL="0">
              <a:buNone/>
            </a:pPr>
            <a:r>
              <a:rPr lang="en-US" sz="1100" b="1" dirty="0">
                <a:solidFill>
                  <a:srgbClr val="10B981"/>
                </a:solidFill>
              </a:rPr>
              <a:t>REVIEW PARAMETERS — PART 1</a:t>
            </a:r>
            <a:endParaRPr lang="en-US" sz="1100" dirty="0"/>
          </a:p>
        </p:txBody>
      </p:sp>
      <p:sp>
        <p:nvSpPr>
          <p:cNvPr id="7" name="Text 5"/>
          <p:cNvSpPr/>
          <p:nvPr/>
        </p:nvSpPr>
        <p:spPr>
          <a:xfrm>
            <a:off x="731520" y="1600200"/>
            <a:ext cx="5029200" cy="3200400"/>
          </a:xfrm>
          <a:prstGeom prst="rect">
            <a:avLst/>
          </a:prstGeom>
          <a:noFill/>
          <a:ln/>
        </p:spPr>
        <p:txBody>
          <a:bodyPr wrap="square" rtlCol="0" anchor="ctr"/>
          <a:lstStyle/>
          <a:p>
            <a:pPr indent="0" marL="0">
              <a:buNone/>
            </a:pPr>
            <a:r>
              <a:rPr lang="en-US" sz="1100" b="1" dirty="0">
                <a:solidFill>
                  <a:srgbClr val="0F172A"/>
                </a:solidFill>
              </a:rPr>
              <a:t>▶  Problem Identification &amp; Motivation</a:t>
            </a:r>
            <a:endParaRPr lang="en-US" sz="1100" dirty="0"/>
          </a:p>
          <a:p>
            <a:pPr indent="0" marL="0">
              <a:buNone/>
            </a:pPr>
            <a:endParaRPr lang="en-US" sz="1100" dirty="0"/>
          </a:p>
          <a:p>
            <a:pPr indent="0" marL="0">
              <a:buNone/>
            </a:pPr>
            <a:r>
              <a:rPr lang="en-US" sz="1100" b="1" dirty="0">
                <a:solidFill>
                  <a:srgbClr val="0F172A"/>
                </a:solidFill>
              </a:rPr>
              <a:t>▶  Problem Statement &amp; Objectives</a:t>
            </a:r>
            <a:endParaRPr lang="en-US" sz="1100" dirty="0"/>
          </a:p>
          <a:p>
            <a:pPr indent="0" marL="0">
              <a:buNone/>
            </a:pPr>
            <a:endParaRPr lang="en-US" sz="1100" dirty="0"/>
          </a:p>
          <a:p>
            <a:pPr indent="0" marL="0">
              <a:buNone/>
            </a:pPr>
            <a:r>
              <a:rPr lang="en-US" sz="1100" b="1" dirty="0">
                <a:solidFill>
                  <a:srgbClr val="0F172A"/>
                </a:solidFill>
              </a:rPr>
              <a:t>▶  Literature Survey &amp; Existing Systems</a:t>
            </a:r>
            <a:endParaRPr lang="en-US" sz="1100" dirty="0"/>
          </a:p>
          <a:p>
            <a:pPr indent="0" marL="0">
              <a:buNone/>
            </a:pPr>
            <a:endParaRPr lang="en-US" sz="1100" dirty="0"/>
          </a:p>
          <a:p>
            <a:pPr indent="0" marL="0">
              <a:buNone/>
            </a:pPr>
            <a:r>
              <a:rPr lang="en-US" sz="1100" b="1" dirty="0">
                <a:solidFill>
                  <a:srgbClr val="0F172A"/>
                </a:solidFill>
              </a:rPr>
              <a:t>▶  Identification of Research / Technical Gap</a:t>
            </a:r>
            <a:endParaRPr lang="en-US" sz="1100" dirty="0"/>
          </a:p>
          <a:p>
            <a:pPr indent="0" marL="0">
              <a:buNone/>
            </a:pPr>
            <a:endParaRPr lang="en-US" sz="1100" dirty="0"/>
          </a:p>
          <a:p>
            <a:pPr indent="0" marL="0">
              <a:buNone/>
            </a:pPr>
            <a:r>
              <a:rPr lang="en-US" sz="1100" b="1" dirty="0">
                <a:solidFill>
                  <a:srgbClr val="0F172A"/>
                </a:solidFill>
              </a:rPr>
              <a:t>▶  Proposed Solution &amp; System Architecture</a:t>
            </a:r>
            <a:endParaRPr lang="en-US" sz="1100" dirty="0"/>
          </a:p>
          <a:p>
            <a:pPr indent="0" marL="0">
              <a:buNone/>
            </a:pPr>
            <a:endParaRPr lang="en-US" sz="1100" dirty="0"/>
          </a:p>
          <a:p>
            <a:pPr indent="0" marL="0">
              <a:buNone/>
            </a:pPr>
            <a:r>
              <a:rPr lang="en-US" sz="1100" b="1" dirty="0">
                <a:solidFill>
                  <a:srgbClr val="0F172A"/>
                </a:solidFill>
              </a:rPr>
              <a:t>▶  End-to-End System Workflow</a:t>
            </a:r>
            <a:endParaRPr lang="en-US" sz="1100" dirty="0"/>
          </a:p>
        </p:txBody>
      </p:sp>
      <p:sp>
        <p:nvSpPr>
          <p:cNvPr id="8" name="Shape 6"/>
          <p:cNvSpPr/>
          <p:nvPr/>
        </p:nvSpPr>
        <p:spPr>
          <a:xfrm>
            <a:off x="6248095" y="1097280"/>
            <a:ext cx="5394960" cy="3931920"/>
          </a:xfrm>
          <a:prstGeom prst="roundRect">
            <a:avLst>
              <a:gd name="adj" fmla="val 930"/>
            </a:avLst>
          </a:prstGeom>
          <a:solidFill>
            <a:srgbClr val="F8FAFC"/>
          </a:solidFill>
          <a:ln w="12700">
            <a:solidFill>
              <a:srgbClr val="E2E8F0"/>
            </a:solidFill>
            <a:prstDash val="solid"/>
          </a:ln>
        </p:spPr>
      </p:sp>
      <p:sp>
        <p:nvSpPr>
          <p:cNvPr id="9" name="Text 7"/>
          <p:cNvSpPr/>
          <p:nvPr/>
        </p:nvSpPr>
        <p:spPr>
          <a:xfrm>
            <a:off x="6430975" y="1234440"/>
            <a:ext cx="5029200" cy="274320"/>
          </a:xfrm>
          <a:prstGeom prst="rect">
            <a:avLst/>
          </a:prstGeom>
          <a:noFill/>
          <a:ln/>
        </p:spPr>
        <p:txBody>
          <a:bodyPr wrap="square" rtlCol="0" anchor="ctr"/>
          <a:lstStyle/>
          <a:p>
            <a:pPr indent="0" marL="0">
              <a:buNone/>
            </a:pPr>
            <a:r>
              <a:rPr lang="en-US" sz="1100" b="1" dirty="0">
                <a:solidFill>
                  <a:srgbClr val="10B981"/>
                </a:solidFill>
              </a:rPr>
              <a:t>REVIEW PARAMETERS — PART 2</a:t>
            </a:r>
            <a:endParaRPr lang="en-US" sz="1100" dirty="0"/>
          </a:p>
        </p:txBody>
      </p:sp>
      <p:sp>
        <p:nvSpPr>
          <p:cNvPr id="10" name="Text 8"/>
          <p:cNvSpPr/>
          <p:nvPr/>
        </p:nvSpPr>
        <p:spPr>
          <a:xfrm>
            <a:off x="6430975" y="1600200"/>
            <a:ext cx="5029200" cy="3200400"/>
          </a:xfrm>
          <a:prstGeom prst="rect">
            <a:avLst/>
          </a:prstGeom>
          <a:noFill/>
          <a:ln/>
        </p:spPr>
        <p:txBody>
          <a:bodyPr wrap="square" rtlCol="0" anchor="ctr"/>
          <a:lstStyle/>
          <a:p>
            <a:pPr indent="0" marL="0">
              <a:buNone/>
            </a:pPr>
            <a:r>
              <a:rPr lang="en-US" sz="1100" b="1" dirty="0">
                <a:solidFill>
                  <a:srgbClr val="0F172A"/>
                </a:solidFill>
              </a:rPr>
              <a:t>▶  Feasibility Analysis &amp; Technology Selection</a:t>
            </a:r>
            <a:endParaRPr lang="en-US" sz="1100" dirty="0"/>
          </a:p>
          <a:p>
            <a:pPr indent="0" marL="0">
              <a:buNone/>
            </a:pPr>
            <a:endParaRPr lang="en-US" sz="1100" dirty="0"/>
          </a:p>
          <a:p>
            <a:pPr indent="0" marL="0">
              <a:buNone/>
            </a:pPr>
            <a:r>
              <a:rPr lang="en-US" sz="1100" b="1" dirty="0">
                <a:solidFill>
                  <a:srgbClr val="0F172A"/>
                </a:solidFill>
              </a:rPr>
              <a:t>▶  Work Breakdown Structure &amp; Gantt Chart Timeline</a:t>
            </a:r>
            <a:endParaRPr lang="en-US" sz="1100" dirty="0"/>
          </a:p>
          <a:p>
            <a:pPr indent="0" marL="0">
              <a:buNone/>
            </a:pPr>
            <a:endParaRPr lang="en-US" sz="1100" dirty="0"/>
          </a:p>
          <a:p>
            <a:pPr indent="0" marL="0">
              <a:buNone/>
            </a:pPr>
            <a:r>
              <a:rPr lang="en-US" sz="1100" b="1" dirty="0">
                <a:solidFill>
                  <a:srgbClr val="0F172A"/>
                </a:solidFill>
              </a:rPr>
              <a:t>▶  Suggestions Given in Last Review &amp; Progress</a:t>
            </a:r>
            <a:endParaRPr lang="en-US" sz="1100" dirty="0"/>
          </a:p>
          <a:p>
            <a:pPr indent="0" marL="0">
              <a:buNone/>
            </a:pPr>
            <a:endParaRPr lang="en-US" sz="1100" dirty="0"/>
          </a:p>
          <a:p>
            <a:pPr indent="0" marL="0">
              <a:buNone/>
            </a:pPr>
            <a:r>
              <a:rPr lang="en-US" sz="1100" b="1" dirty="0">
                <a:solidFill>
                  <a:srgbClr val="0F172A"/>
                </a:solidFill>
              </a:rPr>
              <a:t>▶  Current Implementation &amp; Verified Demonstration</a:t>
            </a:r>
            <a:endParaRPr lang="en-US" sz="1100" dirty="0"/>
          </a:p>
          <a:p>
            <a:pPr indent="0" marL="0">
              <a:buNone/>
            </a:pPr>
            <a:endParaRPr lang="en-US" sz="1100" dirty="0"/>
          </a:p>
          <a:p>
            <a:pPr indent="0" marL="0">
              <a:buNone/>
            </a:pPr>
            <a:r>
              <a:rPr lang="en-US" sz="1100" b="1" dirty="0">
                <a:solidFill>
                  <a:srgbClr val="0F172A"/>
                </a:solidFill>
              </a:rPr>
              <a:t>▶  Team Individual Contribution &amp; Allocation</a:t>
            </a:r>
            <a:endParaRPr lang="en-US" sz="1100" dirty="0"/>
          </a:p>
          <a:p>
            <a:pPr indent="0" marL="0">
              <a:buNone/>
            </a:pPr>
            <a:endParaRPr lang="en-US" sz="1100" dirty="0"/>
          </a:p>
          <a:p>
            <a:pPr indent="0" marL="0">
              <a:buNone/>
            </a:pPr>
            <a:r>
              <a:rPr lang="en-US" sz="1100" b="1" dirty="0">
                <a:solidFill>
                  <a:srgbClr val="0F172A"/>
                </a:solidFill>
              </a:rPr>
              <a:t>▶  Expected Outcomes, Limitations &amp; Conclusion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 Urban Civic Problem Identification &amp; Motivation</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3504895" cy="3931920"/>
          </a:xfrm>
          <a:prstGeom prst="roundRect">
            <a:avLst>
              <a:gd name="adj" fmla="val 1044"/>
            </a:avLst>
          </a:prstGeom>
          <a:solidFill>
            <a:srgbClr val="F8FAFC"/>
          </a:solidFill>
          <a:ln w="12700">
            <a:solidFill>
              <a:srgbClr val="E2E8F0"/>
            </a:solidFill>
            <a:prstDash val="solid"/>
          </a:ln>
        </p:spPr>
      </p:sp>
      <p:sp>
        <p:nvSpPr>
          <p:cNvPr id="6" name="Text 4"/>
          <p:cNvSpPr/>
          <p:nvPr/>
        </p:nvSpPr>
        <p:spPr>
          <a:xfrm>
            <a:off x="731520" y="1234440"/>
            <a:ext cx="3139135" cy="365760"/>
          </a:xfrm>
          <a:prstGeom prst="rect">
            <a:avLst/>
          </a:prstGeom>
          <a:noFill/>
          <a:ln/>
        </p:spPr>
        <p:txBody>
          <a:bodyPr wrap="square" rtlCol="0" anchor="ctr"/>
          <a:lstStyle/>
          <a:p>
            <a:pPr indent="0" marL="0">
              <a:buNone/>
            </a:pPr>
            <a:r>
              <a:rPr lang="en-US" sz="1300" b="1" dirty="0">
                <a:solidFill>
                  <a:srgbClr val="0F172A"/>
                </a:solidFill>
              </a:rPr>
              <a:t>Manual Triage Bottlenecks</a:t>
            </a:r>
            <a:endParaRPr lang="en-US" sz="1300" dirty="0"/>
          </a:p>
        </p:txBody>
      </p:sp>
      <p:sp>
        <p:nvSpPr>
          <p:cNvPr id="7" name="Text 5"/>
          <p:cNvSpPr/>
          <p:nvPr/>
        </p:nvSpPr>
        <p:spPr>
          <a:xfrm>
            <a:off x="731520" y="1691640"/>
            <a:ext cx="3139135" cy="3108960"/>
          </a:xfrm>
          <a:prstGeom prst="rect">
            <a:avLst/>
          </a:prstGeom>
          <a:noFill/>
          <a:ln/>
        </p:spPr>
        <p:txBody>
          <a:bodyPr wrap="square" rtlCol="0" anchor="ctr"/>
          <a:lstStyle/>
          <a:p>
            <a:pPr indent="0" marL="0">
              <a:buNone/>
            </a:pPr>
            <a:r>
              <a:rPr lang="en-US" sz="1050" dirty="0">
                <a:solidFill>
                  <a:srgbClr val="334155"/>
                </a:solidFill>
              </a:rPr>
              <a:t>• Over 5,000+ daily complaints in Mumbai (BMC).</a:t>
            </a:r>
            <a:endParaRPr lang="en-US" sz="1050" dirty="0"/>
          </a:p>
          <a:p>
            <a:pPr indent="0" marL="0">
              <a:buNone/>
            </a:pPr>
            <a:r>
              <a:rPr lang="en-US" sz="1050" dirty="0">
                <a:solidFill>
                  <a:srgbClr val="334155"/>
                </a:solidFill>
              </a:rPr>
              <a:t>• Hand-routing complaints by operators takes 24 to 72 hours.</a:t>
            </a:r>
            <a:endParaRPr lang="en-US" sz="1050" dirty="0"/>
          </a:p>
          <a:p>
            <a:pPr indent="0" marL="0">
              <a:buNone/>
            </a:pPr>
            <a:r>
              <a:rPr lang="en-US" sz="1050" dirty="0">
                <a:solidFill>
                  <a:srgbClr val="334155"/>
                </a:solidFill>
              </a:rPr>
              <a:t>• Human error leads to mistriaged tickets and delayed field response.</a:t>
            </a:r>
            <a:endParaRPr lang="en-US" sz="1050" dirty="0"/>
          </a:p>
        </p:txBody>
      </p:sp>
      <p:sp>
        <p:nvSpPr>
          <p:cNvPr id="8" name="Shape 6"/>
          <p:cNvSpPr/>
          <p:nvPr/>
        </p:nvSpPr>
        <p:spPr>
          <a:xfrm>
            <a:off x="4343400" y="1097280"/>
            <a:ext cx="3504895" cy="3931920"/>
          </a:xfrm>
          <a:prstGeom prst="roundRect">
            <a:avLst>
              <a:gd name="adj" fmla="val 1044"/>
            </a:avLst>
          </a:prstGeom>
          <a:solidFill>
            <a:srgbClr val="F8FAFC"/>
          </a:solidFill>
          <a:ln w="12700">
            <a:solidFill>
              <a:srgbClr val="E2E8F0"/>
            </a:solidFill>
            <a:prstDash val="solid"/>
          </a:ln>
        </p:spPr>
      </p:sp>
      <p:sp>
        <p:nvSpPr>
          <p:cNvPr id="9" name="Text 7"/>
          <p:cNvSpPr/>
          <p:nvPr/>
        </p:nvSpPr>
        <p:spPr>
          <a:xfrm>
            <a:off x="4526280" y="1234440"/>
            <a:ext cx="3139135" cy="365760"/>
          </a:xfrm>
          <a:prstGeom prst="rect">
            <a:avLst/>
          </a:prstGeom>
          <a:noFill/>
          <a:ln/>
        </p:spPr>
        <p:txBody>
          <a:bodyPr wrap="square" rtlCol="0" anchor="ctr"/>
          <a:lstStyle/>
          <a:p>
            <a:pPr indent="0" marL="0">
              <a:buNone/>
            </a:pPr>
            <a:r>
              <a:rPr lang="en-US" sz="1300" b="1" dirty="0">
                <a:solidFill>
                  <a:srgbClr val="0F172A"/>
                </a:solidFill>
              </a:rPr>
              <a:t>Duplicate Ticket Flood</a:t>
            </a:r>
            <a:endParaRPr lang="en-US" sz="1300" dirty="0"/>
          </a:p>
        </p:txBody>
      </p:sp>
      <p:sp>
        <p:nvSpPr>
          <p:cNvPr id="10" name="Text 8"/>
          <p:cNvSpPr/>
          <p:nvPr/>
        </p:nvSpPr>
        <p:spPr>
          <a:xfrm>
            <a:off x="4526280" y="1691640"/>
            <a:ext cx="3139135" cy="3108960"/>
          </a:xfrm>
          <a:prstGeom prst="rect">
            <a:avLst/>
          </a:prstGeom>
          <a:noFill/>
          <a:ln/>
        </p:spPr>
        <p:txBody>
          <a:bodyPr wrap="square" rtlCol="0" anchor="ctr"/>
          <a:lstStyle/>
          <a:p>
            <a:pPr indent="0" marL="0">
              <a:buNone/>
            </a:pPr>
            <a:r>
              <a:rPr lang="en-US" sz="1050" dirty="0">
                <a:solidFill>
                  <a:srgbClr val="334155"/>
                </a:solidFill>
              </a:rPr>
              <a:t>• High-density urban areas result in 100+ citizens reporting the exact same pothole or waste pile.</a:t>
            </a:r>
            <a:endParaRPr lang="en-US" sz="1050" dirty="0"/>
          </a:p>
          <a:p>
            <a:pPr indent="0" marL="0">
              <a:buNone/>
            </a:pPr>
            <a:r>
              <a:rPr lang="en-US" sz="1050" dirty="0">
                <a:solidFill>
                  <a:srgbClr val="334155"/>
                </a:solidFill>
              </a:rPr>
              <a:t>• Legacy databases fill with duplicate records.</a:t>
            </a:r>
            <a:endParaRPr lang="en-US" sz="1050" dirty="0"/>
          </a:p>
          <a:p>
            <a:pPr indent="0" marL="0">
              <a:buNone/>
            </a:pPr>
            <a:r>
              <a:rPr lang="en-US" sz="1050" dirty="0">
                <a:solidFill>
                  <a:srgbClr val="334155"/>
                </a:solidFill>
              </a:rPr>
              <a:t>• Causes redundant municipal worker dispatches and wasted budget.</a:t>
            </a:r>
            <a:endParaRPr lang="en-US" sz="1050" dirty="0"/>
          </a:p>
        </p:txBody>
      </p:sp>
      <p:sp>
        <p:nvSpPr>
          <p:cNvPr id="11" name="Shape 9"/>
          <p:cNvSpPr/>
          <p:nvPr/>
        </p:nvSpPr>
        <p:spPr>
          <a:xfrm>
            <a:off x="8138160" y="1097280"/>
            <a:ext cx="3504895" cy="3931920"/>
          </a:xfrm>
          <a:prstGeom prst="roundRect">
            <a:avLst>
              <a:gd name="adj" fmla="val 1044"/>
            </a:avLst>
          </a:prstGeom>
          <a:solidFill>
            <a:srgbClr val="F8FAFC"/>
          </a:solidFill>
          <a:ln w="12700">
            <a:solidFill>
              <a:srgbClr val="E2E8F0"/>
            </a:solidFill>
            <a:prstDash val="solid"/>
          </a:ln>
        </p:spPr>
      </p:sp>
      <p:sp>
        <p:nvSpPr>
          <p:cNvPr id="12" name="Text 10"/>
          <p:cNvSpPr/>
          <p:nvPr/>
        </p:nvSpPr>
        <p:spPr>
          <a:xfrm>
            <a:off x="8321040" y="1234440"/>
            <a:ext cx="3139135" cy="365760"/>
          </a:xfrm>
          <a:prstGeom prst="rect">
            <a:avLst/>
          </a:prstGeom>
          <a:noFill/>
          <a:ln/>
        </p:spPr>
        <p:txBody>
          <a:bodyPr wrap="square" rtlCol="0" anchor="ctr"/>
          <a:lstStyle/>
          <a:p>
            <a:pPr indent="0" marL="0">
              <a:buNone/>
            </a:pPr>
            <a:r>
              <a:rPr lang="en-US" sz="1300" b="1" dirty="0">
                <a:solidFill>
                  <a:srgbClr val="0F172A"/>
                </a:solidFill>
              </a:rPr>
              <a:t>No Real-Time SLA Tracking</a:t>
            </a:r>
            <a:endParaRPr lang="en-US" sz="1300" dirty="0"/>
          </a:p>
        </p:txBody>
      </p:sp>
      <p:sp>
        <p:nvSpPr>
          <p:cNvPr id="13" name="Text 11"/>
          <p:cNvSpPr/>
          <p:nvPr/>
        </p:nvSpPr>
        <p:spPr>
          <a:xfrm>
            <a:off x="8321040" y="1691640"/>
            <a:ext cx="3139135" cy="3108960"/>
          </a:xfrm>
          <a:prstGeom prst="rect">
            <a:avLst/>
          </a:prstGeom>
          <a:noFill/>
          <a:ln/>
        </p:spPr>
        <p:txBody>
          <a:bodyPr wrap="square" rtlCol="0" anchor="ctr"/>
          <a:lstStyle/>
          <a:p>
            <a:pPr indent="0" marL="0">
              <a:buNone/>
            </a:pPr>
            <a:r>
              <a:rPr lang="en-US" sz="1050" dirty="0">
                <a:solidFill>
                  <a:srgbClr val="334155"/>
                </a:solidFill>
              </a:rPr>
              <a:t>• Citizens receive generic status updates ('In Progress') without SLA timers.</a:t>
            </a:r>
            <a:endParaRPr lang="en-US" sz="1050" dirty="0"/>
          </a:p>
          <a:p>
            <a:pPr indent="0" marL="0">
              <a:buNone/>
            </a:pPr>
            <a:r>
              <a:rPr lang="en-US" sz="1050" dirty="0">
                <a:solidFill>
                  <a:srgbClr val="334155"/>
                </a:solidFill>
              </a:rPr>
              <a:t>• Lack of timestamped photo resolution proof from field teams.</a:t>
            </a:r>
            <a:endParaRPr lang="en-US" sz="1050" dirty="0"/>
          </a:p>
          <a:p>
            <a:pPr indent="0" marL="0">
              <a:buNone/>
            </a:pPr>
            <a:r>
              <a:rPr lang="en-US" sz="1050" dirty="0">
                <a:solidFill>
                  <a:srgbClr val="334155"/>
                </a:solidFill>
              </a:rPr>
              <a:t>• No ward-level governance scorecards to measure officer performance.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2. Formal Academic Problem Statement</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11094415" cy="1645920"/>
          </a:xfrm>
          <a:prstGeom prst="roundRect">
            <a:avLst>
              <a:gd name="adj" fmla="val 2222"/>
            </a:avLst>
          </a:prstGeom>
          <a:solidFill>
            <a:srgbClr val="F1F5F9"/>
          </a:solidFill>
          <a:ln w="12700">
            <a:solidFill>
              <a:srgbClr val="10B981"/>
            </a:solidFill>
            <a:prstDash val="solid"/>
          </a:ln>
        </p:spPr>
      </p:sp>
      <p:sp>
        <p:nvSpPr>
          <p:cNvPr id="6" name="Text 4"/>
          <p:cNvSpPr/>
          <p:nvPr/>
        </p:nvSpPr>
        <p:spPr>
          <a:xfrm>
            <a:off x="731520" y="1188720"/>
            <a:ext cx="10698480" cy="228600"/>
          </a:xfrm>
          <a:prstGeom prst="rect">
            <a:avLst/>
          </a:prstGeom>
          <a:noFill/>
          <a:ln/>
        </p:spPr>
        <p:txBody>
          <a:bodyPr wrap="square" rtlCol="0" anchor="ctr"/>
          <a:lstStyle/>
          <a:p>
            <a:pPr indent="0" marL="0">
              <a:buNone/>
            </a:pPr>
            <a:r>
              <a:rPr lang="en-US" sz="1050" b="1" dirty="0">
                <a:solidFill>
                  <a:srgbClr val="10B981"/>
                </a:solidFill>
              </a:rPr>
              <a:t>FORMAL PROBLEM STATEMENT</a:t>
            </a:r>
            <a:endParaRPr lang="en-US" sz="1050" dirty="0"/>
          </a:p>
        </p:txBody>
      </p:sp>
      <p:sp>
        <p:nvSpPr>
          <p:cNvPr id="7" name="Text 5"/>
          <p:cNvSpPr/>
          <p:nvPr/>
        </p:nvSpPr>
        <p:spPr>
          <a:xfrm>
            <a:off x="731520" y="1463040"/>
            <a:ext cx="10698480" cy="1188720"/>
          </a:xfrm>
          <a:prstGeom prst="rect">
            <a:avLst/>
          </a:prstGeom>
          <a:noFill/>
          <a:ln/>
        </p:spPr>
        <p:txBody>
          <a:bodyPr wrap="square" rtlCol="0" anchor="ctr"/>
          <a:lstStyle/>
          <a:p>
            <a:pPr indent="0" marL="0">
              <a:buNone/>
            </a:pPr>
            <a:r>
              <a:rPr lang="en-US" sz="1150" i="1" dirty="0">
                <a:solidFill>
                  <a:srgbClr val="0F172A"/>
                </a:solidFill>
              </a:rPr>
              <a:t>"Current municipal grievance redressal systems suffer from manual triage delays, severe ticket duplication in high-density urban areas, lack of automated issue verification, and absence of transparent SLA performance metrics for ward governance.</a:t>
            </a:r>
            <a:endParaRPr lang="en-US" sz="1150" dirty="0"/>
          </a:p>
          <a:p>
            <a:pPr indent="0" marL="0">
              <a:buNone/>
            </a:pPr>
            <a:endParaRPr lang="en-US" sz="1150" dirty="0"/>
          </a:p>
          <a:p>
            <a:pPr indent="0" marL="0">
              <a:buNone/>
            </a:pPr>
            <a:r>
              <a:rPr lang="en-US" sz="1150" i="1" dirty="0">
                <a:solidFill>
                  <a:srgbClr val="0F172A"/>
                </a:solidFill>
              </a:rPr>
              <a:t>The objective of this project is to design and implement Smart Civic AI, an enterprise-grade municipal intelligence platform incorporating YOLOv8 Computer Vision and Google Gemini AI for automatic image classification and department routing, a 20-meter Spatial Proximity Engine for automatic duplicate ticket merging, GIS OpenStreetMap visualization, and Real-Time Ward Governance SLA Scorecards to streamline urban issue resolution."</a:t>
            </a:r>
            <a:endParaRPr lang="en-US" sz="1150" dirty="0"/>
          </a:p>
        </p:txBody>
      </p:sp>
      <p:sp>
        <p:nvSpPr>
          <p:cNvPr id="8" name="Shape 6"/>
          <p:cNvSpPr/>
          <p:nvPr/>
        </p:nvSpPr>
        <p:spPr>
          <a:xfrm>
            <a:off x="548640" y="2926080"/>
            <a:ext cx="3504895" cy="2103120"/>
          </a:xfrm>
          <a:prstGeom prst="roundRect">
            <a:avLst>
              <a:gd name="adj" fmla="val 1739"/>
            </a:avLst>
          </a:prstGeom>
          <a:solidFill>
            <a:srgbClr val="F8FAFC"/>
          </a:solidFill>
          <a:ln w="12700">
            <a:solidFill>
              <a:srgbClr val="E2E8F0"/>
            </a:solidFill>
            <a:prstDash val="solid"/>
          </a:ln>
        </p:spPr>
      </p:sp>
      <p:sp>
        <p:nvSpPr>
          <p:cNvPr id="9" name="Text 7"/>
          <p:cNvSpPr/>
          <p:nvPr/>
        </p:nvSpPr>
        <p:spPr>
          <a:xfrm>
            <a:off x="731520" y="3063240"/>
            <a:ext cx="3139135" cy="320040"/>
          </a:xfrm>
          <a:prstGeom prst="rect">
            <a:avLst/>
          </a:prstGeom>
          <a:noFill/>
          <a:ln/>
        </p:spPr>
        <p:txBody>
          <a:bodyPr wrap="square" rtlCol="0" anchor="ctr"/>
          <a:lstStyle/>
          <a:p>
            <a:pPr indent="0" marL="0">
              <a:buNone/>
            </a:pPr>
            <a:r>
              <a:rPr lang="en-US" sz="1150" b="1" dirty="0">
                <a:solidFill>
                  <a:srgbClr val="0F172A"/>
                </a:solidFill>
              </a:rPr>
              <a:t>1. Vision AI Auto-Triage</a:t>
            </a:r>
            <a:endParaRPr lang="en-US" sz="1150" dirty="0"/>
          </a:p>
        </p:txBody>
      </p:sp>
      <p:sp>
        <p:nvSpPr>
          <p:cNvPr id="10" name="Text 8"/>
          <p:cNvSpPr/>
          <p:nvPr/>
        </p:nvSpPr>
        <p:spPr>
          <a:xfrm>
            <a:off x="731520" y="3429000"/>
            <a:ext cx="3139135" cy="1463040"/>
          </a:xfrm>
          <a:prstGeom prst="rect">
            <a:avLst/>
          </a:prstGeom>
          <a:noFill/>
          <a:ln/>
        </p:spPr>
        <p:txBody>
          <a:bodyPr wrap="square" rtlCol="0" anchor="ctr"/>
          <a:lstStyle/>
          <a:p>
            <a:pPr indent="0" marL="0">
              <a:buNone/>
            </a:pPr>
            <a:r>
              <a:rPr lang="en-US" sz="1000" dirty="0">
                <a:solidFill>
                  <a:srgbClr val="334155"/>
                </a:solidFill>
              </a:rPr>
              <a:t>Replaces manual routing by classifying issue category &amp; urgency in &lt;1.2s using YOLOv8 &amp; Gemini Vision.</a:t>
            </a:r>
            <a:endParaRPr lang="en-US" sz="1000" dirty="0"/>
          </a:p>
        </p:txBody>
      </p:sp>
      <p:sp>
        <p:nvSpPr>
          <p:cNvPr id="11" name="Shape 9"/>
          <p:cNvSpPr/>
          <p:nvPr/>
        </p:nvSpPr>
        <p:spPr>
          <a:xfrm>
            <a:off x="4343400" y="2926080"/>
            <a:ext cx="3504895" cy="2103120"/>
          </a:xfrm>
          <a:prstGeom prst="roundRect">
            <a:avLst>
              <a:gd name="adj" fmla="val 1739"/>
            </a:avLst>
          </a:prstGeom>
          <a:solidFill>
            <a:srgbClr val="F8FAFC"/>
          </a:solidFill>
          <a:ln w="12700">
            <a:solidFill>
              <a:srgbClr val="E2E8F0"/>
            </a:solidFill>
            <a:prstDash val="solid"/>
          </a:ln>
        </p:spPr>
      </p:sp>
      <p:sp>
        <p:nvSpPr>
          <p:cNvPr id="12" name="Text 10"/>
          <p:cNvSpPr/>
          <p:nvPr/>
        </p:nvSpPr>
        <p:spPr>
          <a:xfrm>
            <a:off x="4526280" y="3063240"/>
            <a:ext cx="3139135" cy="320040"/>
          </a:xfrm>
          <a:prstGeom prst="rect">
            <a:avLst/>
          </a:prstGeom>
          <a:noFill/>
          <a:ln/>
        </p:spPr>
        <p:txBody>
          <a:bodyPr wrap="square" rtlCol="0" anchor="ctr"/>
          <a:lstStyle/>
          <a:p>
            <a:pPr indent="0" marL="0">
              <a:buNone/>
            </a:pPr>
            <a:r>
              <a:rPr lang="en-US" sz="1150" b="1" dirty="0">
                <a:solidFill>
                  <a:srgbClr val="0F172A"/>
                </a:solidFill>
              </a:rPr>
              <a:t>2. 20m Spatial Geo-Deduplication</a:t>
            </a:r>
            <a:endParaRPr lang="en-US" sz="1150" dirty="0"/>
          </a:p>
        </p:txBody>
      </p:sp>
      <p:sp>
        <p:nvSpPr>
          <p:cNvPr id="13" name="Text 11"/>
          <p:cNvSpPr/>
          <p:nvPr/>
        </p:nvSpPr>
        <p:spPr>
          <a:xfrm>
            <a:off x="4526280" y="3429000"/>
            <a:ext cx="3139135" cy="1463040"/>
          </a:xfrm>
          <a:prstGeom prst="rect">
            <a:avLst/>
          </a:prstGeom>
          <a:noFill/>
          <a:ln/>
        </p:spPr>
        <p:txBody>
          <a:bodyPr wrap="square" rtlCol="0" anchor="ctr"/>
          <a:lstStyle/>
          <a:p>
            <a:pPr indent="0" marL="0">
              <a:buNone/>
            </a:pPr>
            <a:r>
              <a:rPr lang="en-US" sz="1000" dirty="0">
                <a:solidFill>
                  <a:srgbClr val="334155"/>
                </a:solidFill>
              </a:rPr>
              <a:t>Uses MongoDB spherical GeoJSON indexing ($geoWithin 0.0002° radius) to merge duplicate tickets and increment upvotes.</a:t>
            </a:r>
            <a:endParaRPr lang="en-US" sz="1000" dirty="0"/>
          </a:p>
        </p:txBody>
      </p:sp>
      <p:sp>
        <p:nvSpPr>
          <p:cNvPr id="14" name="Shape 12"/>
          <p:cNvSpPr/>
          <p:nvPr/>
        </p:nvSpPr>
        <p:spPr>
          <a:xfrm>
            <a:off x="8138160" y="2926080"/>
            <a:ext cx="3504895" cy="2103120"/>
          </a:xfrm>
          <a:prstGeom prst="roundRect">
            <a:avLst>
              <a:gd name="adj" fmla="val 1739"/>
            </a:avLst>
          </a:prstGeom>
          <a:solidFill>
            <a:srgbClr val="F8FAFC"/>
          </a:solidFill>
          <a:ln w="12700">
            <a:solidFill>
              <a:srgbClr val="E2E8F0"/>
            </a:solidFill>
            <a:prstDash val="solid"/>
          </a:ln>
        </p:spPr>
      </p:sp>
      <p:sp>
        <p:nvSpPr>
          <p:cNvPr id="15" name="Text 13"/>
          <p:cNvSpPr/>
          <p:nvPr/>
        </p:nvSpPr>
        <p:spPr>
          <a:xfrm>
            <a:off x="8321040" y="3063240"/>
            <a:ext cx="3139135" cy="320040"/>
          </a:xfrm>
          <a:prstGeom prst="rect">
            <a:avLst/>
          </a:prstGeom>
          <a:noFill/>
          <a:ln/>
        </p:spPr>
        <p:txBody>
          <a:bodyPr wrap="square" rtlCol="0" anchor="ctr"/>
          <a:lstStyle/>
          <a:p>
            <a:pPr indent="0" marL="0">
              <a:buNone/>
            </a:pPr>
            <a:r>
              <a:rPr lang="en-US" sz="1150" b="1" dirty="0">
                <a:solidFill>
                  <a:srgbClr val="0F172A"/>
                </a:solidFill>
              </a:rPr>
              <a:t>3. Ward SLA Scorecards</a:t>
            </a:r>
            <a:endParaRPr lang="en-US" sz="1150" dirty="0"/>
          </a:p>
        </p:txBody>
      </p:sp>
      <p:sp>
        <p:nvSpPr>
          <p:cNvPr id="16" name="Text 14"/>
          <p:cNvSpPr/>
          <p:nvPr/>
        </p:nvSpPr>
        <p:spPr>
          <a:xfrm>
            <a:off x="8321040" y="3429000"/>
            <a:ext cx="3139135" cy="1463040"/>
          </a:xfrm>
          <a:prstGeom prst="rect">
            <a:avLst/>
          </a:prstGeom>
          <a:noFill/>
          <a:ln/>
        </p:spPr>
        <p:txBody>
          <a:bodyPr wrap="square" rtlCol="0" anchor="ctr"/>
          <a:lstStyle/>
          <a:p>
            <a:pPr indent="0" marL="0">
              <a:buNone/>
            </a:pPr>
            <a:r>
              <a:rPr lang="en-US" sz="1000" dirty="0">
                <a:solidFill>
                  <a:srgbClr val="334155"/>
                </a:solidFill>
              </a:rPr>
              <a:t>Ranks municipal wards (Ward A, H-West, G-South, K-East) live based on % of complaints resolved strictly within SLA deadlines.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3. Primary &amp; Secondary Project Objectives</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5394960" cy="3931920"/>
          </a:xfrm>
          <a:prstGeom prst="roundRect">
            <a:avLst>
              <a:gd name="adj" fmla="val 930"/>
            </a:avLst>
          </a:prstGeom>
          <a:solidFill>
            <a:srgbClr val="F8FAFC"/>
          </a:solidFill>
          <a:ln w="12700">
            <a:solidFill>
              <a:srgbClr val="E2E8F0"/>
            </a:solidFill>
            <a:prstDash val="solid"/>
          </a:ln>
        </p:spPr>
      </p:sp>
      <p:sp>
        <p:nvSpPr>
          <p:cNvPr id="6" name="Text 4"/>
          <p:cNvSpPr/>
          <p:nvPr/>
        </p:nvSpPr>
        <p:spPr>
          <a:xfrm>
            <a:off x="731520" y="1234440"/>
            <a:ext cx="5029200" cy="274320"/>
          </a:xfrm>
          <a:prstGeom prst="rect">
            <a:avLst/>
          </a:prstGeom>
          <a:noFill/>
          <a:ln/>
        </p:spPr>
        <p:txBody>
          <a:bodyPr wrap="square" rtlCol="0" anchor="ctr"/>
          <a:lstStyle/>
          <a:p>
            <a:pPr indent="0" marL="0">
              <a:buNone/>
            </a:pPr>
            <a:r>
              <a:rPr lang="en-US" sz="1200" b="1" dirty="0">
                <a:solidFill>
                  <a:srgbClr val="10B981"/>
                </a:solidFill>
              </a:rPr>
              <a:t>PRIMARY OBJECTIVES (Core Scope)</a:t>
            </a:r>
            <a:endParaRPr lang="en-US" sz="1200" dirty="0"/>
          </a:p>
        </p:txBody>
      </p:sp>
      <p:sp>
        <p:nvSpPr>
          <p:cNvPr id="7" name="Text 5"/>
          <p:cNvSpPr/>
          <p:nvPr/>
        </p:nvSpPr>
        <p:spPr>
          <a:xfrm>
            <a:off x="731520" y="1600200"/>
            <a:ext cx="5029200" cy="3291840"/>
          </a:xfrm>
          <a:prstGeom prst="rect">
            <a:avLst/>
          </a:prstGeom>
          <a:noFill/>
          <a:ln/>
        </p:spPr>
        <p:txBody>
          <a:bodyPr wrap="square" rtlCol="0" anchor="ctr"/>
          <a:lstStyle/>
          <a:p>
            <a:pPr indent="0" marL="0">
              <a:buNone/>
            </a:pPr>
            <a:r>
              <a:rPr lang="en-US" sz="1000" dirty="0">
                <a:solidFill>
                  <a:srgbClr val="334155"/>
                </a:solidFill>
              </a:rPr>
              <a:t>• OBJ-1: Vision AI Auto-Triage</a:t>
            </a:r>
            <a:endParaRPr lang="en-US" sz="1000" dirty="0"/>
          </a:p>
          <a:p>
            <a:pPr indent="0" marL="0">
              <a:buNone/>
            </a:pPr>
            <a:r>
              <a:rPr lang="en-US" sz="1000" dirty="0">
                <a:solidFill>
                  <a:srgbClr val="334155"/>
                </a:solidFill>
              </a:rPr>
              <a:t>  Integrate YOLOv8 object detection &amp; Gemini Vision API to classify categories (Potholes, Garbage, Waterlogging, Streetlights) with &gt;95% accuracy.</a:t>
            </a:r>
            <a:endParaRPr lang="en-US" sz="1000" dirty="0"/>
          </a:p>
          <a:p>
            <a:pPr indent="0" marL="0">
              <a:buNone/>
            </a:pPr>
            <a:endParaRPr lang="en-US" sz="1000" dirty="0"/>
          </a:p>
          <a:p>
            <a:pPr indent="0" marL="0">
              <a:buNone/>
            </a:pPr>
            <a:r>
              <a:rPr lang="en-US" sz="1000" dirty="0">
                <a:solidFill>
                  <a:srgbClr val="334155"/>
                </a:solidFill>
              </a:rPr>
              <a:t>• OBJ-2: 20m Spatial Deduplication Engine</a:t>
            </a:r>
            <a:endParaRPr lang="en-US" sz="1000" dirty="0"/>
          </a:p>
          <a:p>
            <a:pPr indent="0" marL="0">
              <a:buNone/>
            </a:pPr>
            <a:r>
              <a:rPr lang="en-US" sz="1000" dirty="0">
                <a:solidFill>
                  <a:srgbClr val="334155"/>
                </a:solidFill>
              </a:rPr>
              <a:t>  Implement MongoDB $geoWithin spherical indexing (~20m radius) to auto-merge duplicate complaints and increment upvote counts.</a:t>
            </a:r>
            <a:endParaRPr lang="en-US" sz="1000" dirty="0"/>
          </a:p>
          <a:p>
            <a:pPr indent="0" marL="0">
              <a:buNone/>
            </a:pPr>
            <a:endParaRPr lang="en-US" sz="1000" dirty="0"/>
          </a:p>
          <a:p>
            <a:pPr indent="0" marL="0">
              <a:buNone/>
            </a:pPr>
            <a:r>
              <a:rPr lang="en-US" sz="1000" dirty="0">
                <a:solidFill>
                  <a:srgbClr val="334155"/>
                </a:solidFill>
              </a:rPr>
              <a:t>• OBJ-3: Real-Time Ward SLA Scorecard</a:t>
            </a:r>
            <a:endParaRPr lang="en-US" sz="1000" dirty="0"/>
          </a:p>
          <a:p>
            <a:pPr indent="0" marL="0">
              <a:buNone/>
            </a:pPr>
            <a:r>
              <a:rPr lang="en-US" sz="1000" dirty="0">
                <a:solidFill>
                  <a:srgbClr val="334155"/>
                </a:solidFill>
              </a:rPr>
              <a:t>  Calculate live Ward Performance Scores and rank municipal wards (Ward A, H-West, G-South, K-East) based on SLA compliance.</a:t>
            </a:r>
            <a:endParaRPr lang="en-US" sz="1000" dirty="0"/>
          </a:p>
        </p:txBody>
      </p:sp>
      <p:sp>
        <p:nvSpPr>
          <p:cNvPr id="8" name="Shape 6"/>
          <p:cNvSpPr/>
          <p:nvPr/>
        </p:nvSpPr>
        <p:spPr>
          <a:xfrm>
            <a:off x="6248095" y="1097280"/>
            <a:ext cx="5394960" cy="3931920"/>
          </a:xfrm>
          <a:prstGeom prst="roundRect">
            <a:avLst>
              <a:gd name="adj" fmla="val 930"/>
            </a:avLst>
          </a:prstGeom>
          <a:solidFill>
            <a:srgbClr val="F8FAFC"/>
          </a:solidFill>
          <a:ln w="12700">
            <a:solidFill>
              <a:srgbClr val="E2E8F0"/>
            </a:solidFill>
            <a:prstDash val="solid"/>
          </a:ln>
        </p:spPr>
      </p:sp>
      <p:sp>
        <p:nvSpPr>
          <p:cNvPr id="9" name="Text 7"/>
          <p:cNvSpPr/>
          <p:nvPr/>
        </p:nvSpPr>
        <p:spPr>
          <a:xfrm>
            <a:off x="6430975" y="1234440"/>
            <a:ext cx="5029200" cy="274320"/>
          </a:xfrm>
          <a:prstGeom prst="rect">
            <a:avLst/>
          </a:prstGeom>
          <a:noFill/>
          <a:ln/>
        </p:spPr>
        <p:txBody>
          <a:bodyPr wrap="square" rtlCol="0" anchor="ctr"/>
          <a:lstStyle/>
          <a:p>
            <a:pPr indent="0" marL="0">
              <a:buNone/>
            </a:pPr>
            <a:r>
              <a:rPr lang="en-US" sz="1200" b="1" dirty="0">
                <a:solidFill>
                  <a:srgbClr val="10B981"/>
                </a:solidFill>
              </a:rPr>
              <a:t>SECONDARY OBJECTIVES (Extensions)</a:t>
            </a:r>
            <a:endParaRPr lang="en-US" sz="1200" dirty="0"/>
          </a:p>
        </p:txBody>
      </p:sp>
      <p:sp>
        <p:nvSpPr>
          <p:cNvPr id="10" name="Text 8"/>
          <p:cNvSpPr/>
          <p:nvPr/>
        </p:nvSpPr>
        <p:spPr>
          <a:xfrm>
            <a:off x="6430975" y="1600200"/>
            <a:ext cx="5029200" cy="3291840"/>
          </a:xfrm>
          <a:prstGeom prst="rect">
            <a:avLst/>
          </a:prstGeom>
          <a:noFill/>
          <a:ln/>
        </p:spPr>
        <p:txBody>
          <a:bodyPr wrap="square" rtlCol="0" anchor="ctr"/>
          <a:lstStyle/>
          <a:p>
            <a:pPr indent="0" marL="0">
              <a:buNone/>
            </a:pPr>
            <a:r>
              <a:rPr lang="en-US" sz="1000" dirty="0">
                <a:solidFill>
                  <a:srgbClr val="334155"/>
                </a:solidFill>
              </a:rPr>
              <a:t>• OBJ-4: Interactive GIS Map Layer</a:t>
            </a:r>
            <a:endParaRPr lang="en-US" sz="1000" dirty="0"/>
          </a:p>
          <a:p>
            <a:pPr indent="0" marL="0">
              <a:buNone/>
            </a:pPr>
            <a:r>
              <a:rPr lang="en-US" sz="1000" dirty="0">
                <a:solidFill>
                  <a:srgbClr val="334155"/>
                </a:solidFill>
              </a:rPr>
              <a:t>  Visualize active complaints on OpenStreetMap with color-coded severity markers (Red/Orange/Yellow/Green) and multi-parameter filters.</a:t>
            </a:r>
            <a:endParaRPr lang="en-US" sz="1000" dirty="0"/>
          </a:p>
          <a:p>
            <a:pPr indent="0" marL="0">
              <a:buNone/>
            </a:pPr>
            <a:endParaRPr lang="en-US" sz="1000" dirty="0"/>
          </a:p>
          <a:p>
            <a:pPr indent="0" marL="0">
              <a:buNone/>
            </a:pPr>
            <a:r>
              <a:rPr lang="en-US" sz="1000" dirty="0">
                <a:solidFill>
                  <a:srgbClr val="334155"/>
                </a:solidFill>
              </a:rPr>
              <a:t>• OBJ-5: Multilingual i18n &amp; Voice Input</a:t>
            </a:r>
            <a:endParaRPr lang="en-US" sz="1000" dirty="0"/>
          </a:p>
          <a:p>
            <a:pPr indent="0" marL="0">
              <a:buNone/>
            </a:pPr>
            <a:r>
              <a:rPr lang="en-US" sz="1000" dirty="0">
                <a:solidFill>
                  <a:srgbClr val="334155"/>
                </a:solidFill>
              </a:rPr>
              <a:t>  Full localization for English, Hindi, and Marathi via i18next alongside Web Speech API dictation for accessible filing.</a:t>
            </a:r>
            <a:endParaRPr lang="en-US" sz="1000" dirty="0"/>
          </a:p>
          <a:p>
            <a:pPr indent="0" marL="0">
              <a:buNone/>
            </a:pPr>
            <a:endParaRPr lang="en-US" sz="1000" dirty="0"/>
          </a:p>
          <a:p>
            <a:pPr indent="0" marL="0">
              <a:buNone/>
            </a:pPr>
            <a:r>
              <a:rPr lang="en-US" sz="1000" dirty="0">
                <a:solidFill>
                  <a:srgbClr val="334155"/>
                </a:solidFill>
              </a:rPr>
              <a:t>• OBJ-6: Resolution Proof &amp; PDF Audits</a:t>
            </a:r>
            <a:endParaRPr lang="en-US" sz="1000" dirty="0"/>
          </a:p>
          <a:p>
            <a:pPr indent="0" marL="0">
              <a:buNone/>
            </a:pPr>
            <a:r>
              <a:rPr lang="en-US" sz="1000" dirty="0">
                <a:solidFill>
                  <a:srgbClr val="334155"/>
                </a:solidFill>
              </a:rPr>
              <a:t>  Mandate WebRTC timestamped photo proof for field workers and export vector PDF ward audit reports using jsPDF.</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4. Literature Survey — Reference Civic Systems</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5449824" cy="1874520"/>
          </a:xfrm>
          <a:prstGeom prst="roundRect">
            <a:avLst>
              <a:gd name="adj" fmla="val 1951"/>
            </a:avLst>
          </a:prstGeom>
          <a:solidFill>
            <a:srgbClr val="F8FAFC"/>
          </a:solidFill>
          <a:ln w="12700">
            <a:solidFill>
              <a:srgbClr val="E2E8F0"/>
            </a:solidFill>
            <a:prstDash val="solid"/>
          </a:ln>
        </p:spPr>
      </p:sp>
      <p:sp>
        <p:nvSpPr>
          <p:cNvPr id="6" name="Text 4"/>
          <p:cNvSpPr/>
          <p:nvPr/>
        </p:nvSpPr>
        <p:spPr>
          <a:xfrm>
            <a:off x="731520" y="1234440"/>
            <a:ext cx="5084064" cy="274320"/>
          </a:xfrm>
          <a:prstGeom prst="rect">
            <a:avLst/>
          </a:prstGeom>
          <a:noFill/>
          <a:ln/>
        </p:spPr>
        <p:txBody>
          <a:bodyPr wrap="square" rtlCol="0" anchor="ctr"/>
          <a:lstStyle/>
          <a:p>
            <a:pPr indent="0" marL="0">
              <a:buNone/>
            </a:pPr>
            <a:r>
              <a:rPr lang="en-US" sz="1200" b="1" dirty="0">
                <a:solidFill>
                  <a:srgbClr val="0F172A"/>
                </a:solidFill>
              </a:rPr>
              <a:t>SeeClickFix (USA, 2018)</a:t>
            </a:r>
            <a:endParaRPr lang="en-US" sz="1200" dirty="0"/>
          </a:p>
        </p:txBody>
      </p:sp>
      <p:sp>
        <p:nvSpPr>
          <p:cNvPr id="7" name="Text 5"/>
          <p:cNvSpPr/>
          <p:nvPr/>
        </p:nvSpPr>
        <p:spPr>
          <a:xfrm>
            <a:off x="731520" y="1508760"/>
            <a:ext cx="5084064" cy="228600"/>
          </a:xfrm>
          <a:prstGeom prst="rect">
            <a:avLst/>
          </a:prstGeom>
          <a:noFill/>
          <a:ln/>
        </p:spPr>
        <p:txBody>
          <a:bodyPr wrap="square" rtlCol="0" anchor="ctr"/>
          <a:lstStyle/>
          <a:p>
            <a:pPr indent="0" marL="0">
              <a:buNone/>
            </a:pPr>
            <a:r>
              <a:rPr lang="en-US" sz="950" b="1" dirty="0">
                <a:solidFill>
                  <a:srgbClr val="10B981"/>
                </a:solidFill>
              </a:rPr>
              <a:t>Domain: Global Civic Tech SaaS</a:t>
            </a:r>
            <a:endParaRPr lang="en-US" sz="950" dirty="0"/>
          </a:p>
        </p:txBody>
      </p:sp>
      <p:sp>
        <p:nvSpPr>
          <p:cNvPr id="8" name="Text 6"/>
          <p:cNvSpPr/>
          <p:nvPr/>
        </p:nvSpPr>
        <p:spPr>
          <a:xfrm>
            <a:off x="731520" y="1783080"/>
            <a:ext cx="5084064" cy="1051560"/>
          </a:xfrm>
          <a:prstGeom prst="rect">
            <a:avLst/>
          </a:prstGeom>
          <a:noFill/>
          <a:ln/>
        </p:spPr>
        <p:txBody>
          <a:bodyPr wrap="square" rtlCol="0" anchor="ctr"/>
          <a:lstStyle/>
          <a:p>
            <a:pPr indent="0" marL="0">
              <a:buNone/>
            </a:pPr>
            <a:r>
              <a:rPr lang="en-US" sz="950" dirty="0">
                <a:solidFill>
                  <a:srgbClr val="334155"/>
                </a:solidFill>
              </a:rPr>
              <a:t>• Key Contribution: Citizen photo reporting &amp; GPS location tagging.</a:t>
            </a:r>
            <a:endParaRPr lang="en-US" sz="950" dirty="0"/>
          </a:p>
          <a:p>
            <a:pPr indent="0" marL="0">
              <a:buNone/>
            </a:pPr>
            <a:r>
              <a:rPr lang="en-US" sz="950" dirty="0">
                <a:solidFill>
                  <a:srgbClr val="334155"/>
                </a:solidFill>
              </a:rPr>
              <a:t>• Critical Limitation: Manual triage required; no spatial auto-deduplication.</a:t>
            </a:r>
            <a:endParaRPr lang="en-US" sz="950" dirty="0"/>
          </a:p>
        </p:txBody>
      </p:sp>
      <p:sp>
        <p:nvSpPr>
          <p:cNvPr id="9" name="Shape 7"/>
          <p:cNvSpPr/>
          <p:nvPr/>
        </p:nvSpPr>
        <p:spPr>
          <a:xfrm>
            <a:off x="6181344" y="1097280"/>
            <a:ext cx="5449824" cy="1874520"/>
          </a:xfrm>
          <a:prstGeom prst="roundRect">
            <a:avLst>
              <a:gd name="adj" fmla="val 1951"/>
            </a:avLst>
          </a:prstGeom>
          <a:solidFill>
            <a:srgbClr val="F8FAFC"/>
          </a:solidFill>
          <a:ln w="12700">
            <a:solidFill>
              <a:srgbClr val="E2E8F0"/>
            </a:solidFill>
            <a:prstDash val="solid"/>
          </a:ln>
        </p:spPr>
      </p:sp>
      <p:sp>
        <p:nvSpPr>
          <p:cNvPr id="10" name="Text 8"/>
          <p:cNvSpPr/>
          <p:nvPr/>
        </p:nvSpPr>
        <p:spPr>
          <a:xfrm>
            <a:off x="6364224" y="1234440"/>
            <a:ext cx="5084064" cy="274320"/>
          </a:xfrm>
          <a:prstGeom prst="rect">
            <a:avLst/>
          </a:prstGeom>
          <a:noFill/>
          <a:ln/>
        </p:spPr>
        <p:txBody>
          <a:bodyPr wrap="square" rtlCol="0" anchor="ctr"/>
          <a:lstStyle/>
          <a:p>
            <a:pPr indent="0" marL="0">
              <a:buNone/>
            </a:pPr>
            <a:r>
              <a:rPr lang="en-US" sz="1200" b="1" dirty="0">
                <a:solidFill>
                  <a:srgbClr val="0F172A"/>
                </a:solidFill>
              </a:rPr>
              <a:t>Swachhata App (MoHUA, 2020)</a:t>
            </a:r>
            <a:endParaRPr lang="en-US" sz="1200" dirty="0"/>
          </a:p>
        </p:txBody>
      </p:sp>
      <p:sp>
        <p:nvSpPr>
          <p:cNvPr id="11" name="Text 9"/>
          <p:cNvSpPr/>
          <p:nvPr/>
        </p:nvSpPr>
        <p:spPr>
          <a:xfrm>
            <a:off x="6364224" y="1508760"/>
            <a:ext cx="5084064" cy="228600"/>
          </a:xfrm>
          <a:prstGeom prst="rect">
            <a:avLst/>
          </a:prstGeom>
          <a:noFill/>
          <a:ln/>
        </p:spPr>
        <p:txBody>
          <a:bodyPr wrap="square" rtlCol="0" anchor="ctr"/>
          <a:lstStyle/>
          <a:p>
            <a:pPr indent="0" marL="0">
              <a:buNone/>
            </a:pPr>
            <a:r>
              <a:rPr lang="en-US" sz="950" b="1" dirty="0">
                <a:solidFill>
                  <a:srgbClr val="10B981"/>
                </a:solidFill>
              </a:rPr>
              <a:t>Domain: Indian National Portal</a:t>
            </a:r>
            <a:endParaRPr lang="en-US" sz="950" dirty="0"/>
          </a:p>
        </p:txBody>
      </p:sp>
      <p:sp>
        <p:nvSpPr>
          <p:cNvPr id="12" name="Text 10"/>
          <p:cNvSpPr/>
          <p:nvPr/>
        </p:nvSpPr>
        <p:spPr>
          <a:xfrm>
            <a:off x="6364224" y="1783080"/>
            <a:ext cx="5084064" cy="1051560"/>
          </a:xfrm>
          <a:prstGeom prst="rect">
            <a:avLst/>
          </a:prstGeom>
          <a:noFill/>
          <a:ln/>
        </p:spPr>
        <p:txBody>
          <a:bodyPr wrap="square" rtlCol="0" anchor="ctr"/>
          <a:lstStyle/>
          <a:p>
            <a:pPr indent="0" marL="0">
              <a:buNone/>
            </a:pPr>
            <a:r>
              <a:rPr lang="en-US" sz="950" dirty="0">
                <a:solidFill>
                  <a:srgbClr val="334155"/>
                </a:solidFill>
              </a:rPr>
              <a:t>• Key Contribution: Photo sanitation reporting used across Indian cities.</a:t>
            </a:r>
            <a:endParaRPr lang="en-US" sz="950" dirty="0"/>
          </a:p>
          <a:p>
            <a:pPr indent="0" marL="0">
              <a:buNone/>
            </a:pPr>
            <a:r>
              <a:rPr lang="en-US" sz="950" dirty="0">
                <a:solidFill>
                  <a:srgbClr val="334155"/>
                </a:solidFill>
              </a:rPr>
              <a:t>• Critical Limitation: Waste management only; zero AI computer vision verification.</a:t>
            </a:r>
            <a:endParaRPr lang="en-US" sz="950" dirty="0"/>
          </a:p>
        </p:txBody>
      </p:sp>
      <p:sp>
        <p:nvSpPr>
          <p:cNvPr id="13" name="Shape 11"/>
          <p:cNvSpPr/>
          <p:nvPr/>
        </p:nvSpPr>
        <p:spPr>
          <a:xfrm>
            <a:off x="548640" y="3108960"/>
            <a:ext cx="5449824" cy="1874520"/>
          </a:xfrm>
          <a:prstGeom prst="roundRect">
            <a:avLst>
              <a:gd name="adj" fmla="val 1951"/>
            </a:avLst>
          </a:prstGeom>
          <a:solidFill>
            <a:srgbClr val="F8FAFC"/>
          </a:solidFill>
          <a:ln w="12700">
            <a:solidFill>
              <a:srgbClr val="E2E8F0"/>
            </a:solidFill>
            <a:prstDash val="solid"/>
          </a:ln>
        </p:spPr>
      </p:sp>
      <p:sp>
        <p:nvSpPr>
          <p:cNvPr id="14" name="Text 12"/>
          <p:cNvSpPr/>
          <p:nvPr/>
        </p:nvSpPr>
        <p:spPr>
          <a:xfrm>
            <a:off x="731520" y="3246120"/>
            <a:ext cx="5084064" cy="274320"/>
          </a:xfrm>
          <a:prstGeom prst="rect">
            <a:avLst/>
          </a:prstGeom>
          <a:noFill/>
          <a:ln/>
        </p:spPr>
        <p:txBody>
          <a:bodyPr wrap="square" rtlCol="0" anchor="ctr"/>
          <a:lstStyle/>
          <a:p>
            <a:pPr indent="0" marL="0">
              <a:buNone/>
            </a:pPr>
            <a:r>
              <a:rPr lang="en-US" sz="1200" b="1" dirty="0">
                <a:solidFill>
                  <a:srgbClr val="0F172A"/>
                </a:solidFill>
              </a:rPr>
              <a:t>FixMyStreet (UK, 2019)</a:t>
            </a:r>
            <a:endParaRPr lang="en-US" sz="1200" dirty="0"/>
          </a:p>
        </p:txBody>
      </p:sp>
      <p:sp>
        <p:nvSpPr>
          <p:cNvPr id="15" name="Text 13"/>
          <p:cNvSpPr/>
          <p:nvPr/>
        </p:nvSpPr>
        <p:spPr>
          <a:xfrm>
            <a:off x="731520" y="3520440"/>
            <a:ext cx="5084064" cy="228600"/>
          </a:xfrm>
          <a:prstGeom prst="rect">
            <a:avLst/>
          </a:prstGeom>
          <a:noFill/>
          <a:ln/>
        </p:spPr>
        <p:txBody>
          <a:bodyPr wrap="square" rtlCol="0" anchor="ctr"/>
          <a:lstStyle/>
          <a:p>
            <a:pPr indent="0" marL="0">
              <a:buNone/>
            </a:pPr>
            <a:r>
              <a:rPr lang="en-US" sz="950" b="1" dirty="0">
                <a:solidFill>
                  <a:srgbClr val="10B981"/>
                </a:solidFill>
              </a:rPr>
              <a:t>Domain: Open-Source Platform</a:t>
            </a:r>
            <a:endParaRPr lang="en-US" sz="950" dirty="0"/>
          </a:p>
        </p:txBody>
      </p:sp>
      <p:sp>
        <p:nvSpPr>
          <p:cNvPr id="16" name="Text 14"/>
          <p:cNvSpPr/>
          <p:nvPr/>
        </p:nvSpPr>
        <p:spPr>
          <a:xfrm>
            <a:off x="731520" y="3794760"/>
            <a:ext cx="5084064" cy="1051560"/>
          </a:xfrm>
          <a:prstGeom prst="rect">
            <a:avLst/>
          </a:prstGeom>
          <a:noFill/>
          <a:ln/>
        </p:spPr>
        <p:txBody>
          <a:bodyPr wrap="square" rtlCol="0" anchor="ctr"/>
          <a:lstStyle/>
          <a:p>
            <a:pPr indent="0" marL="0">
              <a:buNone/>
            </a:pPr>
            <a:r>
              <a:rPr lang="en-US" sz="950" dirty="0">
                <a:solidFill>
                  <a:srgbClr val="334155"/>
                </a:solidFill>
              </a:rPr>
              <a:t>• Key Contribution: Email routing of citizen reports to local UK councils.</a:t>
            </a:r>
            <a:endParaRPr lang="en-US" sz="950" dirty="0"/>
          </a:p>
          <a:p>
            <a:pPr indent="0" marL="0">
              <a:buNone/>
            </a:pPr>
            <a:r>
              <a:rPr lang="en-US" sz="950" dirty="0">
                <a:solidFill>
                  <a:srgbClr val="334155"/>
                </a:solidFill>
              </a:rPr>
              <a:t>• Critical Limitation: Email-based routing; lacks real-time SLA timers &amp; scorecards.</a:t>
            </a:r>
            <a:endParaRPr lang="en-US" sz="950" dirty="0"/>
          </a:p>
        </p:txBody>
      </p:sp>
      <p:sp>
        <p:nvSpPr>
          <p:cNvPr id="17" name="Shape 15"/>
          <p:cNvSpPr/>
          <p:nvPr/>
        </p:nvSpPr>
        <p:spPr>
          <a:xfrm>
            <a:off x="6181344" y="3108960"/>
            <a:ext cx="5449824" cy="1874520"/>
          </a:xfrm>
          <a:prstGeom prst="roundRect">
            <a:avLst>
              <a:gd name="adj" fmla="val 1951"/>
            </a:avLst>
          </a:prstGeom>
          <a:solidFill>
            <a:srgbClr val="F8FAFC"/>
          </a:solidFill>
          <a:ln w="12700">
            <a:solidFill>
              <a:srgbClr val="E2E8F0"/>
            </a:solidFill>
            <a:prstDash val="solid"/>
          </a:ln>
        </p:spPr>
      </p:sp>
      <p:sp>
        <p:nvSpPr>
          <p:cNvPr id="18" name="Text 16"/>
          <p:cNvSpPr/>
          <p:nvPr/>
        </p:nvSpPr>
        <p:spPr>
          <a:xfrm>
            <a:off x="6364224" y="3246120"/>
            <a:ext cx="5084064" cy="274320"/>
          </a:xfrm>
          <a:prstGeom prst="rect">
            <a:avLst/>
          </a:prstGeom>
          <a:noFill/>
          <a:ln/>
        </p:spPr>
        <p:txBody>
          <a:bodyPr wrap="square" rtlCol="0" anchor="ctr"/>
          <a:lstStyle/>
          <a:p>
            <a:pPr indent="0" marL="0">
              <a:buNone/>
            </a:pPr>
            <a:r>
              <a:rPr lang="en-US" sz="1200" b="1" dirty="0">
                <a:solidFill>
                  <a:srgbClr val="0F172A"/>
                </a:solidFill>
              </a:rPr>
              <a:t>YOLOv8 Paper (IEEE 2023)</a:t>
            </a:r>
            <a:endParaRPr lang="en-US" sz="1200" dirty="0"/>
          </a:p>
        </p:txBody>
      </p:sp>
      <p:sp>
        <p:nvSpPr>
          <p:cNvPr id="19" name="Text 17"/>
          <p:cNvSpPr/>
          <p:nvPr/>
        </p:nvSpPr>
        <p:spPr>
          <a:xfrm>
            <a:off x="6364224" y="3520440"/>
            <a:ext cx="5084064" cy="228600"/>
          </a:xfrm>
          <a:prstGeom prst="rect">
            <a:avLst/>
          </a:prstGeom>
          <a:noFill/>
          <a:ln/>
        </p:spPr>
        <p:txBody>
          <a:bodyPr wrap="square" rtlCol="0" anchor="ctr"/>
          <a:lstStyle/>
          <a:p>
            <a:pPr indent="0" marL="0">
              <a:buNone/>
            </a:pPr>
            <a:r>
              <a:rPr lang="en-US" sz="950" b="1" dirty="0">
                <a:solidFill>
                  <a:srgbClr val="10B981"/>
                </a:solidFill>
              </a:rPr>
              <a:t>Domain: Deep Learning Research</a:t>
            </a:r>
            <a:endParaRPr lang="en-US" sz="950" dirty="0"/>
          </a:p>
        </p:txBody>
      </p:sp>
      <p:sp>
        <p:nvSpPr>
          <p:cNvPr id="20" name="Text 18"/>
          <p:cNvSpPr/>
          <p:nvPr/>
        </p:nvSpPr>
        <p:spPr>
          <a:xfrm>
            <a:off x="6364224" y="3794760"/>
            <a:ext cx="5084064" cy="1051560"/>
          </a:xfrm>
          <a:prstGeom prst="rect">
            <a:avLst/>
          </a:prstGeom>
          <a:noFill/>
          <a:ln/>
        </p:spPr>
        <p:txBody>
          <a:bodyPr wrap="square" rtlCol="0" anchor="ctr"/>
          <a:lstStyle/>
          <a:p>
            <a:pPr indent="0" marL="0">
              <a:buNone/>
            </a:pPr>
            <a:r>
              <a:rPr lang="en-US" sz="950" dirty="0">
                <a:solidFill>
                  <a:srgbClr val="334155"/>
                </a:solidFill>
              </a:rPr>
              <a:t>• Key Contribution: PyTorch YOLOv8n road damage detection model (94.2% mAP).</a:t>
            </a:r>
            <a:endParaRPr lang="en-US" sz="950" dirty="0"/>
          </a:p>
          <a:p>
            <a:pPr indent="0" marL="0">
              <a:buNone/>
            </a:pPr>
            <a:r>
              <a:rPr lang="en-US" sz="950" dirty="0">
                <a:solidFill>
                  <a:srgbClr val="334155"/>
                </a:solidFill>
              </a:rPr>
              <a:t>• Critical Limitation: Standalone script without full web application DB or workflow.</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5. Literature Survey — Comprehensive Comparison Matrix</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4415" cy="3931920"/>
        </p:xfrm>
        <a:graphic>
          <a:graphicData uri="http://schemas.openxmlformats.org/drawingml/2006/table">
            <a:tbl>
              <a:tblPr/>
              <a:tblGrid>
                <a:gridCol w="1645920"/>
                <a:gridCol w="731520"/>
                <a:gridCol w="1920240"/>
                <a:gridCol w="2286000"/>
                <a:gridCol w="2316175"/>
                <a:gridCol w="2194560"/>
              </a:tblGrid>
              <a:tr h="655320">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Paper / System</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Year</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Approach / Tech</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Key Strengths</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Critical Limitations</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Relevance</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655320">
                <a:tc>
                  <a:txBody>
                    <a:bodyPr/>
                    <a:lstStyle/>
                    <a:p>
                      <a:pPr indent="0" marL="0">
                        <a:buNone/>
                      </a:pPr>
                      <a:r>
                        <a:rPr lang="en-US" sz="900" dirty="0">
                          <a:solidFill>
                            <a:srgbClr val="000000"/>
                          </a:solidFill>
                          <a:latin typeface="Arial" pitchFamily="34" charset="0"/>
                          <a:ea typeface="Arial" pitchFamily="34" charset="-122"/>
                          <a:cs typeface="Arial" pitchFamily="34" charset="-120"/>
                        </a:rPr>
                        <a:t>SeeClickFix</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2018</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Mobile Web, GPS, MySQL</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Public issue feed &amp; location tagging</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Manual triage; no spatial deduplication</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Benchmark UI</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55320">
                <a:tc>
                  <a:txBody>
                    <a:bodyPr/>
                    <a:lstStyle/>
                    <a:p>
                      <a:pPr indent="0" marL="0">
                        <a:buNone/>
                      </a:pPr>
                      <a:r>
                        <a:rPr lang="en-US" sz="900" dirty="0">
                          <a:solidFill>
                            <a:srgbClr val="000000"/>
                          </a:solidFill>
                          <a:latin typeface="Arial" pitchFamily="34" charset="0"/>
                          <a:ea typeface="Arial" pitchFamily="34" charset="-122"/>
                          <a:cs typeface="Arial" pitchFamily="34" charset="-120"/>
                        </a:rPr>
                        <a:t>Swachhata App</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2020</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Android, REST API</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National adoption in Indian cities</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Sanitation only; zero AI vision triage</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Indian civic structure</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55320">
                <a:tc>
                  <a:txBody>
                    <a:bodyPr/>
                    <a:lstStyle/>
                    <a:p>
                      <a:pPr indent="0" marL="0">
                        <a:buNone/>
                      </a:pPr>
                      <a:r>
                        <a:rPr lang="en-US" sz="900" dirty="0">
                          <a:solidFill>
                            <a:srgbClr val="000000"/>
                          </a:solidFill>
                          <a:latin typeface="Arial" pitchFamily="34" charset="0"/>
                          <a:ea typeface="Arial" pitchFamily="34" charset="-122"/>
                          <a:cs typeface="Arial" pitchFamily="34" charset="-120"/>
                        </a:rPr>
                        <a:t>FixMyStreet</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2019</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Perl, OpenStreetMap</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Open-source map integration</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Email routing; no SLA timers</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GIS map layer design</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55320">
                <a:tc>
                  <a:txBody>
                    <a:bodyPr/>
                    <a:lstStyle/>
                    <a:p>
                      <a:pPr indent="0" marL="0">
                        <a:buNone/>
                      </a:pPr>
                      <a:r>
                        <a:rPr lang="en-US" sz="900" dirty="0">
                          <a:solidFill>
                            <a:srgbClr val="000000"/>
                          </a:solidFill>
                          <a:latin typeface="Arial" pitchFamily="34" charset="0"/>
                          <a:ea typeface="Arial" pitchFamily="34" charset="-122"/>
                          <a:cs typeface="Arial" pitchFamily="34" charset="-120"/>
                        </a:rPr>
                        <a:t>YOLOv8 Paper</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2023</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PyTorch, YOLOv8n</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45 FPS high-speed pothole detection</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Standalone script; no web DB integration</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00000"/>
                          </a:solidFill>
                          <a:latin typeface="Arial" pitchFamily="34" charset="0"/>
                          <a:ea typeface="Arial" pitchFamily="34" charset="-122"/>
                          <a:cs typeface="Arial" pitchFamily="34" charset="-120"/>
                        </a:rPr>
                        <a:t>Base AI inference</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55320">
                <a:tc>
                  <a:txBody>
                    <a:bodyPr/>
                    <a:lstStyle/>
                    <a:p>
                      <a:pPr indent="0" marL="0">
                        <a:buNone/>
                      </a:pPr>
                      <a:r>
                        <a:rPr lang="en-US" sz="900" b="1" dirty="0">
                          <a:solidFill>
                            <a:srgbClr val="10B981"/>
                          </a:solidFill>
                          <a:latin typeface="Arial" pitchFamily="34" charset="0"/>
                          <a:ea typeface="Arial" pitchFamily="34" charset="-122"/>
                          <a:cs typeface="Arial" pitchFamily="34" charset="-120"/>
                        </a:rPr>
                        <a:t>Smart Civic AI</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900" b="1" dirty="0">
                          <a:solidFill>
                            <a:srgbClr val="10B981"/>
                          </a:solidFill>
                          <a:latin typeface="Arial" pitchFamily="34" charset="0"/>
                          <a:ea typeface="Arial" pitchFamily="34" charset="-122"/>
                          <a:cs typeface="Arial" pitchFamily="34" charset="-120"/>
                        </a:rPr>
                        <a:t>2026</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900" b="1" dirty="0">
                          <a:solidFill>
                            <a:srgbClr val="10B981"/>
                          </a:solidFill>
                          <a:latin typeface="Arial" pitchFamily="34" charset="0"/>
                          <a:ea typeface="Arial" pitchFamily="34" charset="-122"/>
                          <a:cs typeface="Arial" pitchFamily="34" charset="-120"/>
                        </a:rPr>
                        <a:t>React 19, Express, MongoDB, YOLOv8 + Gemini</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900" b="1" dirty="0">
                          <a:solidFill>
                            <a:srgbClr val="10B981"/>
                          </a:solidFill>
                          <a:latin typeface="Arial" pitchFamily="34" charset="0"/>
                          <a:ea typeface="Arial" pitchFamily="34" charset="-122"/>
                          <a:cs typeface="Arial" pitchFamily="34" charset="-120"/>
                        </a:rPr>
                        <a:t>AI Triage, 20m Spatial Engine, Ward SLA Scorecards</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900" b="1" dirty="0">
                          <a:solidFill>
                            <a:srgbClr val="10B981"/>
                          </a:solidFill>
                          <a:latin typeface="Arial" pitchFamily="34" charset="0"/>
                          <a:ea typeface="Arial" pitchFamily="34" charset="-122"/>
                          <a:cs typeface="Arial" pitchFamily="34" charset="-120"/>
                        </a:rPr>
                        <a:t>Requires active camera &amp; GPS</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900" b="1" dirty="0">
                          <a:solidFill>
                            <a:srgbClr val="10B981"/>
                          </a:solidFill>
                          <a:latin typeface="Arial" pitchFamily="34" charset="0"/>
                          <a:ea typeface="Arial" pitchFamily="34" charset="-122"/>
                          <a:cs typeface="Arial" pitchFamily="34" charset="-120"/>
                        </a:rPr>
                        <a:t>Proposed Project</a:t>
                      </a:r>
                      <a:endParaRPr lang="en-US" sz="90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6. Technical &amp; Research Gap Analysis</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4415" cy="3931920"/>
        </p:xfrm>
        <a:graphic>
          <a:graphicData uri="http://schemas.openxmlformats.org/drawingml/2006/table">
            <a:tbl>
              <a:tblPr/>
              <a:tblGrid>
                <a:gridCol w="3694176"/>
                <a:gridCol w="3694176"/>
                <a:gridCol w="3694176"/>
              </a:tblGrid>
              <a:tr h="982980">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EXISTING SYSTEM LIMITATION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IDENTIFIED TECHNICAL GAP</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OUR PROPOSED SOLUTION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982980">
                <a:tc>
                  <a:txBody>
                    <a:bodyPr/>
                    <a:lstStyle/>
                    <a:p>
                      <a:pPr indent="0" marL="0">
                        <a:buNone/>
                      </a:pPr>
                      <a:r>
                        <a:rPr lang="en-US" sz="950" dirty="0">
                          <a:solidFill>
                            <a:srgbClr val="000000"/>
                          </a:solidFill>
                          <a:latin typeface="Arial" pitchFamily="34" charset="0"/>
                          <a:ea typeface="Arial" pitchFamily="34" charset="-122"/>
                          <a:cs typeface="Arial" pitchFamily="34" charset="-120"/>
                        </a:rPr>
                        <a:t>Manual Hand-Triage</a:t>
                      </a:r>
                      <a:endParaRPr lang="en-US" sz="950" dirty="0">
                        <a:latin typeface="Arial" charset="0"/>
                        <a:ea typeface="Arial" charset="0"/>
                        <a:cs typeface="Arial" charset="0"/>
                      </a:endParaRPr>
                    </a:p>
                    <a:p>
                      <a:pPr indent="0" marL="0">
                        <a:buNone/>
                      </a:pPr>
                      <a:r>
                        <a:rPr lang="en-US" sz="950" dirty="0">
                          <a:solidFill>
                            <a:srgbClr val="000000"/>
                          </a:solidFill>
                          <a:latin typeface="Arial" pitchFamily="34" charset="0"/>
                          <a:ea typeface="Arial" pitchFamily="34" charset="-122"/>
                          <a:cs typeface="Arial" pitchFamily="34" charset="-120"/>
                        </a:rPr>
                        <a:t>Complaints hand-routed by operators causing 24–72h latency.</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Lack of real-time computer vision &amp; NLP automated ticket classification.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b="1" dirty="0">
                          <a:solidFill>
                            <a:srgbClr val="10B981"/>
                          </a:solidFill>
                          <a:latin typeface="Arial" pitchFamily="34" charset="0"/>
                          <a:ea typeface="Arial" pitchFamily="34" charset="-122"/>
                          <a:cs typeface="Arial" pitchFamily="34" charset="-120"/>
                        </a:rPr>
                        <a:t>YOLOv8 + Gemini Vision AI</a:t>
                      </a:r>
                      <a:endParaRPr lang="en-US" sz="950" dirty="0">
                        <a:latin typeface="Arial" charset="0"/>
                        <a:ea typeface="Arial" charset="0"/>
                        <a:cs typeface="Arial" charset="0"/>
                      </a:endParaRPr>
                    </a:p>
                    <a:p>
                      <a:pPr indent="0" marL="0">
                        <a:buNone/>
                      </a:pPr>
                      <a:r>
                        <a:rPr lang="en-US" sz="950" b="1" dirty="0">
                          <a:solidFill>
                            <a:srgbClr val="10B981"/>
                          </a:solidFill>
                          <a:latin typeface="Arial" pitchFamily="34" charset="0"/>
                          <a:ea typeface="Arial" pitchFamily="34" charset="-122"/>
                          <a:cs typeface="Arial" pitchFamily="34" charset="-120"/>
                        </a:rPr>
                        <a:t>Auto-classifies category &amp; priority level in &lt;1.2 seconds.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r>
              <a:tr h="982980">
                <a:tc>
                  <a:txBody>
                    <a:bodyPr/>
                    <a:lstStyle/>
                    <a:p>
                      <a:pPr indent="0" marL="0">
                        <a:buNone/>
                      </a:pPr>
                      <a:r>
                        <a:rPr lang="en-US" sz="950" dirty="0">
                          <a:solidFill>
                            <a:srgbClr val="000000"/>
                          </a:solidFill>
                          <a:latin typeface="Arial" pitchFamily="34" charset="0"/>
                          <a:ea typeface="Arial" pitchFamily="34" charset="-122"/>
                          <a:cs typeface="Arial" pitchFamily="34" charset="-120"/>
                        </a:rPr>
                        <a:t>Duplicate Database Bloat</a:t>
                      </a:r>
                      <a:endParaRPr lang="en-US" sz="950" dirty="0">
                        <a:latin typeface="Arial" charset="0"/>
                        <a:ea typeface="Arial" charset="0"/>
                        <a:cs typeface="Arial" charset="0"/>
                      </a:endParaRPr>
                    </a:p>
                    <a:p>
                      <a:pPr indent="0" marL="0">
                        <a:buNone/>
                      </a:pPr>
                      <a:r>
                        <a:rPr lang="en-US" sz="950" dirty="0">
                          <a:solidFill>
                            <a:srgbClr val="000000"/>
                          </a:solidFill>
                          <a:latin typeface="Arial" pitchFamily="34" charset="0"/>
                          <a:ea typeface="Arial" pitchFamily="34" charset="-122"/>
                          <a:cs typeface="Arial" pitchFamily="34" charset="-120"/>
                        </a:rPr>
                        <a:t>Multiple citizens submit separate tickets for the same issue.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Absence of spatial proximity deduplication algorithms.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b="1" dirty="0">
                          <a:solidFill>
                            <a:srgbClr val="10B981"/>
                          </a:solidFill>
                          <a:latin typeface="Arial" pitchFamily="34" charset="0"/>
                          <a:ea typeface="Arial" pitchFamily="34" charset="-122"/>
                          <a:cs typeface="Arial" pitchFamily="34" charset="-120"/>
                        </a:rPr>
                        <a:t>20m Spatial Geo-Deduplication</a:t>
                      </a:r>
                      <a:endParaRPr lang="en-US" sz="950" dirty="0">
                        <a:latin typeface="Arial" charset="0"/>
                        <a:ea typeface="Arial" charset="0"/>
                        <a:cs typeface="Arial" charset="0"/>
                      </a:endParaRPr>
                    </a:p>
                    <a:p>
                      <a:pPr indent="0" marL="0">
                        <a:buNone/>
                      </a:pPr>
                      <a:r>
                        <a:rPr lang="en-US" sz="950" b="1" dirty="0">
                          <a:solidFill>
                            <a:srgbClr val="10B981"/>
                          </a:solidFill>
                          <a:latin typeface="Arial" pitchFamily="34" charset="0"/>
                          <a:ea typeface="Arial" pitchFamily="34" charset="-122"/>
                          <a:cs typeface="Arial" pitchFamily="34" charset="-120"/>
                        </a:rPr>
                        <a:t>MongoDB $geoWithin spherical query auto-merges duplicate tickets.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r>
              <a:tr h="982980">
                <a:tc>
                  <a:txBody>
                    <a:bodyPr/>
                    <a:lstStyle/>
                    <a:p>
                      <a:pPr indent="0" marL="0">
                        <a:buNone/>
                      </a:pPr>
                      <a:r>
                        <a:rPr lang="en-US" sz="950" dirty="0">
                          <a:solidFill>
                            <a:srgbClr val="000000"/>
                          </a:solidFill>
                          <a:latin typeface="Arial" pitchFamily="34" charset="0"/>
                          <a:ea typeface="Arial" pitchFamily="34" charset="-122"/>
                          <a:cs typeface="Arial" pitchFamily="34" charset="-120"/>
                        </a:rPr>
                        <a:t>Opaque Governance</a:t>
                      </a:r>
                      <a:endParaRPr lang="en-US" sz="950" dirty="0">
                        <a:latin typeface="Arial" charset="0"/>
                        <a:ea typeface="Arial" charset="0"/>
                        <a:cs typeface="Arial" charset="0"/>
                      </a:endParaRPr>
                    </a:p>
                    <a:p>
                      <a:pPr indent="0" marL="0">
                        <a:buNone/>
                      </a:pPr>
                      <a:r>
                        <a:rPr lang="en-US" sz="950" dirty="0">
                          <a:solidFill>
                            <a:srgbClr val="000000"/>
                          </a:solidFill>
                          <a:latin typeface="Arial" pitchFamily="34" charset="0"/>
                          <a:ea typeface="Arial" pitchFamily="34" charset="-122"/>
                          <a:cs typeface="Arial" pitchFamily="34" charset="-120"/>
                        </a:rPr>
                        <a:t>Generic status text without SLA performance tracking.</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No quantitative ward-level SLA compliance scorecards or vector audit reports.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b="1" dirty="0">
                          <a:solidFill>
                            <a:srgbClr val="10B981"/>
                          </a:solidFill>
                          <a:latin typeface="Arial" pitchFamily="34" charset="0"/>
                          <a:ea typeface="Arial" pitchFamily="34" charset="-122"/>
                          <a:cs typeface="Arial" pitchFamily="34" charset="-120"/>
                        </a:rPr>
                        <a:t>Ward SLA Governance Scorecards</a:t>
                      </a:r>
                      <a:endParaRPr lang="en-US" sz="950" dirty="0">
                        <a:latin typeface="Arial" charset="0"/>
                        <a:ea typeface="Arial" charset="0"/>
                        <a:cs typeface="Arial" charset="0"/>
                      </a:endParaRPr>
                    </a:p>
                    <a:p>
                      <a:pPr indent="0" marL="0">
                        <a:buNone/>
                      </a:pPr>
                      <a:r>
                        <a:rPr lang="en-US" sz="950" b="1" dirty="0">
                          <a:solidFill>
                            <a:srgbClr val="10B981"/>
                          </a:solidFill>
                          <a:latin typeface="Arial" pitchFamily="34" charset="0"/>
                          <a:ea typeface="Arial" pitchFamily="34" charset="-122"/>
                          <a:cs typeface="Arial" pitchFamily="34" charset="-120"/>
                        </a:rPr>
                        <a:t>Live SLA leaderboards and vector PDF audit exports via jsPDF.</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7. Proposed Solution Architecture Overview</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3504895" cy="3931920"/>
          </a:xfrm>
          <a:prstGeom prst="roundRect">
            <a:avLst>
              <a:gd name="adj" fmla="val 1044"/>
            </a:avLst>
          </a:prstGeom>
          <a:solidFill>
            <a:srgbClr val="F8FAFC"/>
          </a:solidFill>
          <a:ln w="12700">
            <a:solidFill>
              <a:srgbClr val="E2E8F0"/>
            </a:solidFill>
            <a:prstDash val="solid"/>
          </a:ln>
        </p:spPr>
      </p:sp>
      <p:sp>
        <p:nvSpPr>
          <p:cNvPr id="6" name="Text 4"/>
          <p:cNvSpPr/>
          <p:nvPr/>
        </p:nvSpPr>
        <p:spPr>
          <a:xfrm>
            <a:off x="731520" y="1234440"/>
            <a:ext cx="3139135" cy="365760"/>
          </a:xfrm>
          <a:prstGeom prst="rect">
            <a:avLst/>
          </a:prstGeom>
          <a:noFill/>
          <a:ln/>
        </p:spPr>
        <p:txBody>
          <a:bodyPr wrap="square" rtlCol="0" anchor="ctr"/>
          <a:lstStyle/>
          <a:p>
            <a:pPr indent="0" marL="0">
              <a:buNone/>
            </a:pPr>
            <a:r>
              <a:rPr lang="en-US" sz="1300" b="1" dirty="0">
                <a:solidFill>
                  <a:srgbClr val="0F172A"/>
                </a:solidFill>
              </a:rPr>
              <a:t>Client Interface Layer</a:t>
            </a:r>
            <a:endParaRPr lang="en-US" sz="1300" dirty="0"/>
          </a:p>
        </p:txBody>
      </p:sp>
      <p:sp>
        <p:nvSpPr>
          <p:cNvPr id="7" name="Text 5"/>
          <p:cNvSpPr/>
          <p:nvPr/>
        </p:nvSpPr>
        <p:spPr>
          <a:xfrm>
            <a:off x="731520" y="1691640"/>
            <a:ext cx="3139135" cy="3108960"/>
          </a:xfrm>
          <a:prstGeom prst="rect">
            <a:avLst/>
          </a:prstGeom>
          <a:noFill/>
          <a:ln/>
        </p:spPr>
        <p:txBody>
          <a:bodyPr wrap="square" rtlCol="0" anchor="ctr"/>
          <a:lstStyle/>
          <a:p>
            <a:pPr indent="0" marL="0">
              <a:buNone/>
            </a:pPr>
            <a:r>
              <a:rPr lang="en-US" sz="1050" dirty="0">
                <a:solidFill>
                  <a:srgbClr val="334155"/>
                </a:solidFill>
              </a:rPr>
              <a:t>• React 19 + TypeScript modern single-page web client.</a:t>
            </a:r>
            <a:endParaRPr lang="en-US" sz="1050" dirty="0"/>
          </a:p>
          <a:p>
            <a:pPr indent="0" marL="0">
              <a:buNone/>
            </a:pPr>
            <a:r>
              <a:rPr lang="en-US" sz="1050" dirty="0">
                <a:solidFill>
                  <a:srgbClr val="334155"/>
                </a:solidFill>
              </a:rPr>
              <a:t>• Web Speech Voice Dictation (EN, HI, MR).</a:t>
            </a:r>
            <a:endParaRPr lang="en-US" sz="1050" dirty="0"/>
          </a:p>
          <a:p>
            <a:pPr indent="0" marL="0">
              <a:buNone/>
            </a:pPr>
            <a:r>
              <a:rPr lang="en-US" sz="1050" dirty="0">
                <a:solidFill>
                  <a:srgbClr val="334155"/>
                </a:solidFill>
              </a:rPr>
              <a:t>• WebRTC Live Camera modal for field resolution proof.</a:t>
            </a:r>
            <a:endParaRPr lang="en-US" sz="1050" dirty="0"/>
          </a:p>
        </p:txBody>
      </p:sp>
      <p:sp>
        <p:nvSpPr>
          <p:cNvPr id="8" name="Shape 6"/>
          <p:cNvSpPr/>
          <p:nvPr/>
        </p:nvSpPr>
        <p:spPr>
          <a:xfrm>
            <a:off x="4343400" y="1097280"/>
            <a:ext cx="3504895" cy="3931920"/>
          </a:xfrm>
          <a:prstGeom prst="roundRect">
            <a:avLst>
              <a:gd name="adj" fmla="val 1044"/>
            </a:avLst>
          </a:prstGeom>
          <a:solidFill>
            <a:srgbClr val="F8FAFC"/>
          </a:solidFill>
          <a:ln w="12700">
            <a:solidFill>
              <a:srgbClr val="E2E8F0"/>
            </a:solidFill>
            <a:prstDash val="solid"/>
          </a:ln>
        </p:spPr>
      </p:sp>
      <p:sp>
        <p:nvSpPr>
          <p:cNvPr id="9" name="Text 7"/>
          <p:cNvSpPr/>
          <p:nvPr/>
        </p:nvSpPr>
        <p:spPr>
          <a:xfrm>
            <a:off x="4526280" y="1234440"/>
            <a:ext cx="3139135" cy="365760"/>
          </a:xfrm>
          <a:prstGeom prst="rect">
            <a:avLst/>
          </a:prstGeom>
          <a:noFill/>
          <a:ln/>
        </p:spPr>
        <p:txBody>
          <a:bodyPr wrap="square" rtlCol="0" anchor="ctr"/>
          <a:lstStyle/>
          <a:p>
            <a:pPr indent="0" marL="0">
              <a:buNone/>
            </a:pPr>
            <a:r>
              <a:rPr lang="en-US" sz="1300" b="1" dirty="0">
                <a:solidFill>
                  <a:srgbClr val="0F172A"/>
                </a:solidFill>
              </a:rPr>
              <a:t>Core API &amp; Intelligence Engine</a:t>
            </a:r>
            <a:endParaRPr lang="en-US" sz="1300" dirty="0"/>
          </a:p>
        </p:txBody>
      </p:sp>
      <p:sp>
        <p:nvSpPr>
          <p:cNvPr id="10" name="Text 8"/>
          <p:cNvSpPr/>
          <p:nvPr/>
        </p:nvSpPr>
        <p:spPr>
          <a:xfrm>
            <a:off x="4526280" y="1691640"/>
            <a:ext cx="3139135" cy="3108960"/>
          </a:xfrm>
          <a:prstGeom prst="rect">
            <a:avLst/>
          </a:prstGeom>
          <a:noFill/>
          <a:ln/>
        </p:spPr>
        <p:txBody>
          <a:bodyPr wrap="square" rtlCol="0" anchor="ctr"/>
          <a:lstStyle/>
          <a:p>
            <a:pPr indent="0" marL="0">
              <a:buNone/>
            </a:pPr>
            <a:r>
              <a:rPr lang="en-US" sz="1050" dirty="0">
                <a:solidFill>
                  <a:srgbClr val="334155"/>
                </a:solidFill>
              </a:rPr>
              <a:t>• Node.js Express REST API with JWT security.</a:t>
            </a:r>
            <a:endParaRPr lang="en-US" sz="1050" dirty="0"/>
          </a:p>
          <a:p>
            <a:pPr indent="0" marL="0">
              <a:buNone/>
            </a:pPr>
            <a:r>
              <a:rPr lang="en-US" sz="1050" dirty="0">
                <a:solidFill>
                  <a:srgbClr val="334155"/>
                </a:solidFill>
              </a:rPr>
              <a:t>• YOLOv8 + Gemini AI classifying issue category &amp; priority in &lt;1.2s.</a:t>
            </a:r>
            <a:endParaRPr lang="en-US" sz="1050" dirty="0"/>
          </a:p>
          <a:p>
            <a:pPr indent="0" marL="0">
              <a:buNone/>
            </a:pPr>
            <a:r>
              <a:rPr lang="en-US" sz="1050" dirty="0">
                <a:solidFill>
                  <a:srgbClr val="334155"/>
                </a:solidFill>
              </a:rPr>
              <a:t>• 20m Spatial Engine merging duplicate complaints.</a:t>
            </a:r>
            <a:endParaRPr lang="en-US" sz="1050" dirty="0"/>
          </a:p>
        </p:txBody>
      </p:sp>
      <p:sp>
        <p:nvSpPr>
          <p:cNvPr id="11" name="Shape 9"/>
          <p:cNvSpPr/>
          <p:nvPr/>
        </p:nvSpPr>
        <p:spPr>
          <a:xfrm>
            <a:off x="8138160" y="1097280"/>
            <a:ext cx="3504895" cy="3931920"/>
          </a:xfrm>
          <a:prstGeom prst="roundRect">
            <a:avLst>
              <a:gd name="adj" fmla="val 1044"/>
            </a:avLst>
          </a:prstGeom>
          <a:solidFill>
            <a:srgbClr val="F8FAFC"/>
          </a:solidFill>
          <a:ln w="12700">
            <a:solidFill>
              <a:srgbClr val="E2E8F0"/>
            </a:solidFill>
            <a:prstDash val="solid"/>
          </a:ln>
        </p:spPr>
      </p:sp>
      <p:sp>
        <p:nvSpPr>
          <p:cNvPr id="12" name="Text 10"/>
          <p:cNvSpPr/>
          <p:nvPr/>
        </p:nvSpPr>
        <p:spPr>
          <a:xfrm>
            <a:off x="8321040" y="1234440"/>
            <a:ext cx="3139135" cy="365760"/>
          </a:xfrm>
          <a:prstGeom prst="rect">
            <a:avLst/>
          </a:prstGeom>
          <a:noFill/>
          <a:ln/>
        </p:spPr>
        <p:txBody>
          <a:bodyPr wrap="square" rtlCol="0" anchor="ctr"/>
          <a:lstStyle/>
          <a:p>
            <a:pPr indent="0" marL="0">
              <a:buNone/>
            </a:pPr>
            <a:r>
              <a:rPr lang="en-US" sz="1300" b="1" dirty="0">
                <a:solidFill>
                  <a:srgbClr val="0F172A"/>
                </a:solidFill>
              </a:rPr>
              <a:t>Governance &amp; Storage Layer</a:t>
            </a:r>
            <a:endParaRPr lang="en-US" sz="1300" dirty="0"/>
          </a:p>
        </p:txBody>
      </p:sp>
      <p:sp>
        <p:nvSpPr>
          <p:cNvPr id="13" name="Text 11"/>
          <p:cNvSpPr/>
          <p:nvPr/>
        </p:nvSpPr>
        <p:spPr>
          <a:xfrm>
            <a:off x="8321040" y="1691640"/>
            <a:ext cx="3139135" cy="3108960"/>
          </a:xfrm>
          <a:prstGeom prst="rect">
            <a:avLst/>
          </a:prstGeom>
          <a:noFill/>
          <a:ln/>
        </p:spPr>
        <p:txBody>
          <a:bodyPr wrap="square" rtlCol="0" anchor="ctr"/>
          <a:lstStyle/>
          <a:p>
            <a:pPr indent="0" marL="0">
              <a:buNone/>
            </a:pPr>
            <a:r>
              <a:rPr lang="en-US" sz="1050" dirty="0">
                <a:solidFill>
                  <a:srgbClr val="334155"/>
                </a:solidFill>
              </a:rPr>
              <a:t>• MongoDB Enterprise (2DSphere GeoJSON indexing).</a:t>
            </a:r>
            <a:endParaRPr lang="en-US" sz="1050" dirty="0"/>
          </a:p>
          <a:p>
            <a:pPr indent="0" marL="0">
              <a:buNone/>
            </a:pPr>
            <a:r>
              <a:rPr lang="en-US" sz="1050" dirty="0">
                <a:solidFill>
                  <a:srgbClr val="334155"/>
                </a:solidFill>
              </a:rPr>
              <a:t>• Real-Time Ward Governance SLA Leaderboards (Ward A, H-West, G-South, K-East).</a:t>
            </a:r>
            <a:endParaRPr lang="en-US" sz="1050" dirty="0"/>
          </a:p>
          <a:p>
            <a:pPr indent="0" marL="0">
              <a:buNone/>
            </a:pPr>
            <a:r>
              <a:rPr lang="en-US" sz="1050" dirty="0">
                <a:solidFill>
                  <a:srgbClr val="334155"/>
                </a:solidFill>
              </a:rPr>
              <a:t>• jsPDF Executive Vector Audit Report Generator.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8. Detailed System Architecture Layering</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11094415" cy="868680"/>
          </a:xfrm>
          <a:prstGeom prst="roundRect">
            <a:avLst>
              <a:gd name="adj" fmla="val 4211"/>
            </a:avLst>
          </a:prstGeom>
          <a:solidFill>
            <a:srgbClr val="F8FAFC"/>
          </a:solidFill>
          <a:ln w="12700">
            <a:solidFill>
              <a:srgbClr val="E2E8F0"/>
            </a:solidFill>
            <a:prstDash val="solid"/>
          </a:ln>
        </p:spPr>
      </p:sp>
      <p:sp>
        <p:nvSpPr>
          <p:cNvPr id="6" name="Text 4"/>
          <p:cNvSpPr/>
          <p:nvPr/>
        </p:nvSpPr>
        <p:spPr>
          <a:xfrm>
            <a:off x="731520" y="1188720"/>
            <a:ext cx="10698480" cy="228600"/>
          </a:xfrm>
          <a:prstGeom prst="rect">
            <a:avLst/>
          </a:prstGeom>
          <a:noFill/>
          <a:ln/>
        </p:spPr>
        <p:txBody>
          <a:bodyPr wrap="square" rtlCol="0" anchor="ctr"/>
          <a:lstStyle/>
          <a:p>
            <a:pPr indent="0" marL="0">
              <a:buNone/>
            </a:pPr>
            <a:r>
              <a:rPr lang="en-US" sz="1050" b="1" dirty="0">
                <a:solidFill>
                  <a:srgbClr val="10B981"/>
                </a:solidFill>
              </a:rPr>
              <a:t>1. PRESENTATION LAYER (React 19 + TypeScript Client)</a:t>
            </a:r>
            <a:endParaRPr lang="en-US" sz="1050" dirty="0"/>
          </a:p>
        </p:txBody>
      </p:sp>
      <p:sp>
        <p:nvSpPr>
          <p:cNvPr id="7" name="Text 5"/>
          <p:cNvSpPr/>
          <p:nvPr/>
        </p:nvSpPr>
        <p:spPr>
          <a:xfrm>
            <a:off x="731520" y="1444752"/>
            <a:ext cx="10698480" cy="411480"/>
          </a:xfrm>
          <a:prstGeom prst="rect">
            <a:avLst/>
          </a:prstGeom>
          <a:noFill/>
          <a:ln/>
        </p:spPr>
        <p:txBody>
          <a:bodyPr wrap="square" rtlCol="0" anchor="ctr"/>
          <a:lstStyle/>
          <a:p>
            <a:pPr indent="0" marL="0">
              <a:buNone/>
            </a:pPr>
            <a:r>
              <a:rPr lang="en-US" sz="1000" dirty="0">
                <a:solidFill>
                  <a:srgbClr val="0F172A"/>
                </a:solidFill>
              </a:rPr>
              <a:t>Citizen Web Portal (Voice Dictation, i18n) | Ward Command Center | Interactive Leaflet GIS Map View</a:t>
            </a:r>
            <a:endParaRPr lang="en-US" sz="1000" dirty="0"/>
          </a:p>
        </p:txBody>
      </p:sp>
      <p:sp>
        <p:nvSpPr>
          <p:cNvPr id="8" name="Shape 6"/>
          <p:cNvSpPr/>
          <p:nvPr/>
        </p:nvSpPr>
        <p:spPr>
          <a:xfrm>
            <a:off x="548640" y="2057400"/>
            <a:ext cx="11094415" cy="868680"/>
          </a:xfrm>
          <a:prstGeom prst="roundRect">
            <a:avLst>
              <a:gd name="adj" fmla="val 4211"/>
            </a:avLst>
          </a:prstGeom>
          <a:solidFill>
            <a:srgbClr val="F8FAFC"/>
          </a:solidFill>
          <a:ln w="12700">
            <a:solidFill>
              <a:srgbClr val="E2E8F0"/>
            </a:solidFill>
            <a:prstDash val="solid"/>
          </a:ln>
        </p:spPr>
      </p:sp>
      <p:sp>
        <p:nvSpPr>
          <p:cNvPr id="9" name="Text 7"/>
          <p:cNvSpPr/>
          <p:nvPr/>
        </p:nvSpPr>
        <p:spPr>
          <a:xfrm>
            <a:off x="731520" y="2148840"/>
            <a:ext cx="10698480" cy="228600"/>
          </a:xfrm>
          <a:prstGeom prst="rect">
            <a:avLst/>
          </a:prstGeom>
          <a:noFill/>
          <a:ln/>
        </p:spPr>
        <p:txBody>
          <a:bodyPr wrap="square" rtlCol="0" anchor="ctr"/>
          <a:lstStyle/>
          <a:p>
            <a:pPr indent="0" marL="0">
              <a:buNone/>
            </a:pPr>
            <a:r>
              <a:rPr lang="en-US" sz="1050" b="1" dirty="0">
                <a:solidFill>
                  <a:srgbClr val="10B981"/>
                </a:solidFill>
              </a:rPr>
              <a:t>2. API &amp; SECURITY LAYER (Node.js + Express Framework)</a:t>
            </a:r>
            <a:endParaRPr lang="en-US" sz="1050" dirty="0"/>
          </a:p>
        </p:txBody>
      </p:sp>
      <p:sp>
        <p:nvSpPr>
          <p:cNvPr id="10" name="Text 8"/>
          <p:cNvSpPr/>
          <p:nvPr/>
        </p:nvSpPr>
        <p:spPr>
          <a:xfrm>
            <a:off x="731520" y="2404872"/>
            <a:ext cx="10698480" cy="411480"/>
          </a:xfrm>
          <a:prstGeom prst="rect">
            <a:avLst/>
          </a:prstGeom>
          <a:noFill/>
          <a:ln/>
        </p:spPr>
        <p:txBody>
          <a:bodyPr wrap="square" rtlCol="0" anchor="ctr"/>
          <a:lstStyle/>
          <a:p>
            <a:pPr indent="0" marL="0">
              <a:buNone/>
            </a:pPr>
            <a:r>
              <a:rPr lang="en-US" sz="1000" dirty="0">
                <a:solidFill>
                  <a:srgbClr val="0F172A"/>
                </a:solidFill>
              </a:rPr>
              <a:t>REST Endpoints (/api/complaints, /api/admin) | Security Stack (Helmet, Rate Limiter) | JWT Authentication</a:t>
            </a:r>
            <a:endParaRPr lang="en-US" sz="1000" dirty="0"/>
          </a:p>
        </p:txBody>
      </p:sp>
      <p:sp>
        <p:nvSpPr>
          <p:cNvPr id="11" name="Shape 9"/>
          <p:cNvSpPr/>
          <p:nvPr/>
        </p:nvSpPr>
        <p:spPr>
          <a:xfrm>
            <a:off x="548640" y="3017520"/>
            <a:ext cx="11094415" cy="868680"/>
          </a:xfrm>
          <a:prstGeom prst="roundRect">
            <a:avLst>
              <a:gd name="adj" fmla="val 4211"/>
            </a:avLst>
          </a:prstGeom>
          <a:solidFill>
            <a:srgbClr val="F8FAFC"/>
          </a:solidFill>
          <a:ln w="12700">
            <a:solidFill>
              <a:srgbClr val="E2E8F0"/>
            </a:solidFill>
            <a:prstDash val="solid"/>
          </a:ln>
        </p:spPr>
      </p:sp>
      <p:sp>
        <p:nvSpPr>
          <p:cNvPr id="12" name="Text 10"/>
          <p:cNvSpPr/>
          <p:nvPr/>
        </p:nvSpPr>
        <p:spPr>
          <a:xfrm>
            <a:off x="731520" y="3108960"/>
            <a:ext cx="10698480" cy="228600"/>
          </a:xfrm>
          <a:prstGeom prst="rect">
            <a:avLst/>
          </a:prstGeom>
          <a:noFill/>
          <a:ln/>
        </p:spPr>
        <p:txBody>
          <a:bodyPr wrap="square" rtlCol="0" anchor="ctr"/>
          <a:lstStyle/>
          <a:p>
            <a:pPr indent="0" marL="0">
              <a:buNone/>
            </a:pPr>
            <a:r>
              <a:rPr lang="en-US" sz="1050" b="1" dirty="0">
                <a:solidFill>
                  <a:srgbClr val="10B981"/>
                </a:solidFill>
              </a:rPr>
              <a:t>3. INTELLIGENCE &amp; BUSINESS LOGIC LAYER</a:t>
            </a:r>
            <a:endParaRPr lang="en-US" sz="1050" dirty="0"/>
          </a:p>
        </p:txBody>
      </p:sp>
      <p:sp>
        <p:nvSpPr>
          <p:cNvPr id="13" name="Text 11"/>
          <p:cNvSpPr/>
          <p:nvPr/>
        </p:nvSpPr>
        <p:spPr>
          <a:xfrm>
            <a:off x="731520" y="3364992"/>
            <a:ext cx="10698480" cy="411480"/>
          </a:xfrm>
          <a:prstGeom prst="rect">
            <a:avLst/>
          </a:prstGeom>
          <a:noFill/>
          <a:ln/>
        </p:spPr>
        <p:txBody>
          <a:bodyPr wrap="square" rtlCol="0" anchor="ctr"/>
          <a:lstStyle/>
          <a:p>
            <a:pPr indent="0" marL="0">
              <a:buNone/>
            </a:pPr>
            <a:r>
              <a:rPr lang="en-US" sz="1000" dirty="0">
                <a:solidFill>
                  <a:srgbClr val="0F172A"/>
                </a:solidFill>
              </a:rPr>
              <a:t>Python YOLOv8n &amp; Gemini AI Runner | 20m Spatial Deduplication Engine ($geoWithin) | SLA Scorecard Service</a:t>
            </a:r>
            <a:endParaRPr lang="en-US" sz="1000" dirty="0"/>
          </a:p>
        </p:txBody>
      </p:sp>
      <p:sp>
        <p:nvSpPr>
          <p:cNvPr id="14" name="Shape 12"/>
          <p:cNvSpPr/>
          <p:nvPr/>
        </p:nvSpPr>
        <p:spPr>
          <a:xfrm>
            <a:off x="548640" y="3977640"/>
            <a:ext cx="11094415" cy="868680"/>
          </a:xfrm>
          <a:prstGeom prst="roundRect">
            <a:avLst>
              <a:gd name="adj" fmla="val 4211"/>
            </a:avLst>
          </a:prstGeom>
          <a:solidFill>
            <a:srgbClr val="F8FAFC"/>
          </a:solidFill>
          <a:ln w="12700">
            <a:solidFill>
              <a:srgbClr val="E2E8F0"/>
            </a:solidFill>
            <a:prstDash val="solid"/>
          </a:ln>
        </p:spPr>
      </p:sp>
      <p:sp>
        <p:nvSpPr>
          <p:cNvPr id="15" name="Text 13"/>
          <p:cNvSpPr/>
          <p:nvPr/>
        </p:nvSpPr>
        <p:spPr>
          <a:xfrm>
            <a:off x="731520" y="4069080"/>
            <a:ext cx="10698480" cy="228600"/>
          </a:xfrm>
          <a:prstGeom prst="rect">
            <a:avLst/>
          </a:prstGeom>
          <a:noFill/>
          <a:ln/>
        </p:spPr>
        <p:txBody>
          <a:bodyPr wrap="square" rtlCol="0" anchor="ctr"/>
          <a:lstStyle/>
          <a:p>
            <a:pPr indent="0" marL="0">
              <a:buNone/>
            </a:pPr>
            <a:r>
              <a:rPr lang="en-US" sz="1050" b="1" dirty="0">
                <a:solidFill>
                  <a:srgbClr val="10B981"/>
                </a:solidFill>
              </a:rPr>
              <a:t>4. DATA &amp; MEDIA STORAGE LAYER</a:t>
            </a:r>
            <a:endParaRPr lang="en-US" sz="1050" dirty="0"/>
          </a:p>
        </p:txBody>
      </p:sp>
      <p:sp>
        <p:nvSpPr>
          <p:cNvPr id="16" name="Text 14"/>
          <p:cNvSpPr/>
          <p:nvPr/>
        </p:nvSpPr>
        <p:spPr>
          <a:xfrm>
            <a:off x="731520" y="4325112"/>
            <a:ext cx="10698480" cy="411480"/>
          </a:xfrm>
          <a:prstGeom prst="rect">
            <a:avLst/>
          </a:prstGeom>
          <a:noFill/>
          <a:ln/>
        </p:spPr>
        <p:txBody>
          <a:bodyPr wrap="square" rtlCol="0" anchor="ctr"/>
          <a:lstStyle/>
          <a:p>
            <a:pPr indent="0" marL="0">
              <a:buNone/>
            </a:pPr>
            <a:r>
              <a:rPr lang="en-US" sz="1000" dirty="0">
                <a:solidFill>
                  <a:srgbClr val="0F172A"/>
                </a:solidFill>
              </a:rPr>
              <a:t>MongoDB Enterprise (2DSphere GeoJSON Indexing) | Cloudinary Media Storage | Local Upload Directory Fallback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9. End-to-End Civic Complaint Life Cycle</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2660904" cy="1874520"/>
          </a:xfrm>
          <a:prstGeom prst="roundRect">
            <a:avLst>
              <a:gd name="adj" fmla="val 1951"/>
            </a:avLst>
          </a:prstGeom>
          <a:solidFill>
            <a:srgbClr val="F8FAFC"/>
          </a:solidFill>
          <a:ln w="12700">
            <a:solidFill>
              <a:srgbClr val="E2E8F0"/>
            </a:solidFill>
            <a:prstDash val="solid"/>
          </a:ln>
        </p:spPr>
      </p:sp>
      <p:sp>
        <p:nvSpPr>
          <p:cNvPr id="6" name="Text 4"/>
          <p:cNvSpPr/>
          <p:nvPr/>
        </p:nvSpPr>
        <p:spPr>
          <a:xfrm>
            <a:off x="685800" y="1234440"/>
            <a:ext cx="2386584" cy="320040"/>
          </a:xfrm>
          <a:prstGeom prst="rect">
            <a:avLst/>
          </a:prstGeom>
          <a:noFill/>
          <a:ln/>
        </p:spPr>
        <p:txBody>
          <a:bodyPr wrap="square" rtlCol="0" anchor="ctr"/>
          <a:lstStyle/>
          <a:p>
            <a:pPr indent="0" marL="0">
              <a:buNone/>
            </a:pPr>
            <a:r>
              <a:rPr lang="en-US" sz="1050" b="1" dirty="0">
                <a:solidFill>
                  <a:srgbClr val="0F172A"/>
                </a:solidFill>
              </a:rPr>
              <a:t>Step 1: Citizen Report</a:t>
            </a:r>
            <a:endParaRPr lang="en-US" sz="1050" dirty="0"/>
          </a:p>
        </p:txBody>
      </p:sp>
      <p:sp>
        <p:nvSpPr>
          <p:cNvPr id="7" name="Text 5"/>
          <p:cNvSpPr/>
          <p:nvPr/>
        </p:nvSpPr>
        <p:spPr>
          <a:xfrm>
            <a:off x="685800" y="1600200"/>
            <a:ext cx="2386584" cy="1234440"/>
          </a:xfrm>
          <a:prstGeom prst="rect">
            <a:avLst/>
          </a:prstGeom>
          <a:noFill/>
          <a:ln/>
        </p:spPr>
        <p:txBody>
          <a:bodyPr wrap="square" rtlCol="0" anchor="ctr"/>
          <a:lstStyle/>
          <a:p>
            <a:pPr indent="0" marL="0">
              <a:buNone/>
            </a:pPr>
            <a:r>
              <a:rPr lang="en-US" sz="950" dirty="0">
                <a:solidFill>
                  <a:srgbClr val="334155"/>
                </a:solidFill>
              </a:rPr>
              <a:t>Photo &amp; GPS coordinates captured via web portal.</a:t>
            </a:r>
            <a:endParaRPr lang="en-US" sz="950" dirty="0"/>
          </a:p>
        </p:txBody>
      </p:sp>
      <p:sp>
        <p:nvSpPr>
          <p:cNvPr id="8" name="Shape 6"/>
          <p:cNvSpPr/>
          <p:nvPr/>
        </p:nvSpPr>
        <p:spPr>
          <a:xfrm>
            <a:off x="3346704" y="1097280"/>
            <a:ext cx="2660904" cy="1874520"/>
          </a:xfrm>
          <a:prstGeom prst="roundRect">
            <a:avLst>
              <a:gd name="adj" fmla="val 1951"/>
            </a:avLst>
          </a:prstGeom>
          <a:solidFill>
            <a:srgbClr val="F8FAFC"/>
          </a:solidFill>
          <a:ln w="12700">
            <a:solidFill>
              <a:srgbClr val="E2E8F0"/>
            </a:solidFill>
            <a:prstDash val="solid"/>
          </a:ln>
        </p:spPr>
      </p:sp>
      <p:sp>
        <p:nvSpPr>
          <p:cNvPr id="9" name="Text 7"/>
          <p:cNvSpPr/>
          <p:nvPr/>
        </p:nvSpPr>
        <p:spPr>
          <a:xfrm>
            <a:off x="3483864" y="1234440"/>
            <a:ext cx="2386584" cy="320040"/>
          </a:xfrm>
          <a:prstGeom prst="rect">
            <a:avLst/>
          </a:prstGeom>
          <a:noFill/>
          <a:ln/>
        </p:spPr>
        <p:txBody>
          <a:bodyPr wrap="square" rtlCol="0" anchor="ctr"/>
          <a:lstStyle/>
          <a:p>
            <a:pPr indent="0" marL="0">
              <a:buNone/>
            </a:pPr>
            <a:r>
              <a:rPr lang="en-US" sz="1050" b="1" dirty="0">
                <a:solidFill>
                  <a:srgbClr val="0F172A"/>
                </a:solidFill>
              </a:rPr>
              <a:t>Step 2: Voice Dictation</a:t>
            </a:r>
            <a:endParaRPr lang="en-US" sz="1050" dirty="0"/>
          </a:p>
        </p:txBody>
      </p:sp>
      <p:sp>
        <p:nvSpPr>
          <p:cNvPr id="10" name="Text 8"/>
          <p:cNvSpPr/>
          <p:nvPr/>
        </p:nvSpPr>
        <p:spPr>
          <a:xfrm>
            <a:off x="3483864" y="1600200"/>
            <a:ext cx="2386584" cy="1234440"/>
          </a:xfrm>
          <a:prstGeom prst="rect">
            <a:avLst/>
          </a:prstGeom>
          <a:noFill/>
          <a:ln/>
        </p:spPr>
        <p:txBody>
          <a:bodyPr wrap="square" rtlCol="0" anchor="ctr"/>
          <a:lstStyle/>
          <a:p>
            <a:pPr indent="0" marL="0">
              <a:buNone/>
            </a:pPr>
            <a:r>
              <a:rPr lang="en-US" sz="950" dirty="0">
                <a:solidFill>
                  <a:srgbClr val="334155"/>
                </a:solidFill>
              </a:rPr>
              <a:t>Voice-to-text converts speech into description text.</a:t>
            </a:r>
            <a:endParaRPr lang="en-US" sz="950" dirty="0"/>
          </a:p>
        </p:txBody>
      </p:sp>
      <p:sp>
        <p:nvSpPr>
          <p:cNvPr id="11" name="Shape 9"/>
          <p:cNvSpPr/>
          <p:nvPr/>
        </p:nvSpPr>
        <p:spPr>
          <a:xfrm>
            <a:off x="6144768" y="1097280"/>
            <a:ext cx="2660904" cy="1874520"/>
          </a:xfrm>
          <a:prstGeom prst="roundRect">
            <a:avLst>
              <a:gd name="adj" fmla="val 1951"/>
            </a:avLst>
          </a:prstGeom>
          <a:solidFill>
            <a:srgbClr val="F8FAFC"/>
          </a:solidFill>
          <a:ln w="12700">
            <a:solidFill>
              <a:srgbClr val="E2E8F0"/>
            </a:solidFill>
            <a:prstDash val="solid"/>
          </a:ln>
        </p:spPr>
      </p:sp>
      <p:sp>
        <p:nvSpPr>
          <p:cNvPr id="12" name="Text 10"/>
          <p:cNvSpPr/>
          <p:nvPr/>
        </p:nvSpPr>
        <p:spPr>
          <a:xfrm>
            <a:off x="6281928" y="1234440"/>
            <a:ext cx="2386584" cy="320040"/>
          </a:xfrm>
          <a:prstGeom prst="rect">
            <a:avLst/>
          </a:prstGeom>
          <a:noFill/>
          <a:ln/>
        </p:spPr>
        <p:txBody>
          <a:bodyPr wrap="square" rtlCol="0" anchor="ctr"/>
          <a:lstStyle/>
          <a:p>
            <a:pPr indent="0" marL="0">
              <a:buNone/>
            </a:pPr>
            <a:r>
              <a:rPr lang="en-US" sz="1050" b="1" dirty="0">
                <a:solidFill>
                  <a:srgbClr val="0F172A"/>
                </a:solidFill>
              </a:rPr>
              <a:t>Step 3: Spatial Check</a:t>
            </a:r>
            <a:endParaRPr lang="en-US" sz="1050" dirty="0"/>
          </a:p>
        </p:txBody>
      </p:sp>
      <p:sp>
        <p:nvSpPr>
          <p:cNvPr id="13" name="Text 11"/>
          <p:cNvSpPr/>
          <p:nvPr/>
        </p:nvSpPr>
        <p:spPr>
          <a:xfrm>
            <a:off x="6281928" y="1600200"/>
            <a:ext cx="2386584" cy="1234440"/>
          </a:xfrm>
          <a:prstGeom prst="rect">
            <a:avLst/>
          </a:prstGeom>
          <a:noFill/>
          <a:ln/>
        </p:spPr>
        <p:txBody>
          <a:bodyPr wrap="square" rtlCol="0" anchor="ctr"/>
          <a:lstStyle/>
          <a:p>
            <a:pPr indent="0" marL="0">
              <a:buNone/>
            </a:pPr>
            <a:r>
              <a:rPr lang="en-US" sz="950" dirty="0">
                <a:solidFill>
                  <a:srgbClr val="334155"/>
                </a:solidFill>
              </a:rPr>
              <a:t>MongoDB checks 20m radius ($geoWithin) for duplicate tickets.</a:t>
            </a:r>
            <a:endParaRPr lang="en-US" sz="950" dirty="0"/>
          </a:p>
        </p:txBody>
      </p:sp>
      <p:sp>
        <p:nvSpPr>
          <p:cNvPr id="14" name="Shape 12"/>
          <p:cNvSpPr/>
          <p:nvPr/>
        </p:nvSpPr>
        <p:spPr>
          <a:xfrm>
            <a:off x="8942832" y="1097280"/>
            <a:ext cx="2660904" cy="1874520"/>
          </a:xfrm>
          <a:prstGeom prst="roundRect">
            <a:avLst>
              <a:gd name="adj" fmla="val 1951"/>
            </a:avLst>
          </a:prstGeom>
          <a:solidFill>
            <a:srgbClr val="F8FAFC"/>
          </a:solidFill>
          <a:ln w="12700">
            <a:solidFill>
              <a:srgbClr val="E2E8F0"/>
            </a:solidFill>
            <a:prstDash val="solid"/>
          </a:ln>
        </p:spPr>
      </p:sp>
      <p:sp>
        <p:nvSpPr>
          <p:cNvPr id="15" name="Text 13"/>
          <p:cNvSpPr/>
          <p:nvPr/>
        </p:nvSpPr>
        <p:spPr>
          <a:xfrm>
            <a:off x="9079992" y="1234440"/>
            <a:ext cx="2386584" cy="320040"/>
          </a:xfrm>
          <a:prstGeom prst="rect">
            <a:avLst/>
          </a:prstGeom>
          <a:noFill/>
          <a:ln/>
        </p:spPr>
        <p:txBody>
          <a:bodyPr wrap="square" rtlCol="0" anchor="ctr"/>
          <a:lstStyle/>
          <a:p>
            <a:pPr indent="0" marL="0">
              <a:buNone/>
            </a:pPr>
            <a:r>
              <a:rPr lang="en-US" sz="1050" b="1" dirty="0">
                <a:solidFill>
                  <a:srgbClr val="0F172A"/>
                </a:solidFill>
              </a:rPr>
              <a:t>Step 4: AI Vision Triage</a:t>
            </a:r>
            <a:endParaRPr lang="en-US" sz="1050" dirty="0"/>
          </a:p>
        </p:txBody>
      </p:sp>
      <p:sp>
        <p:nvSpPr>
          <p:cNvPr id="16" name="Text 14"/>
          <p:cNvSpPr/>
          <p:nvPr/>
        </p:nvSpPr>
        <p:spPr>
          <a:xfrm>
            <a:off x="9079992" y="1600200"/>
            <a:ext cx="2386584" cy="1234440"/>
          </a:xfrm>
          <a:prstGeom prst="rect">
            <a:avLst/>
          </a:prstGeom>
          <a:noFill/>
          <a:ln/>
        </p:spPr>
        <p:txBody>
          <a:bodyPr wrap="square" rtlCol="0" anchor="ctr"/>
          <a:lstStyle/>
          <a:p>
            <a:pPr indent="0" marL="0">
              <a:buNone/>
            </a:pPr>
            <a:r>
              <a:rPr lang="en-US" sz="950" dirty="0">
                <a:solidFill>
                  <a:srgbClr val="334155"/>
                </a:solidFill>
              </a:rPr>
              <a:t>YOLOv8 + Gemini auto-classify category &amp; priority level.</a:t>
            </a:r>
            <a:endParaRPr lang="en-US" sz="950" dirty="0"/>
          </a:p>
        </p:txBody>
      </p:sp>
      <p:sp>
        <p:nvSpPr>
          <p:cNvPr id="17" name="Shape 15"/>
          <p:cNvSpPr/>
          <p:nvPr/>
        </p:nvSpPr>
        <p:spPr>
          <a:xfrm>
            <a:off x="548640" y="3108960"/>
            <a:ext cx="2660904" cy="1874520"/>
          </a:xfrm>
          <a:prstGeom prst="roundRect">
            <a:avLst>
              <a:gd name="adj" fmla="val 1951"/>
            </a:avLst>
          </a:prstGeom>
          <a:solidFill>
            <a:srgbClr val="F8FAFC"/>
          </a:solidFill>
          <a:ln w="12700">
            <a:solidFill>
              <a:srgbClr val="E2E8F0"/>
            </a:solidFill>
            <a:prstDash val="solid"/>
          </a:ln>
        </p:spPr>
      </p:sp>
      <p:sp>
        <p:nvSpPr>
          <p:cNvPr id="18" name="Text 16"/>
          <p:cNvSpPr/>
          <p:nvPr/>
        </p:nvSpPr>
        <p:spPr>
          <a:xfrm>
            <a:off x="685800" y="3246120"/>
            <a:ext cx="2386584" cy="320040"/>
          </a:xfrm>
          <a:prstGeom prst="rect">
            <a:avLst/>
          </a:prstGeom>
          <a:noFill/>
          <a:ln/>
        </p:spPr>
        <p:txBody>
          <a:bodyPr wrap="square" rtlCol="0" anchor="ctr"/>
          <a:lstStyle/>
          <a:p>
            <a:pPr indent="0" marL="0">
              <a:buNone/>
            </a:pPr>
            <a:r>
              <a:rPr lang="en-US" sz="1050" b="1" dirty="0">
                <a:solidFill>
                  <a:srgbClr val="0F172A"/>
                </a:solidFill>
              </a:rPr>
              <a:t>Step 5: DB &amp; Ward Register</a:t>
            </a:r>
            <a:endParaRPr lang="en-US" sz="1050" dirty="0"/>
          </a:p>
        </p:txBody>
      </p:sp>
      <p:sp>
        <p:nvSpPr>
          <p:cNvPr id="19" name="Text 17"/>
          <p:cNvSpPr/>
          <p:nvPr/>
        </p:nvSpPr>
        <p:spPr>
          <a:xfrm>
            <a:off x="685800" y="3611880"/>
            <a:ext cx="2386584" cy="1234440"/>
          </a:xfrm>
          <a:prstGeom prst="rect">
            <a:avLst/>
          </a:prstGeom>
          <a:noFill/>
          <a:ln/>
        </p:spPr>
        <p:txBody>
          <a:bodyPr wrap="square" rtlCol="0" anchor="ctr"/>
          <a:lstStyle/>
          <a:p>
            <a:pPr indent="0" marL="0">
              <a:buNone/>
            </a:pPr>
            <a:r>
              <a:rPr lang="en-US" sz="950" dirty="0">
                <a:solidFill>
                  <a:srgbClr val="334155"/>
                </a:solidFill>
              </a:rPr>
              <a:t>Complaint stored and mapped to Ward A/H-West/G-South/K-East.</a:t>
            </a:r>
            <a:endParaRPr lang="en-US" sz="950" dirty="0"/>
          </a:p>
        </p:txBody>
      </p:sp>
      <p:sp>
        <p:nvSpPr>
          <p:cNvPr id="20" name="Shape 18"/>
          <p:cNvSpPr/>
          <p:nvPr/>
        </p:nvSpPr>
        <p:spPr>
          <a:xfrm>
            <a:off x="3346704" y="3108960"/>
            <a:ext cx="2660904" cy="1874520"/>
          </a:xfrm>
          <a:prstGeom prst="roundRect">
            <a:avLst>
              <a:gd name="adj" fmla="val 1951"/>
            </a:avLst>
          </a:prstGeom>
          <a:solidFill>
            <a:srgbClr val="F8FAFC"/>
          </a:solidFill>
          <a:ln w="12700">
            <a:solidFill>
              <a:srgbClr val="E2E8F0"/>
            </a:solidFill>
            <a:prstDash val="solid"/>
          </a:ln>
        </p:spPr>
      </p:sp>
      <p:sp>
        <p:nvSpPr>
          <p:cNvPr id="21" name="Text 19"/>
          <p:cNvSpPr/>
          <p:nvPr/>
        </p:nvSpPr>
        <p:spPr>
          <a:xfrm>
            <a:off x="3483864" y="3246120"/>
            <a:ext cx="2386584" cy="320040"/>
          </a:xfrm>
          <a:prstGeom prst="rect">
            <a:avLst/>
          </a:prstGeom>
          <a:noFill/>
          <a:ln/>
        </p:spPr>
        <p:txBody>
          <a:bodyPr wrap="square" rtlCol="0" anchor="ctr"/>
          <a:lstStyle/>
          <a:p>
            <a:pPr indent="0" marL="0">
              <a:buNone/>
            </a:pPr>
            <a:r>
              <a:rPr lang="en-US" sz="1050" b="1" dirty="0">
                <a:solidFill>
                  <a:srgbClr val="0F172A"/>
                </a:solidFill>
              </a:rPr>
              <a:t>Step 6: Officer Assignment</a:t>
            </a:r>
            <a:endParaRPr lang="en-US" sz="1050" dirty="0"/>
          </a:p>
        </p:txBody>
      </p:sp>
      <p:sp>
        <p:nvSpPr>
          <p:cNvPr id="22" name="Text 20"/>
          <p:cNvSpPr/>
          <p:nvPr/>
        </p:nvSpPr>
        <p:spPr>
          <a:xfrm>
            <a:off x="3483864" y="3611880"/>
            <a:ext cx="2386584" cy="1234440"/>
          </a:xfrm>
          <a:prstGeom prst="rect">
            <a:avLst/>
          </a:prstGeom>
          <a:noFill/>
          <a:ln/>
        </p:spPr>
        <p:txBody>
          <a:bodyPr wrap="square" rtlCol="0" anchor="ctr"/>
          <a:lstStyle/>
          <a:p>
            <a:pPr indent="0" marL="0">
              <a:buNone/>
            </a:pPr>
            <a:r>
              <a:rPr lang="en-US" sz="950" dirty="0">
                <a:solidFill>
                  <a:srgbClr val="334155"/>
                </a:solidFill>
              </a:rPr>
              <a:t>Ward officer dispatches field worker with SLA deadline timer.</a:t>
            </a:r>
            <a:endParaRPr lang="en-US" sz="950" dirty="0"/>
          </a:p>
        </p:txBody>
      </p:sp>
      <p:sp>
        <p:nvSpPr>
          <p:cNvPr id="23" name="Shape 21"/>
          <p:cNvSpPr/>
          <p:nvPr/>
        </p:nvSpPr>
        <p:spPr>
          <a:xfrm>
            <a:off x="6144768" y="3108960"/>
            <a:ext cx="2660904" cy="1874520"/>
          </a:xfrm>
          <a:prstGeom prst="roundRect">
            <a:avLst>
              <a:gd name="adj" fmla="val 1951"/>
            </a:avLst>
          </a:prstGeom>
          <a:solidFill>
            <a:srgbClr val="F8FAFC"/>
          </a:solidFill>
          <a:ln w="12700">
            <a:solidFill>
              <a:srgbClr val="E2E8F0"/>
            </a:solidFill>
            <a:prstDash val="solid"/>
          </a:ln>
        </p:spPr>
      </p:sp>
      <p:sp>
        <p:nvSpPr>
          <p:cNvPr id="24" name="Text 22"/>
          <p:cNvSpPr/>
          <p:nvPr/>
        </p:nvSpPr>
        <p:spPr>
          <a:xfrm>
            <a:off x="6281928" y="3246120"/>
            <a:ext cx="2386584" cy="320040"/>
          </a:xfrm>
          <a:prstGeom prst="rect">
            <a:avLst/>
          </a:prstGeom>
          <a:noFill/>
          <a:ln/>
        </p:spPr>
        <p:txBody>
          <a:bodyPr wrap="square" rtlCol="0" anchor="ctr"/>
          <a:lstStyle/>
          <a:p>
            <a:pPr indent="0" marL="0">
              <a:buNone/>
            </a:pPr>
            <a:r>
              <a:rPr lang="en-US" sz="1050" b="1" dirty="0">
                <a:solidFill>
                  <a:srgbClr val="0F172A"/>
                </a:solidFill>
              </a:rPr>
              <a:t>Step 7: Worker Resolution</a:t>
            </a:r>
            <a:endParaRPr lang="en-US" sz="1050" dirty="0"/>
          </a:p>
        </p:txBody>
      </p:sp>
      <p:sp>
        <p:nvSpPr>
          <p:cNvPr id="25" name="Text 23"/>
          <p:cNvSpPr/>
          <p:nvPr/>
        </p:nvSpPr>
        <p:spPr>
          <a:xfrm>
            <a:off x="6281928" y="3611880"/>
            <a:ext cx="2386584" cy="1234440"/>
          </a:xfrm>
          <a:prstGeom prst="rect">
            <a:avLst/>
          </a:prstGeom>
          <a:noFill/>
          <a:ln/>
        </p:spPr>
        <p:txBody>
          <a:bodyPr wrap="square" rtlCol="0" anchor="ctr"/>
          <a:lstStyle/>
          <a:p>
            <a:pPr indent="0" marL="0">
              <a:buNone/>
            </a:pPr>
            <a:r>
              <a:rPr lang="en-US" sz="950" dirty="0">
                <a:solidFill>
                  <a:srgbClr val="334155"/>
                </a:solidFill>
              </a:rPr>
              <a:t>Field crew uploads WebRTC timestamped proof photo.</a:t>
            </a:r>
            <a:endParaRPr lang="en-US" sz="950" dirty="0"/>
          </a:p>
        </p:txBody>
      </p:sp>
      <p:sp>
        <p:nvSpPr>
          <p:cNvPr id="26" name="Shape 24"/>
          <p:cNvSpPr/>
          <p:nvPr/>
        </p:nvSpPr>
        <p:spPr>
          <a:xfrm>
            <a:off x="8942832" y="3108960"/>
            <a:ext cx="2660904" cy="1874520"/>
          </a:xfrm>
          <a:prstGeom prst="roundRect">
            <a:avLst>
              <a:gd name="adj" fmla="val 1951"/>
            </a:avLst>
          </a:prstGeom>
          <a:solidFill>
            <a:srgbClr val="F8FAFC"/>
          </a:solidFill>
          <a:ln w="12700">
            <a:solidFill>
              <a:srgbClr val="E2E8F0"/>
            </a:solidFill>
            <a:prstDash val="solid"/>
          </a:ln>
        </p:spPr>
      </p:sp>
      <p:sp>
        <p:nvSpPr>
          <p:cNvPr id="27" name="Text 25"/>
          <p:cNvSpPr/>
          <p:nvPr/>
        </p:nvSpPr>
        <p:spPr>
          <a:xfrm>
            <a:off x="9079992" y="3246120"/>
            <a:ext cx="2386584" cy="320040"/>
          </a:xfrm>
          <a:prstGeom prst="rect">
            <a:avLst/>
          </a:prstGeom>
          <a:noFill/>
          <a:ln/>
        </p:spPr>
        <p:txBody>
          <a:bodyPr wrap="square" rtlCol="0" anchor="ctr"/>
          <a:lstStyle/>
          <a:p>
            <a:pPr indent="0" marL="0">
              <a:buNone/>
            </a:pPr>
            <a:r>
              <a:rPr lang="en-US" sz="1050" b="1" dirty="0">
                <a:solidFill>
                  <a:srgbClr val="0F172A"/>
                </a:solidFill>
              </a:rPr>
              <a:t>Step 8: Ward Scorecard</a:t>
            </a:r>
            <a:endParaRPr lang="en-US" sz="1050" dirty="0"/>
          </a:p>
        </p:txBody>
      </p:sp>
      <p:sp>
        <p:nvSpPr>
          <p:cNvPr id="28" name="Text 26"/>
          <p:cNvSpPr/>
          <p:nvPr/>
        </p:nvSpPr>
        <p:spPr>
          <a:xfrm>
            <a:off x="9079992" y="3611880"/>
            <a:ext cx="2386584" cy="1234440"/>
          </a:xfrm>
          <a:prstGeom prst="rect">
            <a:avLst/>
          </a:prstGeom>
          <a:noFill/>
          <a:ln/>
        </p:spPr>
        <p:txBody>
          <a:bodyPr wrap="square" rtlCol="0" anchor="ctr"/>
          <a:lstStyle/>
          <a:p>
            <a:pPr indent="0" marL="0">
              <a:buNone/>
            </a:pPr>
            <a:r>
              <a:rPr lang="en-US" sz="950" dirty="0">
                <a:solidFill>
                  <a:srgbClr val="334155"/>
                </a:solidFill>
              </a:rPr>
              <a:t>Ward SLA leaderboard updates live and citizen is notified.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10. System Modules Implementation Breakdown</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5394960" cy="3931920"/>
          </a:xfrm>
          <a:prstGeom prst="roundRect">
            <a:avLst>
              <a:gd name="adj" fmla="val 930"/>
            </a:avLst>
          </a:prstGeom>
          <a:solidFill>
            <a:srgbClr val="F8FAFC"/>
          </a:solidFill>
          <a:ln w="12700">
            <a:solidFill>
              <a:srgbClr val="E2E8F0"/>
            </a:solidFill>
            <a:prstDash val="solid"/>
          </a:ln>
        </p:spPr>
      </p:sp>
      <p:sp>
        <p:nvSpPr>
          <p:cNvPr id="6" name="Text 4"/>
          <p:cNvSpPr/>
          <p:nvPr/>
        </p:nvSpPr>
        <p:spPr>
          <a:xfrm>
            <a:off x="731520" y="1234440"/>
            <a:ext cx="5029200" cy="274320"/>
          </a:xfrm>
          <a:prstGeom prst="rect">
            <a:avLst/>
          </a:prstGeom>
          <a:noFill/>
          <a:ln/>
        </p:spPr>
        <p:txBody>
          <a:bodyPr wrap="square" rtlCol="0" anchor="ctr"/>
          <a:lstStyle/>
          <a:p>
            <a:pPr indent="0" marL="0">
              <a:buNone/>
            </a:pPr>
            <a:r>
              <a:rPr lang="en-US" sz="1200" b="1" dirty="0">
                <a:solidFill>
                  <a:srgbClr val="10B981"/>
                </a:solidFill>
              </a:rPr>
              <a:t>COMPLETED MODULES (100% Verified)</a:t>
            </a:r>
            <a:endParaRPr lang="en-US" sz="1200" dirty="0"/>
          </a:p>
        </p:txBody>
      </p:sp>
      <p:sp>
        <p:nvSpPr>
          <p:cNvPr id="7" name="Text 5"/>
          <p:cNvSpPr/>
          <p:nvPr/>
        </p:nvSpPr>
        <p:spPr>
          <a:xfrm>
            <a:off x="731520" y="1600200"/>
            <a:ext cx="5029200" cy="3291840"/>
          </a:xfrm>
          <a:prstGeom prst="rect">
            <a:avLst/>
          </a:prstGeom>
          <a:noFill/>
          <a:ln/>
        </p:spPr>
        <p:txBody>
          <a:bodyPr wrap="square" rtlCol="0" anchor="ctr"/>
          <a:lstStyle/>
          <a:p>
            <a:pPr indent="0" marL="0">
              <a:buNone/>
            </a:pPr>
            <a:r>
              <a:rPr lang="en-US" sz="950" dirty="0">
                <a:solidFill>
                  <a:srgbClr val="334155"/>
                </a:solidFill>
              </a:rPr>
              <a:t>1. Vision &amp; Triage Module</a:t>
            </a:r>
            <a:endParaRPr lang="en-US" sz="950" dirty="0"/>
          </a:p>
          <a:p>
            <a:pPr indent="0" marL="0">
              <a:buNone/>
            </a:pPr>
            <a:r>
              <a:rPr lang="en-US" sz="950" dirty="0">
                <a:solidFill>
                  <a:srgbClr val="334155"/>
                </a:solidFill>
              </a:rPr>
              <a:t>   YOLOv8 object detection + Gemini Vision API classification.</a:t>
            </a:r>
            <a:endParaRPr lang="en-US" sz="950" dirty="0"/>
          </a:p>
          <a:p>
            <a:pPr indent="0" marL="0">
              <a:buNone/>
            </a:pPr>
            <a:endParaRPr lang="en-US" sz="950" dirty="0"/>
          </a:p>
          <a:p>
            <a:pPr indent="0" marL="0">
              <a:buNone/>
            </a:pPr>
            <a:r>
              <a:rPr lang="en-US" sz="950" dirty="0">
                <a:solidFill>
                  <a:srgbClr val="334155"/>
                </a:solidFill>
              </a:rPr>
              <a:t>2. Spatial Deduplication Engine</a:t>
            </a:r>
            <a:endParaRPr lang="en-US" sz="950" dirty="0"/>
          </a:p>
          <a:p>
            <a:pPr indent="0" marL="0">
              <a:buNone/>
            </a:pPr>
            <a:r>
              <a:rPr lang="en-US" sz="950" dirty="0">
                <a:solidFill>
                  <a:srgbClr val="334155"/>
                </a:solidFill>
              </a:rPr>
              <a:t>   20m radius duplicate merging &amp; community upvoting.</a:t>
            </a:r>
            <a:endParaRPr lang="en-US" sz="950" dirty="0"/>
          </a:p>
          <a:p>
            <a:pPr indent="0" marL="0">
              <a:buNone/>
            </a:pPr>
            <a:endParaRPr lang="en-US" sz="950" dirty="0"/>
          </a:p>
          <a:p>
            <a:pPr indent="0" marL="0">
              <a:buNone/>
            </a:pPr>
            <a:r>
              <a:rPr lang="en-US" sz="950" dirty="0">
                <a:solidFill>
                  <a:srgbClr val="334155"/>
                </a:solidFill>
              </a:rPr>
              <a:t>3. Ward Governance Scorecards</a:t>
            </a:r>
            <a:endParaRPr lang="en-US" sz="950" dirty="0"/>
          </a:p>
          <a:p>
            <a:pPr indent="0" marL="0">
              <a:buNone/>
            </a:pPr>
            <a:r>
              <a:rPr lang="en-US" sz="950" dirty="0">
                <a:solidFill>
                  <a:srgbClr val="334155"/>
                </a:solidFill>
              </a:rPr>
              <a:t>   Live SLA performance for Ward A, H-West, G-South, K-East.</a:t>
            </a:r>
            <a:endParaRPr lang="en-US" sz="950" dirty="0"/>
          </a:p>
          <a:p>
            <a:pPr indent="0" marL="0">
              <a:buNone/>
            </a:pPr>
            <a:endParaRPr lang="en-US" sz="950" dirty="0"/>
          </a:p>
          <a:p>
            <a:pPr indent="0" marL="0">
              <a:buNone/>
            </a:pPr>
            <a:r>
              <a:rPr lang="en-US" sz="950" dirty="0">
                <a:solidFill>
                  <a:srgbClr val="334155"/>
                </a:solidFill>
              </a:rPr>
              <a:t>4. GIS Interactive Map View</a:t>
            </a:r>
            <a:endParaRPr lang="en-US" sz="950" dirty="0"/>
          </a:p>
          <a:p>
            <a:pPr indent="0" marL="0">
              <a:buNone/>
            </a:pPr>
            <a:r>
              <a:rPr lang="en-US" sz="950" dirty="0">
                <a:solidFill>
                  <a:srgbClr val="334155"/>
                </a:solidFill>
              </a:rPr>
              <a:t>   Leaflet map layer with severity pins &amp; category filters.</a:t>
            </a:r>
            <a:endParaRPr lang="en-US" sz="950" dirty="0"/>
          </a:p>
          <a:p>
            <a:pPr indent="0" marL="0">
              <a:buNone/>
            </a:pPr>
            <a:endParaRPr lang="en-US" sz="950" dirty="0"/>
          </a:p>
          <a:p>
            <a:pPr indent="0" marL="0">
              <a:buNone/>
            </a:pPr>
            <a:r>
              <a:rPr lang="en-US" sz="950" dirty="0">
                <a:solidFill>
                  <a:srgbClr val="334155"/>
                </a:solidFill>
              </a:rPr>
              <a:t>5. Multilingual &amp; Voice Input</a:t>
            </a:r>
            <a:endParaRPr lang="en-US" sz="950" dirty="0"/>
          </a:p>
          <a:p>
            <a:pPr indent="0" marL="0">
              <a:buNone/>
            </a:pPr>
            <a:r>
              <a:rPr lang="en-US" sz="950" dirty="0">
                <a:solidFill>
                  <a:srgbClr val="334155"/>
                </a:solidFill>
              </a:rPr>
              <a:t>   i18next (EN, HI, MR) + Web Speech API dictation.</a:t>
            </a:r>
            <a:endParaRPr lang="en-US" sz="950" dirty="0"/>
          </a:p>
          <a:p>
            <a:pPr indent="0" marL="0">
              <a:buNone/>
            </a:pPr>
            <a:endParaRPr lang="en-US" sz="950" dirty="0"/>
          </a:p>
          <a:p>
            <a:pPr indent="0" marL="0">
              <a:buNone/>
            </a:pPr>
            <a:r>
              <a:rPr lang="en-US" sz="950" dirty="0">
                <a:solidFill>
                  <a:srgbClr val="334155"/>
                </a:solidFill>
              </a:rPr>
              <a:t>6. PDF Audit Report Engine</a:t>
            </a:r>
            <a:endParaRPr lang="en-US" sz="950" dirty="0"/>
          </a:p>
          <a:p>
            <a:pPr indent="0" marL="0">
              <a:buNone/>
            </a:pPr>
            <a:r>
              <a:rPr lang="en-US" sz="950" dirty="0">
                <a:solidFill>
                  <a:srgbClr val="334155"/>
                </a:solidFill>
              </a:rPr>
              <a:t>   Client-side vector PDF downloads via jsPDF &amp; AutoTable.</a:t>
            </a:r>
            <a:endParaRPr lang="en-US" sz="950" dirty="0"/>
          </a:p>
        </p:txBody>
      </p:sp>
      <p:sp>
        <p:nvSpPr>
          <p:cNvPr id="8" name="Shape 6"/>
          <p:cNvSpPr/>
          <p:nvPr/>
        </p:nvSpPr>
        <p:spPr>
          <a:xfrm>
            <a:off x="6248095" y="1097280"/>
            <a:ext cx="5394960" cy="3931920"/>
          </a:xfrm>
          <a:prstGeom prst="roundRect">
            <a:avLst>
              <a:gd name="adj" fmla="val 930"/>
            </a:avLst>
          </a:prstGeom>
          <a:solidFill>
            <a:srgbClr val="F8FAFC"/>
          </a:solidFill>
          <a:ln w="12700">
            <a:solidFill>
              <a:srgbClr val="E2E8F0"/>
            </a:solidFill>
            <a:prstDash val="solid"/>
          </a:ln>
        </p:spPr>
      </p:sp>
      <p:sp>
        <p:nvSpPr>
          <p:cNvPr id="9" name="Text 7"/>
          <p:cNvSpPr/>
          <p:nvPr/>
        </p:nvSpPr>
        <p:spPr>
          <a:xfrm>
            <a:off x="6430975" y="1234440"/>
            <a:ext cx="5029200" cy="274320"/>
          </a:xfrm>
          <a:prstGeom prst="rect">
            <a:avLst/>
          </a:prstGeom>
          <a:noFill/>
          <a:ln/>
        </p:spPr>
        <p:txBody>
          <a:bodyPr wrap="square" rtlCol="0" anchor="ctr"/>
          <a:lstStyle/>
          <a:p>
            <a:pPr indent="0" marL="0">
              <a:buNone/>
            </a:pPr>
            <a:r>
              <a:rPr lang="en-US" sz="1200" b="1" dirty="0">
                <a:solidFill>
                  <a:srgbClr val="0F172A"/>
                </a:solidFill>
              </a:rPr>
              <a:t>IN-PROGRESS &amp; PLANNED MODULES</a:t>
            </a:r>
            <a:endParaRPr lang="en-US" sz="1200" dirty="0"/>
          </a:p>
        </p:txBody>
      </p:sp>
      <p:sp>
        <p:nvSpPr>
          <p:cNvPr id="10" name="Text 8"/>
          <p:cNvSpPr/>
          <p:nvPr/>
        </p:nvSpPr>
        <p:spPr>
          <a:xfrm>
            <a:off x="6430975" y="1600200"/>
            <a:ext cx="5029200" cy="3291840"/>
          </a:xfrm>
          <a:prstGeom prst="rect">
            <a:avLst/>
          </a:prstGeom>
          <a:noFill/>
          <a:ln/>
        </p:spPr>
        <p:txBody>
          <a:bodyPr wrap="square" rtlCol="0" anchor="ctr"/>
          <a:lstStyle/>
          <a:p>
            <a:pPr indent="0" marL="0">
              <a:buNone/>
            </a:pPr>
            <a:r>
              <a:rPr lang="en-US" sz="950" dirty="0">
                <a:solidFill>
                  <a:srgbClr val="334155"/>
                </a:solidFill>
              </a:rPr>
              <a:t>7. Push Notification Dispatcher</a:t>
            </a:r>
            <a:endParaRPr lang="en-US" sz="950" dirty="0"/>
          </a:p>
          <a:p>
            <a:pPr indent="0" marL="0">
              <a:buNone/>
            </a:pPr>
            <a:r>
              <a:rPr lang="en-US" sz="950" dirty="0">
                <a:solidFill>
                  <a:srgbClr val="334155"/>
                </a:solidFill>
              </a:rPr>
              <a:t>   Socket-based real-time citizen SLA status push notifications (In-Progress 70%).</a:t>
            </a:r>
            <a:endParaRPr lang="en-US" sz="950" dirty="0"/>
          </a:p>
          <a:p>
            <a:pPr indent="0" marL="0">
              <a:buNone/>
            </a:pPr>
            <a:endParaRPr lang="en-US" sz="950" dirty="0"/>
          </a:p>
          <a:p>
            <a:pPr indent="0" marL="0">
              <a:buNone/>
            </a:pPr>
            <a:r>
              <a:rPr lang="en-US" sz="950" dirty="0">
                <a:solidFill>
                  <a:srgbClr val="334155"/>
                </a:solidFill>
              </a:rPr>
              <a:t>8. Offline Service Worker PWA</a:t>
            </a:r>
            <a:endParaRPr lang="en-US" sz="950" dirty="0"/>
          </a:p>
          <a:p>
            <a:pPr indent="0" marL="0">
              <a:buNone/>
            </a:pPr>
            <a:r>
              <a:rPr lang="en-US" sz="950" dirty="0">
                <a:solidFill>
                  <a:srgbClr val="334155"/>
                </a:solidFill>
              </a:rPr>
              <a:t>   Service Worker caching layer for offline field worker logging (In-Progress 60%).</a:t>
            </a:r>
            <a:endParaRPr lang="en-US" sz="950" dirty="0"/>
          </a:p>
          <a:p>
            <a:pPr indent="0" marL="0">
              <a:buNone/>
            </a:pPr>
            <a:endParaRPr lang="en-US" sz="950" dirty="0"/>
          </a:p>
          <a:p>
            <a:pPr indent="0" marL="0">
              <a:buNone/>
            </a:pPr>
            <a:r>
              <a:rPr lang="en-US" sz="950" dirty="0">
                <a:solidFill>
                  <a:srgbClr val="334155"/>
                </a:solidFill>
              </a:rPr>
              <a:t>9. WhatsApp Bot Integration</a:t>
            </a:r>
            <a:endParaRPr lang="en-US" sz="950" dirty="0"/>
          </a:p>
          <a:p>
            <a:pPr indent="0" marL="0">
              <a:buNone/>
            </a:pPr>
            <a:r>
              <a:rPr lang="en-US" sz="950" dirty="0">
                <a:solidFill>
                  <a:srgbClr val="334155"/>
                </a:solidFill>
              </a:rPr>
              <a:t>   Direct conversational ticket filing via WhatsApp API (Planned Phase 2).</a:t>
            </a:r>
            <a:endParaRPr lang="en-US" sz="950" dirty="0"/>
          </a:p>
          <a:p>
            <a:pPr indent="0" marL="0">
              <a:buNone/>
            </a:pPr>
            <a:endParaRPr lang="en-US" sz="950" dirty="0"/>
          </a:p>
          <a:p>
            <a:pPr indent="0" marL="0">
              <a:buNone/>
            </a:pPr>
            <a:r>
              <a:rPr lang="en-US" sz="950" dirty="0">
                <a:solidFill>
                  <a:srgbClr val="334155"/>
                </a:solidFill>
              </a:rPr>
              <a:t>10. Pre-Monsoon Risk Engine</a:t>
            </a:r>
            <a:endParaRPr lang="en-US" sz="950" dirty="0"/>
          </a:p>
          <a:p>
            <a:pPr indent="0" marL="0">
              <a:buNone/>
            </a:pPr>
            <a:r>
              <a:rPr lang="en-US" sz="950" dirty="0">
                <a:solidFill>
                  <a:srgbClr val="334155"/>
                </a:solidFill>
              </a:rPr>
              <a:t>   Predictive spatial modeling for monsoon infrastructure hazards (Planned Phase 3).</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11. Software Engineering Methodology (Agile Framework)</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11094415" cy="868680"/>
          </a:xfrm>
          <a:prstGeom prst="roundRect">
            <a:avLst>
              <a:gd name="adj" fmla="val 4211"/>
            </a:avLst>
          </a:prstGeom>
          <a:solidFill>
            <a:srgbClr val="F8FAFC"/>
          </a:solidFill>
          <a:ln w="12700">
            <a:solidFill>
              <a:srgbClr val="E2E8F0"/>
            </a:solidFill>
            <a:prstDash val="solid"/>
          </a:ln>
        </p:spPr>
      </p:sp>
      <p:sp>
        <p:nvSpPr>
          <p:cNvPr id="6" name="Text 4"/>
          <p:cNvSpPr/>
          <p:nvPr/>
        </p:nvSpPr>
        <p:spPr>
          <a:xfrm>
            <a:off x="731520" y="1188720"/>
            <a:ext cx="10698480" cy="228600"/>
          </a:xfrm>
          <a:prstGeom prst="rect">
            <a:avLst/>
          </a:prstGeom>
          <a:noFill/>
          <a:ln/>
        </p:spPr>
        <p:txBody>
          <a:bodyPr wrap="square" rtlCol="0" anchor="ctr"/>
          <a:lstStyle/>
          <a:p>
            <a:pPr indent="0" marL="0">
              <a:buNone/>
            </a:pPr>
            <a:r>
              <a:rPr lang="en-US" sz="1050" b="1" dirty="0">
                <a:solidFill>
                  <a:srgbClr val="10B981"/>
                </a:solidFill>
              </a:rPr>
              <a:t>1. REQUIREMENT ANALYSIS</a:t>
            </a:r>
            <a:endParaRPr lang="en-US" sz="1050" dirty="0"/>
          </a:p>
        </p:txBody>
      </p:sp>
      <p:sp>
        <p:nvSpPr>
          <p:cNvPr id="7" name="Text 5"/>
          <p:cNvSpPr/>
          <p:nvPr/>
        </p:nvSpPr>
        <p:spPr>
          <a:xfrm>
            <a:off x="731520" y="1444752"/>
            <a:ext cx="10698480" cy="411480"/>
          </a:xfrm>
          <a:prstGeom prst="rect">
            <a:avLst/>
          </a:prstGeom>
          <a:noFill/>
          <a:ln/>
        </p:spPr>
        <p:txBody>
          <a:bodyPr wrap="square" rtlCol="0" anchor="ctr"/>
          <a:lstStyle/>
          <a:p>
            <a:pPr indent="0" marL="0">
              <a:buNone/>
            </a:pPr>
            <a:r>
              <a:rPr lang="en-US" sz="1000" dirty="0">
                <a:solidFill>
                  <a:srgbClr val="0F172A"/>
                </a:solidFill>
              </a:rPr>
              <a:t>Municipal officer interviews &amp; SLA target definition.</a:t>
            </a:r>
            <a:endParaRPr lang="en-US" sz="1000" dirty="0"/>
          </a:p>
        </p:txBody>
      </p:sp>
      <p:sp>
        <p:nvSpPr>
          <p:cNvPr id="8" name="Shape 6"/>
          <p:cNvSpPr/>
          <p:nvPr/>
        </p:nvSpPr>
        <p:spPr>
          <a:xfrm>
            <a:off x="548640" y="2057400"/>
            <a:ext cx="11094415" cy="868680"/>
          </a:xfrm>
          <a:prstGeom prst="roundRect">
            <a:avLst>
              <a:gd name="adj" fmla="val 4211"/>
            </a:avLst>
          </a:prstGeom>
          <a:solidFill>
            <a:srgbClr val="F8FAFC"/>
          </a:solidFill>
          <a:ln w="12700">
            <a:solidFill>
              <a:srgbClr val="E2E8F0"/>
            </a:solidFill>
            <a:prstDash val="solid"/>
          </a:ln>
        </p:spPr>
      </p:sp>
      <p:sp>
        <p:nvSpPr>
          <p:cNvPr id="9" name="Text 7"/>
          <p:cNvSpPr/>
          <p:nvPr/>
        </p:nvSpPr>
        <p:spPr>
          <a:xfrm>
            <a:off x="731520" y="2148840"/>
            <a:ext cx="10698480" cy="228600"/>
          </a:xfrm>
          <a:prstGeom prst="rect">
            <a:avLst/>
          </a:prstGeom>
          <a:noFill/>
          <a:ln/>
        </p:spPr>
        <p:txBody>
          <a:bodyPr wrap="square" rtlCol="0" anchor="ctr"/>
          <a:lstStyle/>
          <a:p>
            <a:pPr indent="0" marL="0">
              <a:buNone/>
            </a:pPr>
            <a:r>
              <a:rPr lang="en-US" sz="1050" b="1" dirty="0">
                <a:solidFill>
                  <a:srgbClr val="10B981"/>
                </a:solidFill>
              </a:rPr>
              <a:t>2. SYSTEM &amp; AI MODEL DESIGN</a:t>
            </a:r>
            <a:endParaRPr lang="en-US" sz="1050" dirty="0"/>
          </a:p>
        </p:txBody>
      </p:sp>
      <p:sp>
        <p:nvSpPr>
          <p:cNvPr id="10" name="Text 8"/>
          <p:cNvSpPr/>
          <p:nvPr/>
        </p:nvSpPr>
        <p:spPr>
          <a:xfrm>
            <a:off x="731520" y="2404872"/>
            <a:ext cx="10698480" cy="411480"/>
          </a:xfrm>
          <a:prstGeom prst="rect">
            <a:avLst/>
          </a:prstGeom>
          <a:noFill/>
          <a:ln/>
        </p:spPr>
        <p:txBody>
          <a:bodyPr wrap="square" rtlCol="0" anchor="ctr"/>
          <a:lstStyle/>
          <a:p>
            <a:pPr indent="0" marL="0">
              <a:buNone/>
            </a:pPr>
            <a:r>
              <a:rPr lang="en-US" sz="1000" dirty="0">
                <a:solidFill>
                  <a:srgbClr val="0F172A"/>
                </a:solidFill>
              </a:rPr>
              <a:t>Architecture design (React + Express + MongoDB + YOLOv8).</a:t>
            </a:r>
            <a:endParaRPr lang="en-US" sz="1000" dirty="0"/>
          </a:p>
        </p:txBody>
      </p:sp>
      <p:sp>
        <p:nvSpPr>
          <p:cNvPr id="11" name="Shape 9"/>
          <p:cNvSpPr/>
          <p:nvPr/>
        </p:nvSpPr>
        <p:spPr>
          <a:xfrm>
            <a:off x="548640" y="3017520"/>
            <a:ext cx="11094415" cy="868680"/>
          </a:xfrm>
          <a:prstGeom prst="roundRect">
            <a:avLst>
              <a:gd name="adj" fmla="val 4211"/>
            </a:avLst>
          </a:prstGeom>
          <a:solidFill>
            <a:srgbClr val="F8FAFC"/>
          </a:solidFill>
          <a:ln w="12700">
            <a:solidFill>
              <a:srgbClr val="E2E8F0"/>
            </a:solidFill>
            <a:prstDash val="solid"/>
          </a:ln>
        </p:spPr>
      </p:sp>
      <p:sp>
        <p:nvSpPr>
          <p:cNvPr id="12" name="Text 10"/>
          <p:cNvSpPr/>
          <p:nvPr/>
        </p:nvSpPr>
        <p:spPr>
          <a:xfrm>
            <a:off x="731520" y="3108960"/>
            <a:ext cx="10698480" cy="228600"/>
          </a:xfrm>
          <a:prstGeom prst="rect">
            <a:avLst/>
          </a:prstGeom>
          <a:noFill/>
          <a:ln/>
        </p:spPr>
        <p:txBody>
          <a:bodyPr wrap="square" rtlCol="0" anchor="ctr"/>
          <a:lstStyle/>
          <a:p>
            <a:pPr indent="0" marL="0">
              <a:buNone/>
            </a:pPr>
            <a:r>
              <a:rPr lang="en-US" sz="1050" b="1" dirty="0">
                <a:solidFill>
                  <a:srgbClr val="10B981"/>
                </a:solidFill>
              </a:rPr>
              <a:t>3. ITERATIVE SPRINT CODE</a:t>
            </a:r>
            <a:endParaRPr lang="en-US" sz="1050" dirty="0"/>
          </a:p>
        </p:txBody>
      </p:sp>
      <p:sp>
        <p:nvSpPr>
          <p:cNvPr id="13" name="Text 11"/>
          <p:cNvSpPr/>
          <p:nvPr/>
        </p:nvSpPr>
        <p:spPr>
          <a:xfrm>
            <a:off x="731520" y="3364992"/>
            <a:ext cx="10698480" cy="411480"/>
          </a:xfrm>
          <a:prstGeom prst="rect">
            <a:avLst/>
          </a:prstGeom>
          <a:noFill/>
          <a:ln/>
        </p:spPr>
        <p:txBody>
          <a:bodyPr wrap="square" rtlCol="0" anchor="ctr"/>
          <a:lstStyle/>
          <a:p>
            <a:pPr indent="0" marL="0">
              <a:buNone/>
            </a:pPr>
            <a:r>
              <a:rPr lang="en-US" sz="1000" dirty="0">
                <a:solidFill>
                  <a:srgbClr val="0F172A"/>
                </a:solidFill>
              </a:rPr>
              <a:t>Sprint 1: Schema &amp; Auth | Sprint 2: AI Triage &amp; Spatial Engine | Sprint 3: Ward Scorecards &amp; PDF Reports.</a:t>
            </a:r>
            <a:endParaRPr lang="en-US" sz="1000" dirty="0"/>
          </a:p>
        </p:txBody>
      </p:sp>
      <p:sp>
        <p:nvSpPr>
          <p:cNvPr id="14" name="Shape 12"/>
          <p:cNvSpPr/>
          <p:nvPr/>
        </p:nvSpPr>
        <p:spPr>
          <a:xfrm>
            <a:off x="548640" y="3977640"/>
            <a:ext cx="11094415" cy="868680"/>
          </a:xfrm>
          <a:prstGeom prst="roundRect">
            <a:avLst>
              <a:gd name="adj" fmla="val 4211"/>
            </a:avLst>
          </a:prstGeom>
          <a:solidFill>
            <a:srgbClr val="F8FAFC"/>
          </a:solidFill>
          <a:ln w="12700">
            <a:solidFill>
              <a:srgbClr val="E2E8F0"/>
            </a:solidFill>
            <a:prstDash val="solid"/>
          </a:ln>
        </p:spPr>
      </p:sp>
      <p:sp>
        <p:nvSpPr>
          <p:cNvPr id="15" name="Text 13"/>
          <p:cNvSpPr/>
          <p:nvPr/>
        </p:nvSpPr>
        <p:spPr>
          <a:xfrm>
            <a:off x="731520" y="4069080"/>
            <a:ext cx="10698480" cy="228600"/>
          </a:xfrm>
          <a:prstGeom prst="rect">
            <a:avLst/>
          </a:prstGeom>
          <a:noFill/>
          <a:ln/>
        </p:spPr>
        <p:txBody>
          <a:bodyPr wrap="square" rtlCol="0" anchor="ctr"/>
          <a:lstStyle/>
          <a:p>
            <a:pPr indent="0" marL="0">
              <a:buNone/>
            </a:pPr>
            <a:r>
              <a:rPr lang="en-US" sz="1050" b="1" dirty="0">
                <a:solidFill>
                  <a:srgbClr val="10B981"/>
                </a:solidFill>
              </a:rPr>
              <a:t>4. TESTING &amp; CODE AUDIT</a:t>
            </a:r>
            <a:endParaRPr lang="en-US" sz="1050" dirty="0"/>
          </a:p>
        </p:txBody>
      </p:sp>
      <p:sp>
        <p:nvSpPr>
          <p:cNvPr id="16" name="Text 14"/>
          <p:cNvSpPr/>
          <p:nvPr/>
        </p:nvSpPr>
        <p:spPr>
          <a:xfrm>
            <a:off x="731520" y="4325112"/>
            <a:ext cx="10698480" cy="411480"/>
          </a:xfrm>
          <a:prstGeom prst="rect">
            <a:avLst/>
          </a:prstGeom>
          <a:noFill/>
          <a:ln/>
        </p:spPr>
        <p:txBody>
          <a:bodyPr wrap="square" rtlCol="0" anchor="ctr"/>
          <a:lstStyle/>
          <a:p>
            <a:pPr indent="0" marL="0">
              <a:buNone/>
            </a:pPr>
            <a:r>
              <a:rPr lang="en-US" sz="1000" dirty="0">
                <a:solidFill>
                  <a:srgbClr val="0F172A"/>
                </a:solidFill>
              </a:rPr>
              <a:t>Oxlint syntax auditing &amp; field WebRTC live verification.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12. Full Technology Stack Layers</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4415" cy="3931920"/>
        </p:xfrm>
        <a:graphic>
          <a:graphicData uri="http://schemas.openxmlformats.org/drawingml/2006/table">
            <a:tbl>
              <a:tblPr/>
              <a:tblGrid>
                <a:gridCol w="2743200"/>
                <a:gridCol w="8351215"/>
              </a:tblGrid>
              <a:tr h="491490">
                <a:tc>
                  <a:txBody>
                    <a:bodyPr/>
                    <a:lstStyle/>
                    <a:p>
                      <a:pPr indent="0" marL="0">
                        <a:buNone/>
                      </a:pPr>
                      <a:r>
                        <a:rPr lang="en-US" sz="950" b="1" dirty="0">
                          <a:solidFill>
                            <a:srgbClr val="FFFFFF"/>
                          </a:solidFill>
                          <a:latin typeface="Arial" pitchFamily="34" charset="0"/>
                          <a:ea typeface="Arial" pitchFamily="34" charset="-122"/>
                          <a:cs typeface="Arial" pitchFamily="34" charset="-120"/>
                        </a:rPr>
                        <a:t>Layer</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Technologies &amp; Libraries Used</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491490">
                <a:tc>
                  <a:txBody>
                    <a:bodyPr/>
                    <a:lstStyle/>
                    <a:p>
                      <a:pPr indent="0" marL="0">
                        <a:buNone/>
                      </a:pPr>
                      <a:r>
                        <a:rPr lang="en-US" sz="950" dirty="0">
                          <a:solidFill>
                            <a:srgbClr val="000000"/>
                          </a:solidFill>
                          <a:latin typeface="Arial" pitchFamily="34" charset="0"/>
                          <a:ea typeface="Arial" pitchFamily="34" charset="-122"/>
                          <a:cs typeface="Arial" pitchFamily="34" charset="-120"/>
                        </a:rPr>
                        <a:t>Frontend Client</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React 19, TypeScript, Vite, TailwindCSS, Lucide Icons, Recharts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91490">
                <a:tc>
                  <a:txBody>
                    <a:bodyPr/>
                    <a:lstStyle/>
                    <a:p>
                      <a:pPr indent="0" marL="0">
                        <a:buNone/>
                      </a:pPr>
                      <a:r>
                        <a:rPr lang="en-US" sz="950" dirty="0">
                          <a:solidFill>
                            <a:srgbClr val="000000"/>
                          </a:solidFill>
                          <a:latin typeface="Arial" pitchFamily="34" charset="0"/>
                          <a:ea typeface="Arial" pitchFamily="34" charset="-122"/>
                          <a:cs typeface="Arial" pitchFamily="34" charset="-120"/>
                        </a:rPr>
                        <a:t>GIS Mapping &amp; Tiles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Leaflet.js, React-Leaflet, OpenStreetMap Tile API</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91490">
                <a:tc>
                  <a:txBody>
                    <a:bodyPr/>
                    <a:lstStyle/>
                    <a:p>
                      <a:pPr indent="0" marL="0">
                        <a:buNone/>
                      </a:pPr>
                      <a:r>
                        <a:rPr lang="en-US" sz="950" dirty="0">
                          <a:solidFill>
                            <a:srgbClr val="000000"/>
                          </a:solidFill>
                          <a:latin typeface="Arial" pitchFamily="34" charset="0"/>
                          <a:ea typeface="Arial" pitchFamily="34" charset="-122"/>
                          <a:cs typeface="Arial" pitchFamily="34" charset="-120"/>
                        </a:rPr>
                        <a:t>Multilingual &amp; Voice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i18next, react-i18next (English, Hindi, Marathi), Web Speech API</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91490">
                <a:tc>
                  <a:txBody>
                    <a:bodyPr/>
                    <a:lstStyle/>
                    <a:p>
                      <a:pPr indent="0" marL="0">
                        <a:buNone/>
                      </a:pPr>
                      <a:r>
                        <a:rPr lang="en-US" sz="950" dirty="0">
                          <a:solidFill>
                            <a:srgbClr val="000000"/>
                          </a:solidFill>
                          <a:latin typeface="Arial" pitchFamily="34" charset="0"/>
                          <a:ea typeface="Arial" pitchFamily="34" charset="-122"/>
                          <a:cs typeface="Arial" pitchFamily="34" charset="-120"/>
                        </a:rPr>
                        <a:t>Document Generation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jsPDF, jsPDF-AutoTable (Executive PDF Audit Export)</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91490">
                <a:tc>
                  <a:txBody>
                    <a:bodyPr/>
                    <a:lstStyle/>
                    <a:p>
                      <a:pPr indent="0" marL="0">
                        <a:buNone/>
                      </a:pPr>
                      <a:r>
                        <a:rPr lang="en-US" sz="950" dirty="0">
                          <a:solidFill>
                            <a:srgbClr val="000000"/>
                          </a:solidFill>
                          <a:latin typeface="Arial" pitchFamily="34" charset="0"/>
                          <a:ea typeface="Arial" pitchFamily="34" charset="-122"/>
                          <a:cs typeface="Arial" pitchFamily="34" charset="-120"/>
                        </a:rPr>
                        <a:t>Backend &amp; Database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Node.js (v18+), Express.js, MongoDB Enterprise (Mongoose ODM 2DSphere)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91490">
                <a:tc>
                  <a:txBody>
                    <a:bodyPr/>
                    <a:lstStyle/>
                    <a:p>
                      <a:pPr indent="0" marL="0">
                        <a:buNone/>
                      </a:pPr>
                      <a:r>
                        <a:rPr lang="en-US" sz="950" dirty="0">
                          <a:solidFill>
                            <a:srgbClr val="000000"/>
                          </a:solidFill>
                          <a:latin typeface="Arial" pitchFamily="34" charset="0"/>
                          <a:ea typeface="Arial" pitchFamily="34" charset="-122"/>
                          <a:cs typeface="Arial" pitchFamily="34" charset="-120"/>
                        </a:rPr>
                        <a:t>AI &amp; Machine Learning</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Python 3, PyTorch, Ultralytics YOLOv8, Google Gemini Vision API</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91490">
                <a:tc>
                  <a:txBody>
                    <a:bodyPr/>
                    <a:lstStyle/>
                    <a:p>
                      <a:pPr indent="0" marL="0">
                        <a:buNone/>
                      </a:pPr>
                      <a:r>
                        <a:rPr lang="en-US" sz="950" dirty="0">
                          <a:solidFill>
                            <a:srgbClr val="000000"/>
                          </a:solidFill>
                          <a:latin typeface="Arial" pitchFamily="34" charset="0"/>
                          <a:ea typeface="Arial" pitchFamily="34" charset="-122"/>
                          <a:cs typeface="Arial" pitchFamily="34" charset="-120"/>
                        </a:rPr>
                        <a:t>Security Stack</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JWT Authentication, BCrypt, Helmet, Express-Rate-Limit, HPP</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13. Technology Selection Justification Matrix</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5394960" cy="3931920"/>
          </a:xfrm>
          <a:prstGeom prst="roundRect">
            <a:avLst>
              <a:gd name="adj" fmla="val 930"/>
            </a:avLst>
          </a:prstGeom>
          <a:solidFill>
            <a:srgbClr val="F8FAFC"/>
          </a:solidFill>
          <a:ln w="12700">
            <a:solidFill>
              <a:srgbClr val="E2E8F0"/>
            </a:solidFill>
            <a:prstDash val="solid"/>
          </a:ln>
        </p:spPr>
      </p:sp>
      <p:sp>
        <p:nvSpPr>
          <p:cNvPr id="6" name="Text 4"/>
          <p:cNvSpPr/>
          <p:nvPr/>
        </p:nvSpPr>
        <p:spPr>
          <a:xfrm>
            <a:off x="731520" y="1234440"/>
            <a:ext cx="5029200" cy="274320"/>
          </a:xfrm>
          <a:prstGeom prst="rect">
            <a:avLst/>
          </a:prstGeom>
          <a:noFill/>
          <a:ln/>
        </p:spPr>
        <p:txBody>
          <a:bodyPr wrap="square" rtlCol="0" anchor="ctr"/>
          <a:lstStyle/>
          <a:p>
            <a:pPr indent="0" marL="0">
              <a:buNone/>
            </a:pPr>
            <a:r>
              <a:rPr lang="en-US" sz="1200" b="1" dirty="0">
                <a:solidFill>
                  <a:srgbClr val="0F172A"/>
                </a:solidFill>
              </a:rPr>
              <a:t>Frontend &amp; Mapping Rationale</a:t>
            </a:r>
            <a:endParaRPr lang="en-US" sz="1200" dirty="0"/>
          </a:p>
        </p:txBody>
      </p:sp>
      <p:sp>
        <p:nvSpPr>
          <p:cNvPr id="7" name="Text 5"/>
          <p:cNvSpPr/>
          <p:nvPr/>
        </p:nvSpPr>
        <p:spPr>
          <a:xfrm>
            <a:off x="731520" y="1600200"/>
            <a:ext cx="5029200" cy="3291840"/>
          </a:xfrm>
          <a:prstGeom prst="rect">
            <a:avLst/>
          </a:prstGeom>
          <a:noFill/>
          <a:ln/>
        </p:spPr>
        <p:txBody>
          <a:bodyPr wrap="square" rtlCol="0" anchor="ctr"/>
          <a:lstStyle/>
          <a:p>
            <a:pPr indent="0" marL="0">
              <a:buNone/>
            </a:pPr>
            <a:r>
              <a:rPr lang="en-US" sz="1000" dirty="0">
                <a:solidFill>
                  <a:srgbClr val="334155"/>
                </a:solidFill>
              </a:rPr>
              <a:t>• React 19 + TypeScript</a:t>
            </a:r>
            <a:endParaRPr lang="en-US" sz="1000" dirty="0"/>
          </a:p>
          <a:p>
            <a:pPr indent="0" marL="0">
              <a:buNone/>
            </a:pPr>
            <a:r>
              <a:rPr lang="en-US" sz="1000" dirty="0">
                <a:solidFill>
                  <a:srgbClr val="334155"/>
                </a:solidFill>
              </a:rPr>
              <a:t>  Component modularity, strict compile-time type safety, and fast DOM re-rendering for real-time dashboards.</a:t>
            </a:r>
            <a:endParaRPr lang="en-US" sz="1000" dirty="0"/>
          </a:p>
          <a:p>
            <a:pPr indent="0" marL="0">
              <a:buNone/>
            </a:pPr>
            <a:endParaRPr lang="en-US" sz="1000" dirty="0"/>
          </a:p>
          <a:p>
            <a:pPr indent="0" marL="0">
              <a:buNone/>
            </a:pPr>
            <a:r>
              <a:rPr lang="en-US" sz="1000" dirty="0">
                <a:solidFill>
                  <a:srgbClr val="334155"/>
                </a:solidFill>
              </a:rPr>
              <a:t>• Leaflet / OpenStreetMap</a:t>
            </a:r>
            <a:endParaRPr lang="en-US" sz="1000" dirty="0"/>
          </a:p>
          <a:p>
            <a:pPr indent="0" marL="0">
              <a:buNone/>
            </a:pPr>
            <a:r>
              <a:rPr lang="en-US" sz="1000" dirty="0">
                <a:solidFill>
                  <a:srgbClr val="334155"/>
                </a:solidFill>
              </a:rPr>
              <a:t>  Lightweight open-source tile layer rendering without expensive API billing limitations.</a:t>
            </a:r>
            <a:endParaRPr lang="en-US" sz="1000" dirty="0"/>
          </a:p>
          <a:p>
            <a:pPr indent="0" marL="0">
              <a:buNone/>
            </a:pPr>
            <a:endParaRPr lang="en-US" sz="1000" dirty="0"/>
          </a:p>
          <a:p>
            <a:pPr indent="0" marL="0">
              <a:buNone/>
            </a:pPr>
            <a:r>
              <a:rPr lang="en-US" sz="1000" dirty="0">
                <a:solidFill>
                  <a:srgbClr val="334155"/>
                </a:solidFill>
              </a:rPr>
              <a:t>• jsPDF / AutoTable</a:t>
            </a:r>
            <a:endParaRPr lang="en-US" sz="1000" dirty="0"/>
          </a:p>
          <a:p>
            <a:pPr indent="0" marL="0">
              <a:buNone/>
            </a:pPr>
            <a:r>
              <a:rPr lang="en-US" sz="1000" dirty="0">
                <a:solidFill>
                  <a:srgbClr val="334155"/>
                </a:solidFill>
              </a:rPr>
              <a:t>  Client-side vector rendering for executive governance reports without adding server workload.</a:t>
            </a:r>
            <a:endParaRPr lang="en-US" sz="1000" dirty="0"/>
          </a:p>
        </p:txBody>
      </p:sp>
      <p:sp>
        <p:nvSpPr>
          <p:cNvPr id="8" name="Shape 6"/>
          <p:cNvSpPr/>
          <p:nvPr/>
        </p:nvSpPr>
        <p:spPr>
          <a:xfrm>
            <a:off x="6248095" y="1097280"/>
            <a:ext cx="5394960" cy="3931920"/>
          </a:xfrm>
          <a:prstGeom prst="roundRect">
            <a:avLst>
              <a:gd name="adj" fmla="val 930"/>
            </a:avLst>
          </a:prstGeom>
          <a:solidFill>
            <a:srgbClr val="F8FAFC"/>
          </a:solidFill>
          <a:ln w="12700">
            <a:solidFill>
              <a:srgbClr val="E2E8F0"/>
            </a:solidFill>
            <a:prstDash val="solid"/>
          </a:ln>
        </p:spPr>
      </p:sp>
      <p:sp>
        <p:nvSpPr>
          <p:cNvPr id="9" name="Text 7"/>
          <p:cNvSpPr/>
          <p:nvPr/>
        </p:nvSpPr>
        <p:spPr>
          <a:xfrm>
            <a:off x="6430975" y="1234440"/>
            <a:ext cx="5029200" cy="274320"/>
          </a:xfrm>
          <a:prstGeom prst="rect">
            <a:avLst/>
          </a:prstGeom>
          <a:noFill/>
          <a:ln/>
        </p:spPr>
        <p:txBody>
          <a:bodyPr wrap="square" rtlCol="0" anchor="ctr"/>
          <a:lstStyle/>
          <a:p>
            <a:pPr indent="0" marL="0">
              <a:buNone/>
            </a:pPr>
            <a:r>
              <a:rPr lang="en-US" sz="1200" b="1" dirty="0">
                <a:solidFill>
                  <a:srgbClr val="0F172A"/>
                </a:solidFill>
              </a:rPr>
              <a:t>Backend &amp; AI Model Rationale</a:t>
            </a:r>
            <a:endParaRPr lang="en-US" sz="1200" dirty="0"/>
          </a:p>
        </p:txBody>
      </p:sp>
      <p:sp>
        <p:nvSpPr>
          <p:cNvPr id="10" name="Text 8"/>
          <p:cNvSpPr/>
          <p:nvPr/>
        </p:nvSpPr>
        <p:spPr>
          <a:xfrm>
            <a:off x="6430975" y="1600200"/>
            <a:ext cx="5029200" cy="3291840"/>
          </a:xfrm>
          <a:prstGeom prst="rect">
            <a:avLst/>
          </a:prstGeom>
          <a:noFill/>
          <a:ln/>
        </p:spPr>
        <p:txBody>
          <a:bodyPr wrap="square" rtlCol="0" anchor="ctr"/>
          <a:lstStyle/>
          <a:p>
            <a:pPr indent="0" marL="0">
              <a:buNone/>
            </a:pPr>
            <a:r>
              <a:rPr lang="en-US" sz="1000" dirty="0">
                <a:solidFill>
                  <a:srgbClr val="334155"/>
                </a:solidFill>
              </a:rPr>
              <a:t>• Node.js + Express</a:t>
            </a:r>
            <a:endParaRPr lang="en-US" sz="1000" dirty="0"/>
          </a:p>
          <a:p>
            <a:pPr indent="0" marL="0">
              <a:buNone/>
            </a:pPr>
            <a:r>
              <a:rPr lang="en-US" sz="1000" dirty="0">
                <a:solidFill>
                  <a:srgbClr val="334155"/>
                </a:solidFill>
              </a:rPr>
              <a:t>  Non-blocking asynchronous event loop capable of handling concurrent citizen requests with high throughput.</a:t>
            </a:r>
            <a:endParaRPr lang="en-US" sz="1000" dirty="0"/>
          </a:p>
          <a:p>
            <a:pPr indent="0" marL="0">
              <a:buNone/>
            </a:pPr>
            <a:endParaRPr lang="en-US" sz="1000" dirty="0"/>
          </a:p>
          <a:p>
            <a:pPr indent="0" marL="0">
              <a:buNone/>
            </a:pPr>
            <a:r>
              <a:rPr lang="en-US" sz="1000" dirty="0">
                <a:solidFill>
                  <a:srgbClr val="334155"/>
                </a:solidFill>
              </a:rPr>
              <a:t>• MongoDB + Mongoose</a:t>
            </a:r>
            <a:endParaRPr lang="en-US" sz="1000" dirty="0"/>
          </a:p>
          <a:p>
            <a:pPr indent="0" marL="0">
              <a:buNone/>
            </a:pPr>
            <a:r>
              <a:rPr lang="en-US" sz="1000" dirty="0">
                <a:solidFill>
                  <a:srgbClr val="334155"/>
                </a:solidFill>
              </a:rPr>
              <a:t>  Built-in $geoWithin spherical index support for 20m spatial deduplication without external GIS extensions.</a:t>
            </a:r>
            <a:endParaRPr lang="en-US" sz="1000" dirty="0"/>
          </a:p>
          <a:p>
            <a:pPr indent="0" marL="0">
              <a:buNone/>
            </a:pPr>
            <a:endParaRPr lang="en-US" sz="1000" dirty="0"/>
          </a:p>
          <a:p>
            <a:pPr indent="0" marL="0">
              <a:buNone/>
            </a:pPr>
            <a:r>
              <a:rPr lang="en-US" sz="1000" dirty="0">
                <a:solidFill>
                  <a:srgbClr val="334155"/>
                </a:solidFill>
              </a:rPr>
              <a:t>• YOLOv8 + Gemini AI</a:t>
            </a:r>
            <a:endParaRPr lang="en-US" sz="1000" dirty="0"/>
          </a:p>
          <a:p>
            <a:pPr indent="0" marL="0">
              <a:buNone/>
            </a:pPr>
            <a:r>
              <a:rPr lang="en-US" sz="1000" dirty="0">
                <a:solidFill>
                  <a:srgbClr val="334155"/>
                </a:solidFill>
              </a:rPr>
              <a:t>  Hybrid approach combining real-time edge object detection (YOLOv8) with deep contextual reasoning (Gemini API).</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14. Feasibility Analysis (4-Part Visual)</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5449824" cy="1874520"/>
          </a:xfrm>
          <a:prstGeom prst="roundRect">
            <a:avLst>
              <a:gd name="adj" fmla="val 1951"/>
            </a:avLst>
          </a:prstGeom>
          <a:solidFill>
            <a:srgbClr val="F8FAFC"/>
          </a:solidFill>
          <a:ln w="12700">
            <a:solidFill>
              <a:srgbClr val="E2E8F0"/>
            </a:solidFill>
            <a:prstDash val="solid"/>
          </a:ln>
        </p:spPr>
      </p:sp>
      <p:sp>
        <p:nvSpPr>
          <p:cNvPr id="6" name="Text 4"/>
          <p:cNvSpPr/>
          <p:nvPr/>
        </p:nvSpPr>
        <p:spPr>
          <a:xfrm>
            <a:off x="731520" y="1234440"/>
            <a:ext cx="5084064" cy="274320"/>
          </a:xfrm>
          <a:prstGeom prst="rect">
            <a:avLst/>
          </a:prstGeom>
          <a:noFill/>
          <a:ln/>
        </p:spPr>
        <p:txBody>
          <a:bodyPr wrap="square" rtlCol="0" anchor="ctr"/>
          <a:lstStyle/>
          <a:p>
            <a:pPr indent="0" marL="0">
              <a:buNone/>
            </a:pPr>
            <a:r>
              <a:rPr lang="en-US" sz="1150" b="1" dirty="0">
                <a:solidFill>
                  <a:srgbClr val="0F172A"/>
                </a:solidFill>
              </a:rPr>
              <a:t>⚙️ TECHNICAL FEASIBILITY</a:t>
            </a:r>
            <a:endParaRPr lang="en-US" sz="1150" dirty="0"/>
          </a:p>
        </p:txBody>
      </p:sp>
      <p:sp>
        <p:nvSpPr>
          <p:cNvPr id="7" name="Text 5"/>
          <p:cNvSpPr/>
          <p:nvPr/>
        </p:nvSpPr>
        <p:spPr>
          <a:xfrm>
            <a:off x="731520" y="1554480"/>
            <a:ext cx="5084064" cy="1280160"/>
          </a:xfrm>
          <a:prstGeom prst="rect">
            <a:avLst/>
          </a:prstGeom>
          <a:noFill/>
          <a:ln/>
        </p:spPr>
        <p:txBody>
          <a:bodyPr wrap="square" rtlCol="0" anchor="ctr"/>
          <a:lstStyle/>
          <a:p>
            <a:pPr indent="0" marL="0">
              <a:buNone/>
            </a:pPr>
            <a:r>
              <a:rPr lang="en-US" sz="1000" dirty="0">
                <a:solidFill>
                  <a:srgbClr val="334155"/>
                </a:solidFill>
              </a:rPr>
              <a:t>• Built on production Node.js, React 19, MongoDB, Python.</a:t>
            </a:r>
            <a:endParaRPr lang="en-US" sz="1000" dirty="0"/>
          </a:p>
          <a:p>
            <a:pPr indent="0" marL="0">
              <a:buNone/>
            </a:pPr>
            <a:r>
              <a:rPr lang="en-US" sz="1000" dirty="0">
                <a:solidFill>
                  <a:srgbClr val="334155"/>
                </a:solidFill>
              </a:rPr>
              <a:t>• YOLOv8n (nano) runs efficiently on standard CPU/GPU nodes.</a:t>
            </a:r>
            <a:endParaRPr lang="en-US" sz="1000" dirty="0"/>
          </a:p>
        </p:txBody>
      </p:sp>
      <p:sp>
        <p:nvSpPr>
          <p:cNvPr id="8" name="Shape 6"/>
          <p:cNvSpPr/>
          <p:nvPr/>
        </p:nvSpPr>
        <p:spPr>
          <a:xfrm>
            <a:off x="6181344" y="1097280"/>
            <a:ext cx="5449824" cy="1874520"/>
          </a:xfrm>
          <a:prstGeom prst="roundRect">
            <a:avLst>
              <a:gd name="adj" fmla="val 1951"/>
            </a:avLst>
          </a:prstGeom>
          <a:solidFill>
            <a:srgbClr val="F8FAFC"/>
          </a:solidFill>
          <a:ln w="12700">
            <a:solidFill>
              <a:srgbClr val="E2E8F0"/>
            </a:solidFill>
            <a:prstDash val="solid"/>
          </a:ln>
        </p:spPr>
      </p:sp>
      <p:sp>
        <p:nvSpPr>
          <p:cNvPr id="9" name="Text 7"/>
          <p:cNvSpPr/>
          <p:nvPr/>
        </p:nvSpPr>
        <p:spPr>
          <a:xfrm>
            <a:off x="6364224" y="1234440"/>
            <a:ext cx="5084064" cy="274320"/>
          </a:xfrm>
          <a:prstGeom prst="rect">
            <a:avLst/>
          </a:prstGeom>
          <a:noFill/>
          <a:ln/>
        </p:spPr>
        <p:txBody>
          <a:bodyPr wrap="square" rtlCol="0" anchor="ctr"/>
          <a:lstStyle/>
          <a:p>
            <a:pPr indent="0" marL="0">
              <a:buNone/>
            </a:pPr>
            <a:r>
              <a:rPr lang="en-US" sz="1150" b="1" dirty="0">
                <a:solidFill>
                  <a:srgbClr val="0F172A"/>
                </a:solidFill>
              </a:rPr>
              <a:t>👥 OPERATIONAL FEASIBILITY</a:t>
            </a:r>
            <a:endParaRPr lang="en-US" sz="1150" dirty="0"/>
          </a:p>
        </p:txBody>
      </p:sp>
      <p:sp>
        <p:nvSpPr>
          <p:cNvPr id="10" name="Text 8"/>
          <p:cNvSpPr/>
          <p:nvPr/>
        </p:nvSpPr>
        <p:spPr>
          <a:xfrm>
            <a:off x="6364224" y="1554480"/>
            <a:ext cx="5084064" cy="1280160"/>
          </a:xfrm>
          <a:prstGeom prst="rect">
            <a:avLst/>
          </a:prstGeom>
          <a:noFill/>
          <a:ln/>
        </p:spPr>
        <p:txBody>
          <a:bodyPr wrap="square" rtlCol="0" anchor="ctr"/>
          <a:lstStyle/>
          <a:p>
            <a:pPr indent="0" marL="0">
              <a:buNone/>
            </a:pPr>
            <a:r>
              <a:rPr lang="en-US" sz="1000" dirty="0">
                <a:solidFill>
                  <a:srgbClr val="334155"/>
                </a:solidFill>
              </a:rPr>
              <a:t>• Supports English, Hindi, Marathi for seamless adoption.</a:t>
            </a:r>
            <a:endParaRPr lang="en-US" sz="1000" dirty="0"/>
          </a:p>
          <a:p>
            <a:pPr indent="0" marL="0">
              <a:buNone/>
            </a:pPr>
            <a:r>
              <a:rPr lang="en-US" sz="1000" dirty="0">
                <a:solidFill>
                  <a:srgbClr val="334155"/>
                </a:solidFill>
              </a:rPr>
              <a:t>• Web Speech API converts voice notes into text descriptions.</a:t>
            </a:r>
            <a:endParaRPr lang="en-US" sz="1000" dirty="0"/>
          </a:p>
        </p:txBody>
      </p:sp>
      <p:sp>
        <p:nvSpPr>
          <p:cNvPr id="11" name="Shape 9"/>
          <p:cNvSpPr/>
          <p:nvPr/>
        </p:nvSpPr>
        <p:spPr>
          <a:xfrm>
            <a:off x="548640" y="3108960"/>
            <a:ext cx="5449824" cy="1874520"/>
          </a:xfrm>
          <a:prstGeom prst="roundRect">
            <a:avLst>
              <a:gd name="adj" fmla="val 1951"/>
            </a:avLst>
          </a:prstGeom>
          <a:solidFill>
            <a:srgbClr val="F8FAFC"/>
          </a:solidFill>
          <a:ln w="12700">
            <a:solidFill>
              <a:srgbClr val="E2E8F0"/>
            </a:solidFill>
            <a:prstDash val="solid"/>
          </a:ln>
        </p:spPr>
      </p:sp>
      <p:sp>
        <p:nvSpPr>
          <p:cNvPr id="12" name="Text 10"/>
          <p:cNvSpPr/>
          <p:nvPr/>
        </p:nvSpPr>
        <p:spPr>
          <a:xfrm>
            <a:off x="731520" y="3246120"/>
            <a:ext cx="5084064" cy="274320"/>
          </a:xfrm>
          <a:prstGeom prst="rect">
            <a:avLst/>
          </a:prstGeom>
          <a:noFill/>
          <a:ln/>
        </p:spPr>
        <p:txBody>
          <a:bodyPr wrap="square" rtlCol="0" anchor="ctr"/>
          <a:lstStyle/>
          <a:p>
            <a:pPr indent="0" marL="0">
              <a:buNone/>
            </a:pPr>
            <a:r>
              <a:rPr lang="en-US" sz="1150" b="1" dirty="0">
                <a:solidFill>
                  <a:srgbClr val="0F172A"/>
                </a:solidFill>
              </a:rPr>
              <a:t>💰 ECONOMIC FEASIBILITY</a:t>
            </a:r>
            <a:endParaRPr lang="en-US" sz="1150" dirty="0"/>
          </a:p>
        </p:txBody>
      </p:sp>
      <p:sp>
        <p:nvSpPr>
          <p:cNvPr id="13" name="Text 11"/>
          <p:cNvSpPr/>
          <p:nvPr/>
        </p:nvSpPr>
        <p:spPr>
          <a:xfrm>
            <a:off x="731520" y="3566160"/>
            <a:ext cx="5084064" cy="1280160"/>
          </a:xfrm>
          <a:prstGeom prst="rect">
            <a:avLst/>
          </a:prstGeom>
          <a:noFill/>
          <a:ln/>
        </p:spPr>
        <p:txBody>
          <a:bodyPr wrap="square" rtlCol="0" anchor="ctr"/>
          <a:lstStyle/>
          <a:p>
            <a:pPr indent="0" marL="0">
              <a:buNone/>
            </a:pPr>
            <a:r>
              <a:rPr lang="en-US" sz="1000" dirty="0">
                <a:solidFill>
                  <a:srgbClr val="334155"/>
                </a:solidFill>
              </a:rPr>
              <a:t>• Uses open-source frameworks and OpenStreetMap tiles.</a:t>
            </a:r>
            <a:endParaRPr lang="en-US" sz="1000" dirty="0"/>
          </a:p>
          <a:p>
            <a:pPr indent="0" marL="0">
              <a:buNone/>
            </a:pPr>
            <a:r>
              <a:rPr lang="en-US" sz="1000" dirty="0">
                <a:solidFill>
                  <a:srgbClr val="334155"/>
                </a:solidFill>
              </a:rPr>
              <a:t>• 20m spatial deduplication prevents redundant field worker dispatches.</a:t>
            </a:r>
            <a:endParaRPr lang="en-US" sz="1000" dirty="0"/>
          </a:p>
        </p:txBody>
      </p:sp>
      <p:sp>
        <p:nvSpPr>
          <p:cNvPr id="14" name="Shape 12"/>
          <p:cNvSpPr/>
          <p:nvPr/>
        </p:nvSpPr>
        <p:spPr>
          <a:xfrm>
            <a:off x="6181344" y="3108960"/>
            <a:ext cx="5449824" cy="1874520"/>
          </a:xfrm>
          <a:prstGeom prst="roundRect">
            <a:avLst>
              <a:gd name="adj" fmla="val 1951"/>
            </a:avLst>
          </a:prstGeom>
          <a:solidFill>
            <a:srgbClr val="F8FAFC"/>
          </a:solidFill>
          <a:ln w="12700">
            <a:solidFill>
              <a:srgbClr val="E2E8F0"/>
            </a:solidFill>
            <a:prstDash val="solid"/>
          </a:ln>
        </p:spPr>
      </p:sp>
      <p:sp>
        <p:nvSpPr>
          <p:cNvPr id="15" name="Text 13"/>
          <p:cNvSpPr/>
          <p:nvPr/>
        </p:nvSpPr>
        <p:spPr>
          <a:xfrm>
            <a:off x="6364224" y="3246120"/>
            <a:ext cx="5084064" cy="274320"/>
          </a:xfrm>
          <a:prstGeom prst="rect">
            <a:avLst/>
          </a:prstGeom>
          <a:noFill/>
          <a:ln/>
        </p:spPr>
        <p:txBody>
          <a:bodyPr wrap="square" rtlCol="0" anchor="ctr"/>
          <a:lstStyle/>
          <a:p>
            <a:pPr indent="0" marL="0">
              <a:buNone/>
            </a:pPr>
            <a:r>
              <a:rPr lang="en-US" sz="1150" b="1" dirty="0">
                <a:solidFill>
                  <a:srgbClr val="0F172A"/>
                </a:solidFill>
              </a:rPr>
              <a:t>⏱️ TIME FEASIBILITY</a:t>
            </a:r>
            <a:endParaRPr lang="en-US" sz="1150" dirty="0"/>
          </a:p>
        </p:txBody>
      </p:sp>
      <p:sp>
        <p:nvSpPr>
          <p:cNvPr id="16" name="Text 14"/>
          <p:cNvSpPr/>
          <p:nvPr/>
        </p:nvSpPr>
        <p:spPr>
          <a:xfrm>
            <a:off x="6364224" y="3566160"/>
            <a:ext cx="5084064" cy="1280160"/>
          </a:xfrm>
          <a:prstGeom prst="rect">
            <a:avLst/>
          </a:prstGeom>
          <a:noFill/>
          <a:ln/>
        </p:spPr>
        <p:txBody>
          <a:bodyPr wrap="square" rtlCol="0" anchor="ctr"/>
          <a:lstStyle/>
          <a:p>
            <a:pPr indent="0" marL="0">
              <a:buNone/>
            </a:pPr>
            <a:r>
              <a:rPr lang="en-US" sz="1000" dirty="0">
                <a:solidFill>
                  <a:srgbClr val="334155"/>
                </a:solidFill>
              </a:rPr>
              <a:t>• Development structured cleanly across 16 academic project weeks.</a:t>
            </a:r>
            <a:endParaRPr lang="en-US" sz="1000" dirty="0"/>
          </a:p>
          <a:p>
            <a:pPr indent="0" marL="0">
              <a:buNone/>
            </a:pPr>
            <a:r>
              <a:rPr lang="en-US" sz="1000" dirty="0">
                <a:solidFill>
                  <a:srgbClr val="334155"/>
                </a:solidFill>
              </a:rPr>
              <a:t>• Core AI classification, database models, and dashboards completed.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15. Work Breakdown Structure (WBS)</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11094415" cy="868680"/>
          </a:xfrm>
          <a:prstGeom prst="roundRect">
            <a:avLst>
              <a:gd name="adj" fmla="val 4211"/>
            </a:avLst>
          </a:prstGeom>
          <a:solidFill>
            <a:srgbClr val="F8FAFC"/>
          </a:solidFill>
          <a:ln w="12700">
            <a:solidFill>
              <a:srgbClr val="E2E8F0"/>
            </a:solidFill>
            <a:prstDash val="solid"/>
          </a:ln>
        </p:spPr>
      </p:sp>
      <p:sp>
        <p:nvSpPr>
          <p:cNvPr id="6" name="Text 4"/>
          <p:cNvSpPr/>
          <p:nvPr/>
        </p:nvSpPr>
        <p:spPr>
          <a:xfrm>
            <a:off x="731520" y="1188720"/>
            <a:ext cx="10698480" cy="228600"/>
          </a:xfrm>
          <a:prstGeom prst="rect">
            <a:avLst/>
          </a:prstGeom>
          <a:noFill/>
          <a:ln/>
        </p:spPr>
        <p:txBody>
          <a:bodyPr wrap="square" rtlCol="0" anchor="ctr"/>
          <a:lstStyle/>
          <a:p>
            <a:pPr indent="0" marL="0">
              <a:buNone/>
            </a:pPr>
            <a:r>
              <a:rPr lang="en-US" sz="1050" b="1" dirty="0">
                <a:solidFill>
                  <a:srgbClr val="10B981"/>
                </a:solidFill>
              </a:rPr>
              <a:t>1.0 PLANNING &amp; RESEARCH</a:t>
            </a:r>
            <a:endParaRPr lang="en-US" sz="1050" dirty="0"/>
          </a:p>
        </p:txBody>
      </p:sp>
      <p:sp>
        <p:nvSpPr>
          <p:cNvPr id="7" name="Text 5"/>
          <p:cNvSpPr/>
          <p:nvPr/>
        </p:nvSpPr>
        <p:spPr>
          <a:xfrm>
            <a:off x="731520" y="1444752"/>
            <a:ext cx="10698480" cy="411480"/>
          </a:xfrm>
          <a:prstGeom prst="rect">
            <a:avLst/>
          </a:prstGeom>
          <a:noFill/>
          <a:ln/>
        </p:spPr>
        <p:txBody>
          <a:bodyPr wrap="square" rtlCol="0" anchor="ctr"/>
          <a:lstStyle/>
          <a:p>
            <a:pPr indent="0" marL="0">
              <a:buNone/>
            </a:pPr>
            <a:r>
              <a:rPr lang="en-US" sz="1000" dirty="0">
                <a:solidFill>
                  <a:srgbClr val="0F172A"/>
                </a:solidFill>
              </a:rPr>
              <a:t>1.1 Literature survey &amp; paper review | 1.2 Municipal SLA requirement analysis</a:t>
            </a:r>
            <a:endParaRPr lang="en-US" sz="1000" dirty="0"/>
          </a:p>
        </p:txBody>
      </p:sp>
      <p:sp>
        <p:nvSpPr>
          <p:cNvPr id="8" name="Shape 6"/>
          <p:cNvSpPr/>
          <p:nvPr/>
        </p:nvSpPr>
        <p:spPr>
          <a:xfrm>
            <a:off x="548640" y="2057400"/>
            <a:ext cx="11094415" cy="868680"/>
          </a:xfrm>
          <a:prstGeom prst="roundRect">
            <a:avLst>
              <a:gd name="adj" fmla="val 4211"/>
            </a:avLst>
          </a:prstGeom>
          <a:solidFill>
            <a:srgbClr val="F8FAFC"/>
          </a:solidFill>
          <a:ln w="12700">
            <a:solidFill>
              <a:srgbClr val="E2E8F0"/>
            </a:solidFill>
            <a:prstDash val="solid"/>
          </a:ln>
        </p:spPr>
      </p:sp>
      <p:sp>
        <p:nvSpPr>
          <p:cNvPr id="9" name="Text 7"/>
          <p:cNvSpPr/>
          <p:nvPr/>
        </p:nvSpPr>
        <p:spPr>
          <a:xfrm>
            <a:off x="731520" y="2148840"/>
            <a:ext cx="10698480" cy="228600"/>
          </a:xfrm>
          <a:prstGeom prst="rect">
            <a:avLst/>
          </a:prstGeom>
          <a:noFill/>
          <a:ln/>
        </p:spPr>
        <p:txBody>
          <a:bodyPr wrap="square" rtlCol="0" anchor="ctr"/>
          <a:lstStyle/>
          <a:p>
            <a:pPr indent="0" marL="0">
              <a:buNone/>
            </a:pPr>
            <a:r>
              <a:rPr lang="en-US" sz="1050" b="1" dirty="0">
                <a:solidFill>
                  <a:srgbClr val="10B981"/>
                </a:solidFill>
              </a:rPr>
              <a:t>2.0 BACKEND &amp; DATABASE</a:t>
            </a:r>
            <a:endParaRPr lang="en-US" sz="1050" dirty="0"/>
          </a:p>
        </p:txBody>
      </p:sp>
      <p:sp>
        <p:nvSpPr>
          <p:cNvPr id="10" name="Text 8"/>
          <p:cNvSpPr/>
          <p:nvPr/>
        </p:nvSpPr>
        <p:spPr>
          <a:xfrm>
            <a:off x="731520" y="2404872"/>
            <a:ext cx="10698480" cy="411480"/>
          </a:xfrm>
          <a:prstGeom prst="rect">
            <a:avLst/>
          </a:prstGeom>
          <a:noFill/>
          <a:ln/>
        </p:spPr>
        <p:txBody>
          <a:bodyPr wrap="square" rtlCol="0" anchor="ctr"/>
          <a:lstStyle/>
          <a:p>
            <a:pPr indent="0" marL="0">
              <a:buNone/>
            </a:pPr>
            <a:r>
              <a:rPr lang="en-US" sz="1000" dirty="0">
                <a:solidFill>
                  <a:srgbClr val="0F172A"/>
                </a:solidFill>
              </a:rPr>
              <a:t>2.1 MongoDB Mongoose schema design | 2.2 JWT auth &amp; security stack | 2.3 20m Spatial Engine</a:t>
            </a:r>
            <a:endParaRPr lang="en-US" sz="1000" dirty="0"/>
          </a:p>
        </p:txBody>
      </p:sp>
      <p:sp>
        <p:nvSpPr>
          <p:cNvPr id="11" name="Shape 9"/>
          <p:cNvSpPr/>
          <p:nvPr/>
        </p:nvSpPr>
        <p:spPr>
          <a:xfrm>
            <a:off x="548640" y="3017520"/>
            <a:ext cx="11094415" cy="868680"/>
          </a:xfrm>
          <a:prstGeom prst="roundRect">
            <a:avLst>
              <a:gd name="adj" fmla="val 4211"/>
            </a:avLst>
          </a:prstGeom>
          <a:solidFill>
            <a:srgbClr val="F8FAFC"/>
          </a:solidFill>
          <a:ln w="12700">
            <a:solidFill>
              <a:srgbClr val="E2E8F0"/>
            </a:solidFill>
            <a:prstDash val="solid"/>
          </a:ln>
        </p:spPr>
      </p:sp>
      <p:sp>
        <p:nvSpPr>
          <p:cNvPr id="12" name="Text 10"/>
          <p:cNvSpPr/>
          <p:nvPr/>
        </p:nvSpPr>
        <p:spPr>
          <a:xfrm>
            <a:off x="731520" y="3108960"/>
            <a:ext cx="10698480" cy="228600"/>
          </a:xfrm>
          <a:prstGeom prst="rect">
            <a:avLst/>
          </a:prstGeom>
          <a:noFill/>
          <a:ln/>
        </p:spPr>
        <p:txBody>
          <a:bodyPr wrap="square" rtlCol="0" anchor="ctr"/>
          <a:lstStyle/>
          <a:p>
            <a:pPr indent="0" marL="0">
              <a:buNone/>
            </a:pPr>
            <a:r>
              <a:rPr lang="en-US" sz="1050" b="1" dirty="0">
                <a:solidFill>
                  <a:srgbClr val="10B981"/>
                </a:solidFill>
              </a:rPr>
              <a:t>3.0 AI VISION PIPELINE</a:t>
            </a:r>
            <a:endParaRPr lang="en-US" sz="1050" dirty="0"/>
          </a:p>
        </p:txBody>
      </p:sp>
      <p:sp>
        <p:nvSpPr>
          <p:cNvPr id="13" name="Text 11"/>
          <p:cNvSpPr/>
          <p:nvPr/>
        </p:nvSpPr>
        <p:spPr>
          <a:xfrm>
            <a:off x="731520" y="3364992"/>
            <a:ext cx="10698480" cy="411480"/>
          </a:xfrm>
          <a:prstGeom prst="rect">
            <a:avLst/>
          </a:prstGeom>
          <a:noFill/>
          <a:ln/>
        </p:spPr>
        <p:txBody>
          <a:bodyPr wrap="square" rtlCol="0" anchor="ctr"/>
          <a:lstStyle/>
          <a:p>
            <a:pPr indent="0" marL="0">
              <a:buNone/>
            </a:pPr>
            <a:r>
              <a:rPr lang="en-US" sz="1000" dirty="0">
                <a:solidFill>
                  <a:srgbClr val="0F172A"/>
                </a:solidFill>
              </a:rPr>
              <a:t>3.1 YOLOv8 model initialization | 3.2 Gemini Pro Vision API prompt engineering</a:t>
            </a:r>
            <a:endParaRPr lang="en-US" sz="1000" dirty="0"/>
          </a:p>
        </p:txBody>
      </p:sp>
      <p:sp>
        <p:nvSpPr>
          <p:cNvPr id="14" name="Shape 12"/>
          <p:cNvSpPr/>
          <p:nvPr/>
        </p:nvSpPr>
        <p:spPr>
          <a:xfrm>
            <a:off x="548640" y="3977640"/>
            <a:ext cx="11094415" cy="868680"/>
          </a:xfrm>
          <a:prstGeom prst="roundRect">
            <a:avLst>
              <a:gd name="adj" fmla="val 4211"/>
            </a:avLst>
          </a:prstGeom>
          <a:solidFill>
            <a:srgbClr val="F8FAFC"/>
          </a:solidFill>
          <a:ln w="12700">
            <a:solidFill>
              <a:srgbClr val="E2E8F0"/>
            </a:solidFill>
            <a:prstDash val="solid"/>
          </a:ln>
        </p:spPr>
      </p:sp>
      <p:sp>
        <p:nvSpPr>
          <p:cNvPr id="15" name="Text 13"/>
          <p:cNvSpPr/>
          <p:nvPr/>
        </p:nvSpPr>
        <p:spPr>
          <a:xfrm>
            <a:off x="731520" y="4069080"/>
            <a:ext cx="10698480" cy="228600"/>
          </a:xfrm>
          <a:prstGeom prst="rect">
            <a:avLst/>
          </a:prstGeom>
          <a:noFill/>
          <a:ln/>
        </p:spPr>
        <p:txBody>
          <a:bodyPr wrap="square" rtlCol="0" anchor="ctr"/>
          <a:lstStyle/>
          <a:p>
            <a:pPr indent="0" marL="0">
              <a:buNone/>
            </a:pPr>
            <a:r>
              <a:rPr lang="en-US" sz="1050" b="1" dirty="0">
                <a:solidFill>
                  <a:srgbClr val="10B981"/>
                </a:solidFill>
              </a:rPr>
              <a:t>4.0 FRONTEND CLIENT UI</a:t>
            </a:r>
            <a:endParaRPr lang="en-US" sz="1050" dirty="0"/>
          </a:p>
        </p:txBody>
      </p:sp>
      <p:sp>
        <p:nvSpPr>
          <p:cNvPr id="16" name="Text 14"/>
          <p:cNvSpPr/>
          <p:nvPr/>
        </p:nvSpPr>
        <p:spPr>
          <a:xfrm>
            <a:off x="731520" y="4325112"/>
            <a:ext cx="10698480" cy="411480"/>
          </a:xfrm>
          <a:prstGeom prst="rect">
            <a:avLst/>
          </a:prstGeom>
          <a:noFill/>
          <a:ln/>
        </p:spPr>
        <p:txBody>
          <a:bodyPr wrap="square" rtlCol="0" anchor="ctr"/>
          <a:lstStyle/>
          <a:p>
            <a:pPr indent="0" marL="0">
              <a:buNone/>
            </a:pPr>
            <a:r>
              <a:rPr lang="en-US" sz="1000" dirty="0">
                <a:solidFill>
                  <a:srgbClr val="0F172A"/>
                </a:solidFill>
              </a:rPr>
              <a:t>4.1 Citizen Portal &amp; Web Speech dictation | 4.2 Leaflet GIS Map | 4.3 Ward SLA Scorecards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16. Academic Project Timeline &amp; Gantt Chart</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11094415" cy="3931920"/>
          </a:xfrm>
          <a:prstGeom prst="roundRect">
            <a:avLst>
              <a:gd name="adj" fmla="val 930"/>
            </a:avLst>
          </a:prstGeom>
          <a:solidFill>
            <a:srgbClr val="F8FAFC"/>
          </a:solidFill>
          <a:ln w="12700">
            <a:solidFill>
              <a:srgbClr val="E2E8F0"/>
            </a:solidFill>
            <a:prstDash val="solid"/>
          </a:ln>
        </p:spPr>
      </p:sp>
      <p:sp>
        <p:nvSpPr>
          <p:cNvPr id="6" name="Text 4"/>
          <p:cNvSpPr/>
          <p:nvPr/>
        </p:nvSpPr>
        <p:spPr>
          <a:xfrm>
            <a:off x="731520" y="1234440"/>
            <a:ext cx="10698480" cy="274320"/>
          </a:xfrm>
          <a:prstGeom prst="rect">
            <a:avLst/>
          </a:prstGeom>
          <a:noFill/>
          <a:ln/>
        </p:spPr>
        <p:txBody>
          <a:bodyPr wrap="square" rtlCol="0" anchor="ctr"/>
          <a:lstStyle/>
          <a:p>
            <a:pPr indent="0" marL="0">
              <a:buNone/>
            </a:pPr>
            <a:r>
              <a:rPr lang="en-US" sz="1200" b="1" dirty="0">
                <a:solidFill>
                  <a:srgbClr val="10B981"/>
                </a:solidFill>
              </a:rPr>
              <a:t>ACADEMIC PROJECT GANTT CHART (WEEKS 1–16)</a:t>
            </a:r>
            <a:endParaRPr lang="en-US" sz="1200" dirty="0"/>
          </a:p>
        </p:txBody>
      </p:sp>
      <p:sp>
        <p:nvSpPr>
          <p:cNvPr id="7" name="Text 5"/>
          <p:cNvSpPr/>
          <p:nvPr/>
        </p:nvSpPr>
        <p:spPr>
          <a:xfrm>
            <a:off x="731520" y="1600200"/>
            <a:ext cx="10698480" cy="3291840"/>
          </a:xfrm>
          <a:prstGeom prst="rect">
            <a:avLst/>
          </a:prstGeom>
          <a:noFill/>
          <a:ln/>
        </p:spPr>
        <p:txBody>
          <a:bodyPr wrap="square" rtlCol="0" anchor="ctr"/>
          <a:lstStyle/>
          <a:p>
            <a:pPr indent="0" marL="0">
              <a:buNone/>
            </a:pPr>
            <a:r>
              <a:rPr lang="en-US" sz="1000" dirty="0">
                <a:solidFill>
                  <a:srgbClr val="334155"/>
                </a:solidFill>
              </a:rPr>
              <a:t>• Weeks 01–03 [COMPLETED]: Literature survey, domain analysis, requirement gathering &amp; SLA definition.</a:t>
            </a:r>
            <a:endParaRPr lang="en-US" sz="1000" dirty="0"/>
          </a:p>
          <a:p>
            <a:pPr indent="0" marL="0">
              <a:buNone/>
            </a:pPr>
            <a:endParaRPr lang="en-US" sz="1000" dirty="0"/>
          </a:p>
          <a:p>
            <a:pPr indent="0" marL="0">
              <a:buNone/>
            </a:pPr>
            <a:r>
              <a:rPr lang="en-US" sz="1000" dirty="0">
                <a:solidFill>
                  <a:srgbClr val="334155"/>
                </a:solidFill>
              </a:rPr>
              <a:t>• Weeks 04–06 [COMPLETED]: MongoDB schema architecture, JWT security middleware, and Express API routes.</a:t>
            </a:r>
            <a:endParaRPr lang="en-US" sz="1000" dirty="0"/>
          </a:p>
          <a:p>
            <a:pPr indent="0" marL="0">
              <a:buNone/>
            </a:pPr>
            <a:endParaRPr lang="en-US" sz="1000" dirty="0"/>
          </a:p>
          <a:p>
            <a:pPr indent="0" marL="0">
              <a:buNone/>
            </a:pPr>
            <a:r>
              <a:rPr lang="en-US" sz="1000" dirty="0">
                <a:solidFill>
                  <a:srgbClr val="334155"/>
                </a:solidFill>
              </a:rPr>
              <a:t>• Weeks 07–09 [COMPLETED]: YOLOv8 &amp; Gemini AI model integration alongside 20m spatial deduplication engine.</a:t>
            </a:r>
            <a:endParaRPr lang="en-US" sz="1000" dirty="0"/>
          </a:p>
          <a:p>
            <a:pPr indent="0" marL="0">
              <a:buNone/>
            </a:pPr>
            <a:endParaRPr lang="en-US" sz="1000" dirty="0"/>
          </a:p>
          <a:p>
            <a:pPr indent="0" marL="0">
              <a:buNone/>
            </a:pPr>
            <a:r>
              <a:rPr lang="en-US" sz="1000" dirty="0">
                <a:solidFill>
                  <a:srgbClr val="334155"/>
                </a:solidFill>
              </a:rPr>
              <a:t>• Weeks 10–12 [COMPLETED]: React 19 frontend UI, Leaflet GIS map layers, Ward SLA scorecards &amp; jsPDF export.</a:t>
            </a:r>
            <a:endParaRPr lang="en-US" sz="1000" dirty="0"/>
          </a:p>
          <a:p>
            <a:pPr indent="0" marL="0">
              <a:buNone/>
            </a:pPr>
            <a:endParaRPr lang="en-US" sz="1000" dirty="0"/>
          </a:p>
          <a:p>
            <a:pPr indent="0" marL="0">
              <a:buNone/>
            </a:pPr>
            <a:r>
              <a:rPr lang="en-US" sz="1000" dirty="0">
                <a:solidFill>
                  <a:srgbClr val="334155"/>
                </a:solidFill>
              </a:rPr>
              <a:t>• Weeks 13–14 [CURRENT ★]: Review 1 presentation preparation, code auditing (Oxlint), and live demo verification.</a:t>
            </a:r>
            <a:endParaRPr lang="en-US" sz="1000" dirty="0"/>
          </a:p>
          <a:p>
            <a:pPr indent="0" marL="0">
              <a:buNone/>
            </a:pPr>
            <a:endParaRPr lang="en-US" sz="1000" dirty="0"/>
          </a:p>
          <a:p>
            <a:pPr indent="0" marL="0">
              <a:buNone/>
            </a:pPr>
            <a:r>
              <a:rPr lang="en-US" sz="1000" dirty="0">
                <a:solidFill>
                  <a:srgbClr val="334155"/>
                </a:solidFill>
              </a:rPr>
              <a:t>• Weeks 15–16 [UPCOMING]: PWA Service Worker offline caching, load testing, final report &amp; university defense.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17. Previous Review Suggestions &amp; Action Taken Matrix</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4415" cy="3931920"/>
        </p:xfrm>
        <a:graphic>
          <a:graphicData uri="http://schemas.openxmlformats.org/drawingml/2006/table">
            <a:tbl>
              <a:tblPr/>
              <a:tblGrid>
                <a:gridCol w="3291840"/>
                <a:gridCol w="6248095"/>
                <a:gridCol w="1554480"/>
              </a:tblGrid>
              <a:tr h="786384">
                <a:tc>
                  <a:txBody>
                    <a:bodyPr/>
                    <a:lstStyle/>
                    <a:p>
                      <a:pPr indent="0" marL="0">
                        <a:buNone/>
                      </a:pPr>
                      <a:r>
                        <a:rPr lang="en-US" sz="950" b="1" dirty="0">
                          <a:solidFill>
                            <a:srgbClr val="FFFFFF"/>
                          </a:solidFill>
                          <a:latin typeface="Arial" pitchFamily="34" charset="0"/>
                          <a:ea typeface="Arial" pitchFamily="34" charset="-122"/>
                          <a:cs typeface="Arial" pitchFamily="34" charset="-120"/>
                        </a:rPr>
                        <a:t>Previous Faculty Suggestion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Action Taken / Technical Improvement</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Status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786384">
                <a:tc>
                  <a:txBody>
                    <a:bodyPr/>
                    <a:lstStyle/>
                    <a:p>
                      <a:pPr indent="0" marL="0">
                        <a:buNone/>
                      </a:pPr>
                      <a:r>
                        <a:rPr lang="en-US" sz="950" dirty="0">
                          <a:solidFill>
                            <a:srgbClr val="000000"/>
                          </a:solidFill>
                          <a:latin typeface="Arial" pitchFamily="34" charset="0"/>
                          <a:ea typeface="Arial" pitchFamily="34" charset="-122"/>
                          <a:cs typeface="Arial" pitchFamily="34" charset="-120"/>
                        </a:rPr>
                        <a:t>1. Avoid misclassifying non-civic photos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Integrated dual-tier verification: YOLOv8 edge detection + Gemini Vision API to reject non-civic uploads.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b="1" dirty="0">
                          <a:solidFill>
                            <a:srgbClr val="10B981"/>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86384">
                <a:tc>
                  <a:txBody>
                    <a:bodyPr/>
                    <a:lstStyle/>
                    <a:p>
                      <a:pPr indent="0" marL="0">
                        <a:buNone/>
                      </a:pPr>
                      <a:r>
                        <a:rPr lang="en-US" sz="950" dirty="0">
                          <a:solidFill>
                            <a:srgbClr val="000000"/>
                          </a:solidFill>
                          <a:latin typeface="Arial" pitchFamily="34" charset="0"/>
                          <a:ea typeface="Arial" pitchFamily="34" charset="-122"/>
                          <a:cs typeface="Arial" pitchFamily="34" charset="-120"/>
                        </a:rPr>
                        <a:t>2. Avoid DB overload from duplicate complaints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Implemented 20m spatial radius check ($geoWithin) auto-linking duplicate photos &amp; updating upvotes.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b="1" dirty="0">
                          <a:solidFill>
                            <a:srgbClr val="10B981"/>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86384">
                <a:tc>
                  <a:txBody>
                    <a:bodyPr/>
                    <a:lstStyle/>
                    <a:p>
                      <a:pPr indent="0" marL="0">
                        <a:buNone/>
                      </a:pPr>
                      <a:r>
                        <a:rPr lang="en-US" sz="950" dirty="0">
                          <a:solidFill>
                            <a:srgbClr val="000000"/>
                          </a:solidFill>
                          <a:latin typeface="Arial" pitchFamily="34" charset="0"/>
                          <a:ea typeface="Arial" pitchFamily="34" charset="-122"/>
                          <a:cs typeface="Arial" pitchFamily="34" charset="-120"/>
                        </a:rPr>
                        <a:t>3. Provide quantifiable governance metrics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Developed Ward SLA Scorecards for Ward A, H-West, G-South, K-East with SLA compliance badges.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b="1" dirty="0">
                          <a:solidFill>
                            <a:srgbClr val="10B981"/>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86384">
                <a:tc>
                  <a:txBody>
                    <a:bodyPr/>
                    <a:lstStyle/>
                    <a:p>
                      <a:pPr indent="0" marL="0">
                        <a:buNone/>
                      </a:pPr>
                      <a:r>
                        <a:rPr lang="en-US" sz="950" dirty="0">
                          <a:solidFill>
                            <a:srgbClr val="000000"/>
                          </a:solidFill>
                          <a:latin typeface="Arial" pitchFamily="34" charset="0"/>
                          <a:ea typeface="Arial" pitchFamily="34" charset="-122"/>
                          <a:cs typeface="Arial" pitchFamily="34" charset="-120"/>
                        </a:rPr>
                        <a:t>4. Enable audit report downloading for officers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Built client-side vector PDF report generator (jsPDF + AutoTable) producing executive audit downloads.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b="1" dirty="0">
                          <a:solidFill>
                            <a:srgbClr val="10B981"/>
                          </a:solidFill>
                          <a:latin typeface="Arial" pitchFamily="34" charset="0"/>
                          <a:ea typeface="Arial" pitchFamily="34" charset="-122"/>
                          <a:cs typeface="Arial" pitchFamily="34" charset="-120"/>
                        </a:rPr>
                        <a:t>COMPLETED ✓</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18. Progress Verification After Previous Review</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5394960" cy="3931920"/>
          </a:xfrm>
          <a:prstGeom prst="roundRect">
            <a:avLst>
              <a:gd name="adj" fmla="val 930"/>
            </a:avLst>
          </a:prstGeom>
          <a:solidFill>
            <a:srgbClr val="F8FAFC"/>
          </a:solidFill>
          <a:ln w="12700">
            <a:solidFill>
              <a:srgbClr val="E2E8F0"/>
            </a:solidFill>
            <a:prstDash val="solid"/>
          </a:ln>
        </p:spPr>
      </p:sp>
      <p:sp>
        <p:nvSpPr>
          <p:cNvPr id="6" name="Text 4"/>
          <p:cNvSpPr/>
          <p:nvPr/>
        </p:nvSpPr>
        <p:spPr>
          <a:xfrm>
            <a:off x="731520" y="1234440"/>
            <a:ext cx="5029200" cy="274320"/>
          </a:xfrm>
          <a:prstGeom prst="rect">
            <a:avLst/>
          </a:prstGeom>
          <a:noFill/>
          <a:ln/>
        </p:spPr>
        <p:txBody>
          <a:bodyPr wrap="square" rtlCol="0" anchor="ctr"/>
          <a:lstStyle/>
          <a:p>
            <a:pPr indent="0" marL="0">
              <a:buNone/>
            </a:pPr>
            <a:r>
              <a:rPr lang="en-US" sz="1200" b="1" dirty="0">
                <a:solidFill>
                  <a:srgbClr val="0F172A"/>
                </a:solidFill>
              </a:rPr>
              <a:t>BEFORE PREVIOUS REVIEW</a:t>
            </a:r>
            <a:endParaRPr lang="en-US" sz="1200" dirty="0"/>
          </a:p>
        </p:txBody>
      </p:sp>
      <p:sp>
        <p:nvSpPr>
          <p:cNvPr id="7" name="Text 5"/>
          <p:cNvSpPr/>
          <p:nvPr/>
        </p:nvSpPr>
        <p:spPr>
          <a:xfrm>
            <a:off x="731520" y="1600200"/>
            <a:ext cx="5029200" cy="3291840"/>
          </a:xfrm>
          <a:prstGeom prst="rect">
            <a:avLst/>
          </a:prstGeom>
          <a:noFill/>
          <a:ln/>
        </p:spPr>
        <p:txBody>
          <a:bodyPr wrap="square" rtlCol="0" anchor="ctr"/>
          <a:lstStyle/>
          <a:p>
            <a:pPr indent="0" marL="0">
              <a:buNone/>
            </a:pPr>
            <a:r>
              <a:rPr lang="en-US" sz="1050" dirty="0">
                <a:solidFill>
                  <a:srgbClr val="334155"/>
                </a:solidFill>
              </a:rPr>
              <a:t>• Initial Concept</a:t>
            </a:r>
            <a:endParaRPr lang="en-US" sz="1050" dirty="0"/>
          </a:p>
          <a:p>
            <a:pPr indent="0" marL="0">
              <a:buNone/>
            </a:pPr>
            <a:r>
              <a:rPr lang="en-US" sz="1050" dirty="0">
                <a:solidFill>
                  <a:srgbClr val="334155"/>
                </a:solidFill>
              </a:rPr>
              <a:t>  Static HTML wireframes &amp; unintegrated idea description.</a:t>
            </a:r>
            <a:endParaRPr lang="en-US" sz="1050" dirty="0"/>
          </a:p>
          <a:p>
            <a:pPr indent="0" marL="0">
              <a:buNone/>
            </a:pPr>
            <a:endParaRPr lang="en-US" sz="1050" dirty="0"/>
          </a:p>
          <a:p>
            <a:pPr indent="0" marL="0">
              <a:buNone/>
            </a:pPr>
            <a:r>
              <a:rPr lang="en-US" sz="1050" dirty="0">
                <a:solidFill>
                  <a:srgbClr val="334155"/>
                </a:solidFill>
              </a:rPr>
              <a:t>• Mock Scripts</a:t>
            </a:r>
            <a:endParaRPr lang="en-US" sz="1050" dirty="0"/>
          </a:p>
          <a:p>
            <a:pPr indent="0" marL="0">
              <a:buNone/>
            </a:pPr>
            <a:r>
              <a:rPr lang="en-US" sz="1050" dirty="0">
                <a:solidFill>
                  <a:srgbClr val="334155"/>
                </a:solidFill>
              </a:rPr>
              <a:t>  Unintegrated database mock scripts without spatial query math.</a:t>
            </a:r>
            <a:endParaRPr lang="en-US" sz="1050" dirty="0"/>
          </a:p>
          <a:p>
            <a:pPr indent="0" marL="0">
              <a:buNone/>
            </a:pPr>
            <a:endParaRPr lang="en-US" sz="1050" dirty="0"/>
          </a:p>
          <a:p>
            <a:pPr indent="0" marL="0">
              <a:buNone/>
            </a:pPr>
            <a:r>
              <a:rPr lang="en-US" sz="1050" dirty="0">
                <a:solidFill>
                  <a:srgbClr val="334155"/>
                </a:solidFill>
              </a:rPr>
              <a:t>• No Automation</a:t>
            </a:r>
            <a:endParaRPr lang="en-US" sz="1050" dirty="0"/>
          </a:p>
          <a:p>
            <a:pPr indent="0" marL="0">
              <a:buNone/>
            </a:pPr>
            <a:r>
              <a:rPr lang="en-US" sz="1050" dirty="0">
                <a:solidFill>
                  <a:srgbClr val="334155"/>
                </a:solidFill>
              </a:rPr>
              <a:t>  Zero automated AI vision triage or SLA countdown timer logic.</a:t>
            </a:r>
            <a:endParaRPr lang="en-US" sz="1050" dirty="0"/>
          </a:p>
        </p:txBody>
      </p:sp>
      <p:sp>
        <p:nvSpPr>
          <p:cNvPr id="8" name="Shape 6"/>
          <p:cNvSpPr/>
          <p:nvPr/>
        </p:nvSpPr>
        <p:spPr>
          <a:xfrm>
            <a:off x="6248095" y="1097280"/>
            <a:ext cx="5394960" cy="3931920"/>
          </a:xfrm>
          <a:prstGeom prst="roundRect">
            <a:avLst>
              <a:gd name="adj" fmla="val 930"/>
            </a:avLst>
          </a:prstGeom>
          <a:solidFill>
            <a:srgbClr val="F8FAFC"/>
          </a:solidFill>
          <a:ln w="12700">
            <a:solidFill>
              <a:srgbClr val="E2E8F0"/>
            </a:solidFill>
            <a:prstDash val="solid"/>
          </a:ln>
        </p:spPr>
      </p:sp>
      <p:sp>
        <p:nvSpPr>
          <p:cNvPr id="9" name="Text 7"/>
          <p:cNvSpPr/>
          <p:nvPr/>
        </p:nvSpPr>
        <p:spPr>
          <a:xfrm>
            <a:off x="6430975" y="1234440"/>
            <a:ext cx="5029200" cy="274320"/>
          </a:xfrm>
          <a:prstGeom prst="rect">
            <a:avLst/>
          </a:prstGeom>
          <a:noFill/>
          <a:ln/>
        </p:spPr>
        <p:txBody>
          <a:bodyPr wrap="square" rtlCol="0" anchor="ctr"/>
          <a:lstStyle/>
          <a:p>
            <a:pPr indent="0" marL="0">
              <a:buNone/>
            </a:pPr>
            <a:r>
              <a:rPr lang="en-US" sz="1200" b="1" dirty="0">
                <a:solidFill>
                  <a:srgbClr val="10B981"/>
                </a:solidFill>
              </a:rPr>
              <a:t>WORK COMPLETED AFTER REVIEW (VERIFIED)</a:t>
            </a:r>
            <a:endParaRPr lang="en-US" sz="1200" dirty="0"/>
          </a:p>
        </p:txBody>
      </p:sp>
      <p:sp>
        <p:nvSpPr>
          <p:cNvPr id="10" name="Text 8"/>
          <p:cNvSpPr/>
          <p:nvPr/>
        </p:nvSpPr>
        <p:spPr>
          <a:xfrm>
            <a:off x="6430975" y="1600200"/>
            <a:ext cx="5029200" cy="3291840"/>
          </a:xfrm>
          <a:prstGeom prst="rect">
            <a:avLst/>
          </a:prstGeom>
          <a:noFill/>
          <a:ln/>
        </p:spPr>
        <p:txBody>
          <a:bodyPr wrap="square" rtlCol="0" anchor="ctr"/>
          <a:lstStyle/>
          <a:p>
            <a:pPr indent="0" marL="0">
              <a:buNone/>
            </a:pPr>
            <a:r>
              <a:rPr lang="en-US" sz="1050" dirty="0">
                <a:solidFill>
                  <a:srgbClr val="334155"/>
                </a:solidFill>
              </a:rPr>
              <a:t>• Backend &amp; Spatial DB</a:t>
            </a:r>
            <a:endParaRPr lang="en-US" sz="1050" dirty="0"/>
          </a:p>
          <a:p>
            <a:pPr indent="0" marL="0">
              <a:buNone/>
            </a:pPr>
            <a:r>
              <a:rPr lang="en-US" sz="1050" dirty="0">
                <a:solidFill>
                  <a:srgbClr val="334155"/>
                </a:solidFill>
              </a:rPr>
              <a:t>  Node.js API &amp; MongoDB GeoJSON 20m spatial engine fully implemented.</a:t>
            </a:r>
            <a:endParaRPr lang="en-US" sz="1050" dirty="0"/>
          </a:p>
          <a:p>
            <a:pPr indent="0" marL="0">
              <a:buNone/>
            </a:pPr>
            <a:endParaRPr lang="en-US" sz="1050" dirty="0"/>
          </a:p>
          <a:p>
            <a:pPr indent="0" marL="0">
              <a:buNone/>
            </a:pPr>
            <a:r>
              <a:rPr lang="en-US" sz="1050" dirty="0">
                <a:solidFill>
                  <a:srgbClr val="334155"/>
                </a:solidFill>
              </a:rPr>
              <a:t>• AI Triage Pipeline</a:t>
            </a:r>
            <a:endParaRPr lang="en-US" sz="1050" dirty="0"/>
          </a:p>
          <a:p>
            <a:pPr indent="0" marL="0">
              <a:buNone/>
            </a:pPr>
            <a:r>
              <a:rPr lang="en-US" sz="1050" dirty="0">
                <a:solidFill>
                  <a:srgbClr val="334155"/>
                </a:solidFill>
              </a:rPr>
              <a:t>  YOLOv8 + Gemini Pro Vision classification pipeline integrated.</a:t>
            </a:r>
            <a:endParaRPr lang="en-US" sz="1050" dirty="0"/>
          </a:p>
          <a:p>
            <a:pPr indent="0" marL="0">
              <a:buNone/>
            </a:pPr>
            <a:endParaRPr lang="en-US" sz="1050" dirty="0"/>
          </a:p>
          <a:p>
            <a:pPr indent="0" marL="0">
              <a:buNone/>
            </a:pPr>
            <a:r>
              <a:rPr lang="en-US" sz="1050" dirty="0">
                <a:solidFill>
                  <a:srgbClr val="334155"/>
                </a:solidFill>
              </a:rPr>
              <a:t>• GIS Map &amp; Governance</a:t>
            </a:r>
            <a:endParaRPr lang="en-US" sz="1050" dirty="0"/>
          </a:p>
          <a:p>
            <a:pPr indent="0" marL="0">
              <a:buNone/>
            </a:pPr>
            <a:r>
              <a:rPr lang="en-US" sz="1050" dirty="0">
                <a:solidFill>
                  <a:srgbClr val="334155"/>
                </a:solidFill>
              </a:rPr>
              <a:t>  Leaflet GIS public map layer &amp; Ward SLA scorecards completed.</a:t>
            </a:r>
            <a:endParaRPr lang="en-US" sz="1050" dirty="0"/>
          </a:p>
          <a:p>
            <a:pPr indent="0" marL="0">
              <a:buNone/>
            </a:pPr>
            <a:endParaRPr lang="en-US" sz="1050" dirty="0"/>
          </a:p>
          <a:p>
            <a:pPr indent="0" marL="0">
              <a:buNone/>
            </a:pPr>
            <a:r>
              <a:rPr lang="en-US" sz="1050" dirty="0">
                <a:solidFill>
                  <a:srgbClr val="334155"/>
                </a:solidFill>
              </a:rPr>
              <a:t>• PDF Audit Exports</a:t>
            </a:r>
            <a:endParaRPr lang="en-US" sz="1050" dirty="0"/>
          </a:p>
          <a:p>
            <a:pPr indent="0" marL="0">
              <a:buNone/>
            </a:pPr>
            <a:r>
              <a:rPr lang="en-US" sz="1050" dirty="0">
                <a:solidFill>
                  <a:srgbClr val="334155"/>
                </a:solidFill>
              </a:rPr>
              <a:t>  Client-side jsPDF executive ward governance report generator created.</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19. Verified Code Implementation Proof</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5394960" cy="3931920"/>
          </a:xfrm>
          <a:prstGeom prst="roundRect">
            <a:avLst>
              <a:gd name="adj" fmla="val 930"/>
            </a:avLst>
          </a:prstGeom>
          <a:solidFill>
            <a:srgbClr val="F8FAFC"/>
          </a:solidFill>
          <a:ln w="12700">
            <a:solidFill>
              <a:srgbClr val="E2E8F0"/>
            </a:solidFill>
            <a:prstDash val="solid"/>
          </a:ln>
        </p:spPr>
      </p:sp>
      <p:sp>
        <p:nvSpPr>
          <p:cNvPr id="6" name="Text 4"/>
          <p:cNvSpPr/>
          <p:nvPr/>
        </p:nvSpPr>
        <p:spPr>
          <a:xfrm>
            <a:off x="731520" y="1234440"/>
            <a:ext cx="5029200" cy="274320"/>
          </a:xfrm>
          <a:prstGeom prst="rect">
            <a:avLst/>
          </a:prstGeom>
          <a:noFill/>
          <a:ln/>
        </p:spPr>
        <p:txBody>
          <a:bodyPr wrap="square" rtlCol="0" anchor="ctr"/>
          <a:lstStyle/>
          <a:p>
            <a:pPr indent="0" marL="0">
              <a:buNone/>
            </a:pPr>
            <a:r>
              <a:rPr lang="en-US" sz="1100" b="1" dirty="0">
                <a:solidFill>
                  <a:srgbClr val="0F172A"/>
                </a:solidFill>
              </a:rPr>
              <a:t>1. Spatial Deduplication (complaintController.js)</a:t>
            </a:r>
            <a:endParaRPr lang="en-US" sz="1100" dirty="0"/>
          </a:p>
        </p:txBody>
      </p:sp>
      <p:sp>
        <p:nvSpPr>
          <p:cNvPr id="7" name="Text 5"/>
          <p:cNvSpPr/>
          <p:nvPr/>
        </p:nvSpPr>
        <p:spPr>
          <a:xfrm>
            <a:off x="731520" y="1600200"/>
            <a:ext cx="5029200" cy="3291840"/>
          </a:xfrm>
          <a:prstGeom prst="rect">
            <a:avLst/>
          </a:prstGeom>
          <a:noFill/>
          <a:ln/>
        </p:spPr>
        <p:txBody>
          <a:bodyPr wrap="square" rtlCol="0" anchor="ctr"/>
          <a:lstStyle/>
          <a:p>
            <a:pPr indent="0" marL="0">
              <a:buNone/>
            </a:pPr>
            <a:r>
              <a:rPr lang="en-US" sz="950" dirty="0">
                <a:solidFill>
                  <a:srgbClr val="0F172A"/>
                </a:solidFill>
                <a:latin typeface="Courier New" pitchFamily="34" charset="0"/>
                <a:ea typeface="Courier New" pitchFamily="34" charset="-122"/>
                <a:cs typeface="Courier New" pitchFamily="34" charset="-120"/>
              </a:rPr>
              <a:t>const degRadius = 0.0002; // ~20m radius</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const duplicateQuery = {</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  category: targetCategory,</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  status: { $in: ['pending', 'ai_verified', 'assigned', 'in_progress'] },</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  $or: [</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    { 'location.coordinates': { $geoWithin: { $centerSphere: [[parsedLng, parsedLat], 20 / 6378137] } } }</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a:t>
            </a:r>
            <a:endParaRPr lang="en-US" sz="950" dirty="0"/>
          </a:p>
        </p:txBody>
      </p:sp>
      <p:sp>
        <p:nvSpPr>
          <p:cNvPr id="8" name="Shape 6"/>
          <p:cNvSpPr/>
          <p:nvPr/>
        </p:nvSpPr>
        <p:spPr>
          <a:xfrm>
            <a:off x="6248095" y="1097280"/>
            <a:ext cx="5394960" cy="3931920"/>
          </a:xfrm>
          <a:prstGeom prst="roundRect">
            <a:avLst>
              <a:gd name="adj" fmla="val 930"/>
            </a:avLst>
          </a:prstGeom>
          <a:solidFill>
            <a:srgbClr val="F8FAFC"/>
          </a:solidFill>
          <a:ln w="12700">
            <a:solidFill>
              <a:srgbClr val="E2E8F0"/>
            </a:solidFill>
            <a:prstDash val="solid"/>
          </a:ln>
        </p:spPr>
      </p:sp>
      <p:sp>
        <p:nvSpPr>
          <p:cNvPr id="9" name="Text 7"/>
          <p:cNvSpPr/>
          <p:nvPr/>
        </p:nvSpPr>
        <p:spPr>
          <a:xfrm>
            <a:off x="6430975" y="1234440"/>
            <a:ext cx="5029200" cy="274320"/>
          </a:xfrm>
          <a:prstGeom prst="rect">
            <a:avLst/>
          </a:prstGeom>
          <a:noFill/>
          <a:ln/>
        </p:spPr>
        <p:txBody>
          <a:bodyPr wrap="square" rtlCol="0" anchor="ctr"/>
          <a:lstStyle/>
          <a:p>
            <a:pPr indent="0" marL="0">
              <a:buNone/>
            </a:pPr>
            <a:r>
              <a:rPr lang="en-US" sz="1100" b="1" dirty="0">
                <a:solidFill>
                  <a:srgbClr val="0F172A"/>
                </a:solidFill>
              </a:rPr>
              <a:t>2. Ward SLA Math (adminController.js)</a:t>
            </a:r>
            <a:endParaRPr lang="en-US" sz="1100" dirty="0"/>
          </a:p>
        </p:txBody>
      </p:sp>
      <p:sp>
        <p:nvSpPr>
          <p:cNvPr id="10" name="Text 8"/>
          <p:cNvSpPr/>
          <p:nvPr/>
        </p:nvSpPr>
        <p:spPr>
          <a:xfrm>
            <a:off x="6430975" y="1600200"/>
            <a:ext cx="5029200" cy="3291840"/>
          </a:xfrm>
          <a:prstGeom prst="rect">
            <a:avLst/>
          </a:prstGeom>
          <a:noFill/>
          <a:ln/>
        </p:spPr>
        <p:txBody>
          <a:bodyPr wrap="square" rtlCol="0" anchor="ctr"/>
          <a:lstStyle/>
          <a:p>
            <a:pPr indent="0" marL="0">
              <a:buNone/>
            </a:pPr>
            <a:r>
              <a:rPr lang="en-US" sz="950" dirty="0">
                <a:solidFill>
                  <a:srgbClr val="0F172A"/>
                </a:solidFill>
                <a:latin typeface="Courier New" pitchFamily="34" charset="0"/>
                <a:ea typeface="Courier New" pitchFamily="34" charset="-122"/>
                <a:cs typeface="Courier New" pitchFamily="34" charset="-120"/>
              </a:rPr>
              <a:t>// Calculate Ward Performance Score (% tickets resolved within SLA)</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const resolvedInSla = wardComplaints.filter(c =&gt; </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  c.status === 'resolved' &amp;&amp; c.resolutionTimeHours &lt;= c.slaDeadlineHours</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).length;</a:t>
            </a:r>
            <a:endParaRPr lang="en-US" sz="950" dirty="0"/>
          </a:p>
          <a:p>
            <a:pPr indent="0" marL="0">
              <a:buNone/>
            </a:pP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const totalWardResolved = wardComplaints.filter(c =&gt; c.status === 'resolved').length;</a:t>
            </a:r>
            <a:endParaRPr lang="en-US" sz="950" dirty="0"/>
          </a:p>
          <a:p>
            <a:pPr indent="0" marL="0">
              <a:buNone/>
            </a:pPr>
            <a:r>
              <a:rPr lang="en-US" sz="950" dirty="0">
                <a:solidFill>
                  <a:srgbClr val="0F172A"/>
                </a:solidFill>
                <a:latin typeface="Courier New" pitchFamily="34" charset="0"/>
                <a:ea typeface="Courier New" pitchFamily="34" charset="-122"/>
                <a:cs typeface="Courier New" pitchFamily="34" charset="-120"/>
              </a:rPr>
              <a:t>const score = totalWardResolved &gt; 0 ? Math.round((resolvedInSla / totalWardResolved) * 100) : 100;</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20. Live System Execution &amp; Demo Credentials</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4415" cy="3931920"/>
        </p:xfrm>
        <a:graphic>
          <a:graphicData uri="http://schemas.openxmlformats.org/drawingml/2006/table">
            <a:tbl>
              <a:tblPr/>
              <a:tblGrid>
                <a:gridCol w="1645920"/>
                <a:gridCol w="2560320"/>
                <a:gridCol w="1828800"/>
                <a:gridCol w="5059375"/>
              </a:tblGrid>
              <a:tr h="786384">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Role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Login Email Address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Password</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Privileges &amp; Verifiable Features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786384">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Admin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admin@bmc.gov.in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password123</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Full Command Center, PDF Audits, Ward Leaderboard Scorecards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86384">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Officer</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officer@bmc.gov.in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password123</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Ward Triage, Ticket Assignment, SLA Escalation Controls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86384">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Worker</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worker@bmc.gov.in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password123</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Field Queue, WebRTC Live Resolution Proof Photo Upload</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86384">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Citizen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citizen@bmc.gov.in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password123</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Ticket Filing, Web Speech Voice Input, 5-Step Stepper Tracking</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21. Implementation Status Matrix</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11094415" cy="3931920"/>
          </a:xfrm>
          <a:prstGeom prst="roundRect">
            <a:avLst>
              <a:gd name="adj" fmla="val 930"/>
            </a:avLst>
          </a:prstGeom>
          <a:solidFill>
            <a:srgbClr val="F8FAFC"/>
          </a:solidFill>
          <a:ln w="12700">
            <a:solidFill>
              <a:srgbClr val="E2E8F0"/>
            </a:solidFill>
            <a:prstDash val="solid"/>
          </a:ln>
        </p:spPr>
      </p:sp>
      <p:sp>
        <p:nvSpPr>
          <p:cNvPr id="6" name="Text 4"/>
          <p:cNvSpPr/>
          <p:nvPr/>
        </p:nvSpPr>
        <p:spPr>
          <a:xfrm>
            <a:off x="731520" y="1234440"/>
            <a:ext cx="10698480" cy="274320"/>
          </a:xfrm>
          <a:prstGeom prst="rect">
            <a:avLst/>
          </a:prstGeom>
          <a:noFill/>
          <a:ln/>
        </p:spPr>
        <p:txBody>
          <a:bodyPr wrap="square" rtlCol="0" anchor="ctr"/>
          <a:lstStyle/>
          <a:p>
            <a:pPr indent="0" marL="0">
              <a:buNone/>
            </a:pPr>
            <a:r>
              <a:rPr lang="en-US" sz="1200" b="1" dirty="0">
                <a:solidFill>
                  <a:srgbClr val="10B981"/>
                </a:solidFill>
              </a:rPr>
              <a:t>VERIFIED MODULE IMPLEMENTATION PERCENTAGES</a:t>
            </a:r>
            <a:endParaRPr lang="en-US" sz="1200" dirty="0"/>
          </a:p>
        </p:txBody>
      </p:sp>
      <p:sp>
        <p:nvSpPr>
          <p:cNvPr id="7" name="Text 5"/>
          <p:cNvSpPr/>
          <p:nvPr/>
        </p:nvSpPr>
        <p:spPr>
          <a:xfrm>
            <a:off x="731520" y="1600200"/>
            <a:ext cx="10698480" cy="3291840"/>
          </a:xfrm>
          <a:prstGeom prst="rect">
            <a:avLst/>
          </a:prstGeom>
          <a:noFill/>
          <a:ln/>
        </p:spPr>
        <p:txBody>
          <a:bodyPr wrap="square" rtlCol="0" anchor="ctr"/>
          <a:lstStyle/>
          <a:p>
            <a:pPr indent="0" marL="0">
              <a:buNone/>
            </a:pPr>
            <a:r>
              <a:rPr lang="en-US" sz="1000" dirty="0">
                <a:solidFill>
                  <a:srgbClr val="334155"/>
                </a:solidFill>
              </a:rPr>
              <a:t>• Authentication &amp; Security Stack: 100% Completed — JWT, BCrypt, Rate Limiter, Helmet Security</a:t>
            </a:r>
            <a:endParaRPr lang="en-US" sz="1000" dirty="0"/>
          </a:p>
          <a:p>
            <a:pPr indent="0" marL="0">
              <a:buNone/>
            </a:pPr>
            <a:endParaRPr lang="en-US" sz="1000" dirty="0"/>
          </a:p>
          <a:p>
            <a:pPr indent="0" marL="0">
              <a:buNone/>
            </a:pPr>
            <a:r>
              <a:rPr lang="en-US" sz="1000" dirty="0">
                <a:solidFill>
                  <a:srgbClr val="334155"/>
                </a:solidFill>
              </a:rPr>
              <a:t>• Citizen Portal &amp; Voice Input: 100% Completed — React 19, Web Speech API dictation, i18n</a:t>
            </a:r>
            <a:endParaRPr lang="en-US" sz="1000" dirty="0"/>
          </a:p>
          <a:p>
            <a:pPr indent="0" marL="0">
              <a:buNone/>
            </a:pPr>
            <a:endParaRPr lang="en-US" sz="1000" dirty="0"/>
          </a:p>
          <a:p>
            <a:pPr indent="0" marL="0">
              <a:buNone/>
            </a:pPr>
            <a:r>
              <a:rPr lang="en-US" sz="1000" dirty="0">
                <a:solidFill>
                  <a:srgbClr val="334155"/>
                </a:solidFill>
              </a:rPr>
              <a:t>• YOLOv8 + Gemini AI Vision Triage: 95% Completed — Python model runner &amp; Gemini Pro Vision API</a:t>
            </a:r>
            <a:endParaRPr lang="en-US" sz="1000" dirty="0"/>
          </a:p>
          <a:p>
            <a:pPr indent="0" marL="0">
              <a:buNone/>
            </a:pPr>
            <a:endParaRPr lang="en-US" sz="1000" dirty="0"/>
          </a:p>
          <a:p>
            <a:pPr indent="0" marL="0">
              <a:buNone/>
            </a:pPr>
            <a:r>
              <a:rPr lang="en-US" sz="1000" dirty="0">
                <a:solidFill>
                  <a:srgbClr val="334155"/>
                </a:solidFill>
              </a:rPr>
              <a:t>• 20m Spatial Proximity Engine: 100% Completed — MongoDB GeoJSON $geoWithin 0.0002° spherical radius</a:t>
            </a:r>
            <a:endParaRPr lang="en-US" sz="1000" dirty="0"/>
          </a:p>
          <a:p>
            <a:pPr indent="0" marL="0">
              <a:buNone/>
            </a:pPr>
            <a:endParaRPr lang="en-US" sz="1000" dirty="0"/>
          </a:p>
          <a:p>
            <a:pPr indent="0" marL="0">
              <a:buNone/>
            </a:pPr>
            <a:r>
              <a:rPr lang="en-US" sz="1000" dirty="0">
                <a:solidFill>
                  <a:srgbClr val="334155"/>
                </a:solidFill>
              </a:rPr>
              <a:t>• GIS Leaflet Interactive Map: 100% Completed — OpenStreetMap tile layer with multi-parameter filters</a:t>
            </a:r>
            <a:endParaRPr lang="en-US" sz="1000" dirty="0"/>
          </a:p>
          <a:p>
            <a:pPr indent="0" marL="0">
              <a:buNone/>
            </a:pPr>
            <a:endParaRPr lang="en-US" sz="1000" dirty="0"/>
          </a:p>
          <a:p>
            <a:pPr indent="0" marL="0">
              <a:buNone/>
            </a:pPr>
            <a:r>
              <a:rPr lang="en-US" sz="1000" dirty="0">
                <a:solidFill>
                  <a:srgbClr val="334155"/>
                </a:solidFill>
              </a:rPr>
              <a:t>• Ward Governance SLA Scorecard: 100% Completed — Live ward SLA score calculation &amp; leaderboard</a:t>
            </a:r>
            <a:endParaRPr lang="en-US" sz="1000" dirty="0"/>
          </a:p>
          <a:p>
            <a:pPr indent="0" marL="0">
              <a:buNone/>
            </a:pPr>
            <a:endParaRPr lang="en-US" sz="1000" dirty="0"/>
          </a:p>
          <a:p>
            <a:pPr indent="0" marL="0">
              <a:buNone/>
            </a:pPr>
            <a:r>
              <a:rPr lang="en-US" sz="1000" dirty="0">
                <a:solidFill>
                  <a:srgbClr val="334155"/>
                </a:solidFill>
              </a:rPr>
              <a:t>• Executive PDF Audit Generator: 100% Completed — Client-side vector PDF downloads via jsPDF</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22. Individual Team Member Contribution</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4415" cy="3931920"/>
        </p:xfrm>
        <a:graphic>
          <a:graphicData uri="http://schemas.openxmlformats.org/drawingml/2006/table">
            <a:tbl>
              <a:tblPr/>
              <a:tblGrid>
                <a:gridCol w="2011680"/>
                <a:gridCol w="1463040"/>
                <a:gridCol w="3474720"/>
                <a:gridCol w="4144975"/>
              </a:tblGrid>
              <a:tr h="786384">
                <a:tc>
                  <a:txBody>
                    <a:bodyPr/>
                    <a:lstStyle/>
                    <a:p>
                      <a:pPr indent="0" marL="0">
                        <a:buNone/>
                      </a:pPr>
                      <a:r>
                        <a:rPr lang="en-US" sz="950" b="1" dirty="0">
                          <a:solidFill>
                            <a:srgbClr val="FFFFFF"/>
                          </a:solidFill>
                          <a:latin typeface="Arial" pitchFamily="34" charset="0"/>
                          <a:ea typeface="Arial" pitchFamily="34" charset="-122"/>
                          <a:cs typeface="Arial" pitchFamily="34" charset="-120"/>
                        </a:rPr>
                        <a:t>Team Member</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ID Number</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Primary Role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Completed Contributions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786384">
                <a:tc>
                  <a:txBody>
                    <a:bodyPr/>
                    <a:lstStyle/>
                    <a:p>
                      <a:pPr indent="0" marL="0">
                        <a:buNone/>
                      </a:pPr>
                      <a:r>
                        <a:rPr lang="en-US" sz="950" dirty="0">
                          <a:solidFill>
                            <a:srgbClr val="000000"/>
                          </a:solidFill>
                          <a:latin typeface="Arial" pitchFamily="34" charset="0"/>
                          <a:ea typeface="Arial" pitchFamily="34" charset="-122"/>
                          <a:cs typeface="Arial" pitchFamily="34" charset="-120"/>
                        </a:rPr>
                        <a:t>NIKHIL THANGE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VU4F2324090</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AI Pipeline &amp; Spatial Engine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YOLOv8 &amp; Gemini model runner, 20m spatial deduplication engine.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86384">
                <a:tc>
                  <a:txBody>
                    <a:bodyPr/>
                    <a:lstStyle/>
                    <a:p>
                      <a:pPr indent="0" marL="0">
                        <a:buNone/>
                      </a:pPr>
                      <a:r>
                        <a:rPr lang="en-US" sz="950" dirty="0">
                          <a:solidFill>
                            <a:srgbClr val="000000"/>
                          </a:solidFill>
                          <a:latin typeface="Arial" pitchFamily="34" charset="0"/>
                          <a:ea typeface="Arial" pitchFamily="34" charset="-122"/>
                          <a:cs typeface="Arial" pitchFamily="34" charset="-120"/>
                        </a:rPr>
                        <a:t>NIKHIL SABLE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VU4F2324096</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Full-Stack Architect &amp; API</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Express REST API, Mongoose schemas, JWT auth, SLA score calculation logic.</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86384">
                <a:tc>
                  <a:txBody>
                    <a:bodyPr/>
                    <a:lstStyle/>
                    <a:p>
                      <a:pPr indent="0" marL="0">
                        <a:buNone/>
                      </a:pPr>
                      <a:r>
                        <a:rPr lang="en-US" sz="950" dirty="0">
                          <a:solidFill>
                            <a:srgbClr val="000000"/>
                          </a:solidFill>
                          <a:latin typeface="Arial" pitchFamily="34" charset="0"/>
                          <a:ea typeface="Arial" pitchFamily="34" charset="-122"/>
                          <a:cs typeface="Arial" pitchFamily="34" charset="-120"/>
                        </a:rPr>
                        <a:t>ALOK PANDEY</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VU4F2324138</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GIS Map &amp; UI Specialist</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React 19 UI, Leaflet GIS map layer, tri-lingual i18n, Web Speech dictation.</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86384">
                <a:tc>
                  <a:txBody>
                    <a:bodyPr/>
                    <a:lstStyle/>
                    <a:p>
                      <a:pPr indent="0" marL="0">
                        <a:buNone/>
                      </a:pPr>
                      <a:r>
                        <a:rPr lang="en-US" sz="950" dirty="0">
                          <a:solidFill>
                            <a:srgbClr val="000000"/>
                          </a:solidFill>
                          <a:latin typeface="Arial" pitchFamily="34" charset="0"/>
                          <a:ea typeface="Arial" pitchFamily="34" charset="-122"/>
                          <a:cs typeface="Arial" pitchFamily="34" charset="-120"/>
                        </a:rPr>
                        <a:t>ASMIT YADAV</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50" dirty="0">
                          <a:solidFill>
                            <a:srgbClr val="000000"/>
                          </a:solidFill>
                          <a:latin typeface="Arial" pitchFamily="34" charset="0"/>
                          <a:ea typeface="Arial" pitchFamily="34" charset="-122"/>
                          <a:cs typeface="Arial" pitchFamily="34" charset="-120"/>
                        </a:rPr>
                        <a:t>VU4F2324141</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QA, PDF Engine &amp; Database</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950" dirty="0">
                          <a:solidFill>
                            <a:srgbClr val="000000"/>
                          </a:solidFill>
                          <a:latin typeface="Arial" pitchFamily="34" charset="0"/>
                          <a:ea typeface="Arial" pitchFamily="34" charset="-122"/>
                          <a:cs typeface="Arial" pitchFamily="34" charset="-120"/>
                        </a:rPr>
                        <a:t>jsPDF report generator, database seeding scripts, Oxlint linter audits.</a:t>
                      </a:r>
                      <a:endParaRPr lang="en-US" sz="950" dirty="0">
                        <a:latin typeface="Arial" charset="0"/>
                        <a:ea typeface="Arial" charset="0"/>
                        <a:cs typeface="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23. Current System Status Summary</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5394960" cy="3931920"/>
          </a:xfrm>
          <a:prstGeom prst="roundRect">
            <a:avLst>
              <a:gd name="adj" fmla="val 930"/>
            </a:avLst>
          </a:prstGeom>
          <a:solidFill>
            <a:srgbClr val="F8FAFC"/>
          </a:solidFill>
          <a:ln w="12700">
            <a:solidFill>
              <a:srgbClr val="E2E8F0"/>
            </a:solidFill>
            <a:prstDash val="solid"/>
          </a:ln>
        </p:spPr>
      </p:sp>
      <p:sp>
        <p:nvSpPr>
          <p:cNvPr id="6" name="Text 4"/>
          <p:cNvSpPr/>
          <p:nvPr/>
        </p:nvSpPr>
        <p:spPr>
          <a:xfrm>
            <a:off x="731520" y="1234440"/>
            <a:ext cx="5029200" cy="274320"/>
          </a:xfrm>
          <a:prstGeom prst="rect">
            <a:avLst/>
          </a:prstGeom>
          <a:noFill/>
          <a:ln/>
        </p:spPr>
        <p:txBody>
          <a:bodyPr wrap="square" rtlCol="0" anchor="ctr"/>
          <a:lstStyle/>
          <a:p>
            <a:pPr indent="0" marL="0">
              <a:buNone/>
            </a:pPr>
            <a:r>
              <a:rPr lang="en-US" sz="1200" b="1" dirty="0">
                <a:solidFill>
                  <a:srgbClr val="10B981"/>
                </a:solidFill>
              </a:rPr>
              <a:t>VERIFIED COMPLETED WORK</a:t>
            </a:r>
            <a:endParaRPr lang="en-US" sz="1200" dirty="0"/>
          </a:p>
        </p:txBody>
      </p:sp>
      <p:sp>
        <p:nvSpPr>
          <p:cNvPr id="7" name="Text 5"/>
          <p:cNvSpPr/>
          <p:nvPr/>
        </p:nvSpPr>
        <p:spPr>
          <a:xfrm>
            <a:off x="731520" y="1600200"/>
            <a:ext cx="5029200" cy="3291840"/>
          </a:xfrm>
          <a:prstGeom prst="rect">
            <a:avLst/>
          </a:prstGeom>
          <a:noFill/>
          <a:ln/>
        </p:spPr>
        <p:txBody>
          <a:bodyPr wrap="square" rtlCol="0" anchor="ctr"/>
          <a:lstStyle/>
          <a:p>
            <a:pPr indent="0" marL="0">
              <a:buNone/>
            </a:pPr>
            <a:r>
              <a:rPr lang="en-US" sz="1050" dirty="0">
                <a:solidFill>
                  <a:srgbClr val="334155"/>
                </a:solidFill>
              </a:rPr>
              <a:t>• REST API &amp; MongoDB</a:t>
            </a:r>
            <a:endParaRPr lang="en-US" sz="1050" dirty="0"/>
          </a:p>
          <a:p>
            <a:pPr indent="0" marL="0">
              <a:buNone/>
            </a:pPr>
            <a:r>
              <a:rPr lang="en-US" sz="1050" dirty="0">
                <a:solidFill>
                  <a:srgbClr val="334155"/>
                </a:solidFill>
              </a:rPr>
              <a:t>  Complete Express REST API &amp; Mongoose models with GeoJSON indexing.</a:t>
            </a:r>
            <a:endParaRPr lang="en-US" sz="1050" dirty="0"/>
          </a:p>
          <a:p>
            <a:pPr indent="0" marL="0">
              <a:buNone/>
            </a:pPr>
            <a:endParaRPr lang="en-US" sz="1050" dirty="0"/>
          </a:p>
          <a:p>
            <a:pPr indent="0" marL="0">
              <a:buNone/>
            </a:pPr>
            <a:r>
              <a:rPr lang="en-US" sz="1050" dirty="0">
                <a:solidFill>
                  <a:srgbClr val="334155"/>
                </a:solidFill>
              </a:rPr>
              <a:t>• AI Triage Engine</a:t>
            </a:r>
            <a:endParaRPr lang="en-US" sz="1050" dirty="0"/>
          </a:p>
          <a:p>
            <a:pPr indent="0" marL="0">
              <a:buNone/>
            </a:pPr>
            <a:r>
              <a:rPr lang="en-US" sz="1050" dirty="0">
                <a:solidFill>
                  <a:srgbClr val="334155"/>
                </a:solidFill>
              </a:rPr>
              <a:t>  YOLOv8 + Gemini Pro Vision auto-categorization &amp; priority scoring.</a:t>
            </a:r>
            <a:endParaRPr lang="en-US" sz="1050" dirty="0"/>
          </a:p>
          <a:p>
            <a:pPr indent="0" marL="0">
              <a:buNone/>
            </a:pPr>
            <a:endParaRPr lang="en-US" sz="1050" dirty="0"/>
          </a:p>
          <a:p>
            <a:pPr indent="0" marL="0">
              <a:buNone/>
            </a:pPr>
            <a:r>
              <a:rPr lang="en-US" sz="1050" dirty="0">
                <a:solidFill>
                  <a:srgbClr val="334155"/>
                </a:solidFill>
              </a:rPr>
              <a:t>• Spatial Deduplication</a:t>
            </a:r>
            <a:endParaRPr lang="en-US" sz="1050" dirty="0"/>
          </a:p>
          <a:p>
            <a:pPr indent="0" marL="0">
              <a:buNone/>
            </a:pPr>
            <a:r>
              <a:rPr lang="en-US" sz="1050" dirty="0">
                <a:solidFill>
                  <a:srgbClr val="334155"/>
                </a:solidFill>
              </a:rPr>
              <a:t>  20m spherical spatial query auto-merging duplicate complaints.</a:t>
            </a:r>
            <a:endParaRPr lang="en-US" sz="1050" dirty="0"/>
          </a:p>
          <a:p>
            <a:pPr indent="0" marL="0">
              <a:buNone/>
            </a:pPr>
            <a:endParaRPr lang="en-US" sz="1050" dirty="0"/>
          </a:p>
          <a:p>
            <a:pPr indent="0" marL="0">
              <a:buNone/>
            </a:pPr>
            <a:r>
              <a:rPr lang="en-US" sz="1050" dirty="0">
                <a:solidFill>
                  <a:srgbClr val="334155"/>
                </a:solidFill>
              </a:rPr>
              <a:t>• GIS Interactive Map</a:t>
            </a:r>
            <a:endParaRPr lang="en-US" sz="1050" dirty="0"/>
          </a:p>
          <a:p>
            <a:pPr indent="0" marL="0">
              <a:buNone/>
            </a:pPr>
            <a:r>
              <a:rPr lang="en-US" sz="1050" dirty="0">
                <a:solidFill>
                  <a:srgbClr val="334155"/>
                </a:solidFill>
              </a:rPr>
              <a:t>  Leaflet OpenStreetMap public map layer with multi-parameter filtering.</a:t>
            </a:r>
            <a:endParaRPr lang="en-US" sz="1050" dirty="0"/>
          </a:p>
        </p:txBody>
      </p:sp>
      <p:sp>
        <p:nvSpPr>
          <p:cNvPr id="8" name="Shape 6"/>
          <p:cNvSpPr/>
          <p:nvPr/>
        </p:nvSpPr>
        <p:spPr>
          <a:xfrm>
            <a:off x="6248095" y="1097280"/>
            <a:ext cx="5394960" cy="3931920"/>
          </a:xfrm>
          <a:prstGeom prst="roundRect">
            <a:avLst>
              <a:gd name="adj" fmla="val 930"/>
            </a:avLst>
          </a:prstGeom>
          <a:solidFill>
            <a:srgbClr val="F8FAFC"/>
          </a:solidFill>
          <a:ln w="12700">
            <a:solidFill>
              <a:srgbClr val="E2E8F0"/>
            </a:solidFill>
            <a:prstDash val="solid"/>
          </a:ln>
        </p:spPr>
      </p:sp>
      <p:sp>
        <p:nvSpPr>
          <p:cNvPr id="9" name="Text 7"/>
          <p:cNvSpPr/>
          <p:nvPr/>
        </p:nvSpPr>
        <p:spPr>
          <a:xfrm>
            <a:off x="6430975" y="1234440"/>
            <a:ext cx="5029200" cy="274320"/>
          </a:xfrm>
          <a:prstGeom prst="rect">
            <a:avLst/>
          </a:prstGeom>
          <a:noFill/>
          <a:ln/>
        </p:spPr>
        <p:txBody>
          <a:bodyPr wrap="square" rtlCol="0" anchor="ctr"/>
          <a:lstStyle/>
          <a:p>
            <a:pPr indent="0" marL="0">
              <a:buNone/>
            </a:pPr>
            <a:r>
              <a:rPr lang="en-US" sz="1200" b="1" dirty="0">
                <a:solidFill>
                  <a:srgbClr val="0F172A"/>
                </a:solidFill>
              </a:rPr>
              <a:t>IN PROGRESS &amp; REMAINING SCOPE</a:t>
            </a:r>
            <a:endParaRPr lang="en-US" sz="1200" dirty="0"/>
          </a:p>
        </p:txBody>
      </p:sp>
      <p:sp>
        <p:nvSpPr>
          <p:cNvPr id="10" name="Text 8"/>
          <p:cNvSpPr/>
          <p:nvPr/>
        </p:nvSpPr>
        <p:spPr>
          <a:xfrm>
            <a:off x="6430975" y="1600200"/>
            <a:ext cx="5029200" cy="3291840"/>
          </a:xfrm>
          <a:prstGeom prst="rect">
            <a:avLst/>
          </a:prstGeom>
          <a:noFill/>
          <a:ln/>
        </p:spPr>
        <p:txBody>
          <a:bodyPr wrap="square" rtlCol="0" anchor="ctr"/>
          <a:lstStyle/>
          <a:p>
            <a:pPr indent="0" marL="0">
              <a:buNone/>
            </a:pPr>
            <a:r>
              <a:rPr lang="en-US" sz="1050" dirty="0">
                <a:solidFill>
                  <a:srgbClr val="334155"/>
                </a:solidFill>
              </a:rPr>
              <a:t>• Socket Push Notifications</a:t>
            </a:r>
            <a:endParaRPr lang="en-US" sz="1050" dirty="0"/>
          </a:p>
          <a:p>
            <a:pPr indent="0" marL="0">
              <a:buNone/>
            </a:pPr>
            <a:r>
              <a:rPr lang="en-US" sz="1050" dirty="0">
                <a:solidFill>
                  <a:srgbClr val="334155"/>
                </a:solidFill>
              </a:rPr>
              <a:t>  Socket-based real-time citizen SLA status push notifications (70%).</a:t>
            </a:r>
            <a:endParaRPr lang="en-US" sz="1050" dirty="0"/>
          </a:p>
          <a:p>
            <a:pPr indent="0" marL="0">
              <a:buNone/>
            </a:pPr>
            <a:endParaRPr lang="en-US" sz="1050" dirty="0"/>
          </a:p>
          <a:p>
            <a:pPr indent="0" marL="0">
              <a:buNone/>
            </a:pPr>
            <a:r>
              <a:rPr lang="en-US" sz="1050" dirty="0">
                <a:solidFill>
                  <a:srgbClr val="334155"/>
                </a:solidFill>
              </a:rPr>
              <a:t>• Service Worker PWA</a:t>
            </a:r>
            <a:endParaRPr lang="en-US" sz="1050" dirty="0"/>
          </a:p>
          <a:p>
            <a:pPr indent="0" marL="0">
              <a:buNone/>
            </a:pPr>
            <a:r>
              <a:rPr lang="en-US" sz="1050" dirty="0">
                <a:solidFill>
                  <a:srgbClr val="334155"/>
                </a:solidFill>
              </a:rPr>
              <a:t>  Service Worker caching layer for offline field worker logging (60%).</a:t>
            </a:r>
            <a:endParaRPr lang="en-US" sz="1050" dirty="0"/>
          </a:p>
          <a:p>
            <a:pPr indent="0" marL="0">
              <a:buNone/>
            </a:pPr>
            <a:endParaRPr lang="en-US" sz="1050" dirty="0"/>
          </a:p>
          <a:p>
            <a:pPr indent="0" marL="0">
              <a:buNone/>
            </a:pPr>
            <a:r>
              <a:rPr lang="en-US" sz="1050" dirty="0">
                <a:solidFill>
                  <a:srgbClr val="334155"/>
                </a:solidFill>
              </a:rPr>
              <a:t>• Stress Testing</a:t>
            </a:r>
            <a:endParaRPr lang="en-US" sz="1050" dirty="0"/>
          </a:p>
          <a:p>
            <a:pPr indent="0" marL="0">
              <a:buNone/>
            </a:pPr>
            <a:r>
              <a:rPr lang="en-US" sz="1050" dirty="0">
                <a:solidFill>
                  <a:srgbClr val="334155"/>
                </a:solidFill>
              </a:rPr>
              <a:t>  End-to-end stress testing under 1,000+ simulated concurrent complaints.</a:t>
            </a:r>
            <a:endParaRPr lang="en-US" sz="1050" dirty="0"/>
          </a:p>
          <a:p>
            <a:pPr indent="0" marL="0">
              <a:buNone/>
            </a:pPr>
            <a:endParaRPr lang="en-US" sz="1050" dirty="0"/>
          </a:p>
          <a:p>
            <a:pPr indent="0" marL="0">
              <a:buNone/>
            </a:pPr>
            <a:r>
              <a:rPr lang="en-US" sz="1050" dirty="0">
                <a:solidFill>
                  <a:srgbClr val="334155"/>
                </a:solidFill>
              </a:rPr>
              <a:t>• University Defense</a:t>
            </a:r>
            <a:endParaRPr lang="en-US" sz="1050" dirty="0"/>
          </a:p>
          <a:p>
            <a:pPr indent="0" marL="0">
              <a:buNone/>
            </a:pPr>
            <a:r>
              <a:rPr lang="en-US" sz="1050" dirty="0">
                <a:solidFill>
                  <a:srgbClr val="334155"/>
                </a:solidFill>
              </a:rPr>
              <a:t>  Final academic report, thesis documentation, and project defense.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24. Expected Project Outcomes &amp; Impact</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5449824" cy="1874520"/>
          </a:xfrm>
          <a:prstGeom prst="roundRect">
            <a:avLst>
              <a:gd name="adj" fmla="val 1951"/>
            </a:avLst>
          </a:prstGeom>
          <a:solidFill>
            <a:srgbClr val="F8FAFC"/>
          </a:solidFill>
          <a:ln w="12700">
            <a:solidFill>
              <a:srgbClr val="E2E8F0"/>
            </a:solidFill>
            <a:prstDash val="solid"/>
          </a:ln>
        </p:spPr>
      </p:sp>
      <p:sp>
        <p:nvSpPr>
          <p:cNvPr id="6" name="Text 4"/>
          <p:cNvSpPr/>
          <p:nvPr/>
        </p:nvSpPr>
        <p:spPr>
          <a:xfrm>
            <a:off x="731520" y="1234440"/>
            <a:ext cx="5084064" cy="274320"/>
          </a:xfrm>
          <a:prstGeom prst="rect">
            <a:avLst/>
          </a:prstGeom>
          <a:noFill/>
          <a:ln/>
        </p:spPr>
        <p:txBody>
          <a:bodyPr wrap="square" rtlCol="0" anchor="ctr"/>
          <a:lstStyle/>
          <a:p>
            <a:pPr indent="0" marL="0">
              <a:buNone/>
            </a:pPr>
            <a:r>
              <a:rPr lang="en-US" sz="1150" b="1" dirty="0">
                <a:solidFill>
                  <a:srgbClr val="0F172A"/>
                </a:solidFill>
              </a:rPr>
              <a:t>🏆 90%+ Reduction in Triage Latency</a:t>
            </a:r>
            <a:endParaRPr lang="en-US" sz="1150" dirty="0"/>
          </a:p>
        </p:txBody>
      </p:sp>
      <p:sp>
        <p:nvSpPr>
          <p:cNvPr id="7" name="Text 5"/>
          <p:cNvSpPr/>
          <p:nvPr/>
        </p:nvSpPr>
        <p:spPr>
          <a:xfrm>
            <a:off x="731520" y="1554480"/>
            <a:ext cx="5084064" cy="1280160"/>
          </a:xfrm>
          <a:prstGeom prst="rect">
            <a:avLst/>
          </a:prstGeom>
          <a:noFill/>
          <a:ln/>
        </p:spPr>
        <p:txBody>
          <a:bodyPr wrap="square" rtlCol="0" anchor="ctr"/>
          <a:lstStyle/>
          <a:p>
            <a:pPr indent="0" marL="0">
              <a:buNone/>
            </a:pPr>
            <a:r>
              <a:rPr lang="en-US" sz="1000" dirty="0">
                <a:solidFill>
                  <a:srgbClr val="334155"/>
                </a:solidFill>
              </a:rPr>
              <a:t>Automated Triage: AI vision classification eliminates manual administrative routing bottlenecks (&lt;1.2s vs 24–72h).</a:t>
            </a:r>
            <a:endParaRPr lang="en-US" sz="1000" dirty="0"/>
          </a:p>
        </p:txBody>
      </p:sp>
      <p:sp>
        <p:nvSpPr>
          <p:cNvPr id="8" name="Shape 6"/>
          <p:cNvSpPr/>
          <p:nvPr/>
        </p:nvSpPr>
        <p:spPr>
          <a:xfrm>
            <a:off x="6181344" y="1097280"/>
            <a:ext cx="5449824" cy="1874520"/>
          </a:xfrm>
          <a:prstGeom prst="roundRect">
            <a:avLst>
              <a:gd name="adj" fmla="val 1951"/>
            </a:avLst>
          </a:prstGeom>
          <a:solidFill>
            <a:srgbClr val="F8FAFC"/>
          </a:solidFill>
          <a:ln w="12700">
            <a:solidFill>
              <a:srgbClr val="E2E8F0"/>
            </a:solidFill>
            <a:prstDash val="solid"/>
          </a:ln>
        </p:spPr>
      </p:sp>
      <p:sp>
        <p:nvSpPr>
          <p:cNvPr id="9" name="Text 7"/>
          <p:cNvSpPr/>
          <p:nvPr/>
        </p:nvSpPr>
        <p:spPr>
          <a:xfrm>
            <a:off x="6364224" y="1234440"/>
            <a:ext cx="5084064" cy="274320"/>
          </a:xfrm>
          <a:prstGeom prst="rect">
            <a:avLst/>
          </a:prstGeom>
          <a:noFill/>
          <a:ln/>
        </p:spPr>
        <p:txBody>
          <a:bodyPr wrap="square" rtlCol="0" anchor="ctr"/>
          <a:lstStyle/>
          <a:p>
            <a:pPr indent="0" marL="0">
              <a:buNone/>
            </a:pPr>
            <a:r>
              <a:rPr lang="en-US" sz="1150" b="1" dirty="0">
                <a:solidFill>
                  <a:srgbClr val="0F172A"/>
                </a:solidFill>
              </a:rPr>
              <a:t>🏆 30%+ Redundant Work Reduction</a:t>
            </a:r>
            <a:endParaRPr lang="en-US" sz="1150" dirty="0"/>
          </a:p>
        </p:txBody>
      </p:sp>
      <p:sp>
        <p:nvSpPr>
          <p:cNvPr id="10" name="Text 8"/>
          <p:cNvSpPr/>
          <p:nvPr/>
        </p:nvSpPr>
        <p:spPr>
          <a:xfrm>
            <a:off x="6364224" y="1554480"/>
            <a:ext cx="5084064" cy="1280160"/>
          </a:xfrm>
          <a:prstGeom prst="rect">
            <a:avLst/>
          </a:prstGeom>
          <a:noFill/>
          <a:ln/>
        </p:spPr>
        <p:txBody>
          <a:bodyPr wrap="square" rtlCol="0" anchor="ctr"/>
          <a:lstStyle/>
          <a:p>
            <a:pPr indent="0" marL="0">
              <a:buNone/>
            </a:pPr>
            <a:r>
              <a:rPr lang="en-US" sz="1000" dirty="0">
                <a:solidFill>
                  <a:srgbClr val="334155"/>
                </a:solidFill>
              </a:rPr>
              <a:t>Spatial Deduplication: 20m radius check prevents duplicate contractor dispatch and aggregates citizen upvotes.</a:t>
            </a:r>
            <a:endParaRPr lang="en-US" sz="1000" dirty="0"/>
          </a:p>
        </p:txBody>
      </p:sp>
      <p:sp>
        <p:nvSpPr>
          <p:cNvPr id="11" name="Shape 9"/>
          <p:cNvSpPr/>
          <p:nvPr/>
        </p:nvSpPr>
        <p:spPr>
          <a:xfrm>
            <a:off x="548640" y="3108960"/>
            <a:ext cx="5449824" cy="1874520"/>
          </a:xfrm>
          <a:prstGeom prst="roundRect">
            <a:avLst>
              <a:gd name="adj" fmla="val 1951"/>
            </a:avLst>
          </a:prstGeom>
          <a:solidFill>
            <a:srgbClr val="F8FAFC"/>
          </a:solidFill>
          <a:ln w="12700">
            <a:solidFill>
              <a:srgbClr val="E2E8F0"/>
            </a:solidFill>
            <a:prstDash val="solid"/>
          </a:ln>
        </p:spPr>
      </p:sp>
      <p:sp>
        <p:nvSpPr>
          <p:cNvPr id="12" name="Text 10"/>
          <p:cNvSpPr/>
          <p:nvPr/>
        </p:nvSpPr>
        <p:spPr>
          <a:xfrm>
            <a:off x="731520" y="3246120"/>
            <a:ext cx="5084064" cy="274320"/>
          </a:xfrm>
          <a:prstGeom prst="rect">
            <a:avLst/>
          </a:prstGeom>
          <a:noFill/>
          <a:ln/>
        </p:spPr>
        <p:txBody>
          <a:bodyPr wrap="square" rtlCol="0" anchor="ctr"/>
          <a:lstStyle/>
          <a:p>
            <a:pPr indent="0" marL="0">
              <a:buNone/>
            </a:pPr>
            <a:r>
              <a:rPr lang="en-US" sz="1150" b="1" dirty="0">
                <a:solidFill>
                  <a:srgbClr val="0F172A"/>
                </a:solidFill>
              </a:rPr>
              <a:t>🏆 Ward Governance Accountability</a:t>
            </a:r>
            <a:endParaRPr lang="en-US" sz="1150" dirty="0"/>
          </a:p>
        </p:txBody>
      </p:sp>
      <p:sp>
        <p:nvSpPr>
          <p:cNvPr id="13" name="Text 11"/>
          <p:cNvSpPr/>
          <p:nvPr/>
        </p:nvSpPr>
        <p:spPr>
          <a:xfrm>
            <a:off x="731520" y="3566160"/>
            <a:ext cx="5084064" cy="1280160"/>
          </a:xfrm>
          <a:prstGeom prst="rect">
            <a:avLst/>
          </a:prstGeom>
          <a:noFill/>
          <a:ln/>
        </p:spPr>
        <p:txBody>
          <a:bodyPr wrap="square" rtlCol="0" anchor="ctr"/>
          <a:lstStyle/>
          <a:p>
            <a:pPr indent="0" marL="0">
              <a:buNone/>
            </a:pPr>
            <a:r>
              <a:rPr lang="en-US" sz="1000" dirty="0">
                <a:solidFill>
                  <a:srgbClr val="334155"/>
                </a:solidFill>
              </a:rPr>
              <a:t>Real-Time Scorecards: Ward SLA leaderboards motivate municipal departments to meet SLA deadlines with photo proof.</a:t>
            </a:r>
            <a:endParaRPr lang="en-US" sz="1000" dirty="0"/>
          </a:p>
        </p:txBody>
      </p:sp>
      <p:sp>
        <p:nvSpPr>
          <p:cNvPr id="14" name="Shape 12"/>
          <p:cNvSpPr/>
          <p:nvPr/>
        </p:nvSpPr>
        <p:spPr>
          <a:xfrm>
            <a:off x="6181344" y="3108960"/>
            <a:ext cx="5449824" cy="1874520"/>
          </a:xfrm>
          <a:prstGeom prst="roundRect">
            <a:avLst>
              <a:gd name="adj" fmla="val 1951"/>
            </a:avLst>
          </a:prstGeom>
          <a:solidFill>
            <a:srgbClr val="F8FAFC"/>
          </a:solidFill>
          <a:ln w="12700">
            <a:solidFill>
              <a:srgbClr val="E2E8F0"/>
            </a:solidFill>
            <a:prstDash val="solid"/>
          </a:ln>
        </p:spPr>
      </p:sp>
      <p:sp>
        <p:nvSpPr>
          <p:cNvPr id="15" name="Text 13"/>
          <p:cNvSpPr/>
          <p:nvPr/>
        </p:nvSpPr>
        <p:spPr>
          <a:xfrm>
            <a:off x="6364224" y="3246120"/>
            <a:ext cx="5084064" cy="274320"/>
          </a:xfrm>
          <a:prstGeom prst="rect">
            <a:avLst/>
          </a:prstGeom>
          <a:noFill/>
          <a:ln/>
        </p:spPr>
        <p:txBody>
          <a:bodyPr wrap="square" rtlCol="0" anchor="ctr"/>
          <a:lstStyle/>
          <a:p>
            <a:pPr indent="0" marL="0">
              <a:buNone/>
            </a:pPr>
            <a:r>
              <a:rPr lang="en-US" sz="1150" b="1" dirty="0">
                <a:solidFill>
                  <a:srgbClr val="0F172A"/>
                </a:solidFill>
              </a:rPr>
              <a:t>🏆 Accessible Civic Engagement</a:t>
            </a:r>
            <a:endParaRPr lang="en-US" sz="1150" dirty="0"/>
          </a:p>
        </p:txBody>
      </p:sp>
      <p:sp>
        <p:nvSpPr>
          <p:cNvPr id="16" name="Text 14"/>
          <p:cNvSpPr/>
          <p:nvPr/>
        </p:nvSpPr>
        <p:spPr>
          <a:xfrm>
            <a:off x="6364224" y="3566160"/>
            <a:ext cx="5084064" cy="1280160"/>
          </a:xfrm>
          <a:prstGeom prst="rect">
            <a:avLst/>
          </a:prstGeom>
          <a:noFill/>
          <a:ln/>
        </p:spPr>
        <p:txBody>
          <a:bodyPr wrap="square" rtlCol="0" anchor="ctr"/>
          <a:lstStyle/>
          <a:p>
            <a:pPr indent="0" marL="0">
              <a:buNone/>
            </a:pPr>
            <a:r>
              <a:rPr lang="en-US" sz="1000" dirty="0">
                <a:solidFill>
                  <a:srgbClr val="334155"/>
                </a:solidFill>
              </a:rPr>
              <a:t>Multilingual &amp; Voice: Tri-lingual interface and voice-to-text dictation enable all citizens to file tickets effortlessly.</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25. System Limitations &amp; Technical Dependencies</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11094415" cy="3931920"/>
          </a:xfrm>
          <a:prstGeom prst="roundRect">
            <a:avLst>
              <a:gd name="adj" fmla="val 930"/>
            </a:avLst>
          </a:prstGeom>
          <a:solidFill>
            <a:srgbClr val="F8FAFC"/>
          </a:solidFill>
          <a:ln w="12700">
            <a:solidFill>
              <a:srgbClr val="E2E8F0"/>
            </a:solidFill>
            <a:prstDash val="solid"/>
          </a:ln>
        </p:spPr>
      </p:sp>
      <p:sp>
        <p:nvSpPr>
          <p:cNvPr id="6" name="Text 4"/>
          <p:cNvSpPr/>
          <p:nvPr/>
        </p:nvSpPr>
        <p:spPr>
          <a:xfrm>
            <a:off x="731520" y="1234440"/>
            <a:ext cx="10698480" cy="274320"/>
          </a:xfrm>
          <a:prstGeom prst="rect">
            <a:avLst/>
          </a:prstGeom>
          <a:noFill/>
          <a:ln/>
        </p:spPr>
        <p:txBody>
          <a:bodyPr wrap="square" rtlCol="0" anchor="ctr"/>
          <a:lstStyle/>
          <a:p>
            <a:pPr indent="0" marL="0">
              <a:buNone/>
            </a:pPr>
            <a:r>
              <a:rPr lang="en-US" sz="1200" b="1" dirty="0">
                <a:solidFill>
                  <a:srgbClr val="0F172A"/>
                </a:solidFill>
              </a:rPr>
              <a:t>ACADEMIC SYSTEM LIMITATIONS</a:t>
            </a:r>
            <a:endParaRPr lang="en-US" sz="1200" dirty="0"/>
          </a:p>
        </p:txBody>
      </p:sp>
      <p:sp>
        <p:nvSpPr>
          <p:cNvPr id="7" name="Text 5"/>
          <p:cNvSpPr/>
          <p:nvPr/>
        </p:nvSpPr>
        <p:spPr>
          <a:xfrm>
            <a:off x="731520" y="1600200"/>
            <a:ext cx="10698480" cy="3291840"/>
          </a:xfrm>
          <a:prstGeom prst="rect">
            <a:avLst/>
          </a:prstGeom>
          <a:noFill/>
          <a:ln/>
        </p:spPr>
        <p:txBody>
          <a:bodyPr wrap="square" rtlCol="0" anchor="ctr"/>
          <a:lstStyle/>
          <a:p>
            <a:pPr indent="0" marL="0">
              <a:buNone/>
            </a:pPr>
            <a:r>
              <a:rPr lang="en-US" sz="1050" dirty="0">
                <a:solidFill>
                  <a:srgbClr val="334155"/>
                </a:solidFill>
              </a:rPr>
              <a:t>• Photo Quality Dependency</a:t>
            </a:r>
            <a:endParaRPr lang="en-US" sz="1050" dirty="0"/>
          </a:p>
          <a:p>
            <a:pPr indent="0" marL="0">
              <a:buNone/>
            </a:pPr>
            <a:r>
              <a:rPr lang="en-US" sz="1050" dirty="0">
                <a:solidFill>
                  <a:srgbClr val="334155"/>
                </a:solidFill>
              </a:rPr>
              <a:t>  AI computer vision classification requires reasonably clear photo capture; extremely blurry or nighttime photos fall back to NLP text processing.</a:t>
            </a:r>
            <a:endParaRPr lang="en-US" sz="1050" dirty="0"/>
          </a:p>
          <a:p>
            <a:pPr indent="0" marL="0">
              <a:buNone/>
            </a:pPr>
            <a:endParaRPr lang="en-US" sz="1050" dirty="0"/>
          </a:p>
          <a:p>
            <a:pPr indent="0" marL="0">
              <a:buNone/>
            </a:pPr>
            <a:r>
              <a:rPr lang="en-US" sz="1050" dirty="0">
                <a:solidFill>
                  <a:srgbClr val="334155"/>
                </a:solidFill>
              </a:rPr>
              <a:t>• Mobile GPS Resolution</a:t>
            </a:r>
            <a:endParaRPr lang="en-US" sz="1050" dirty="0"/>
          </a:p>
          <a:p>
            <a:pPr indent="0" marL="0">
              <a:buNone/>
            </a:pPr>
            <a:r>
              <a:rPr lang="en-US" sz="1050" dirty="0">
                <a:solidFill>
                  <a:srgbClr val="334155"/>
                </a:solidFill>
              </a:rPr>
              <a:t>  Spatial deduplication depends on device GPS resolution (within 15–20m margin); poor mobile GPS signals may affect spherical radius calculations.</a:t>
            </a:r>
            <a:endParaRPr lang="en-US" sz="1050" dirty="0"/>
          </a:p>
          <a:p>
            <a:pPr indent="0" marL="0">
              <a:buNone/>
            </a:pPr>
            <a:endParaRPr lang="en-US" sz="1050" dirty="0"/>
          </a:p>
          <a:p>
            <a:pPr indent="0" marL="0">
              <a:buNone/>
            </a:pPr>
            <a:r>
              <a:rPr lang="en-US" sz="1050" dirty="0">
                <a:solidFill>
                  <a:srgbClr val="334155"/>
                </a:solidFill>
              </a:rPr>
              <a:t>• Cloud API Connectivity</a:t>
            </a:r>
            <a:endParaRPr lang="en-US" sz="1050" dirty="0"/>
          </a:p>
          <a:p>
            <a:pPr indent="0" marL="0">
              <a:buNone/>
            </a:pPr>
            <a:r>
              <a:rPr lang="en-US" sz="1050" dirty="0">
                <a:solidFill>
                  <a:srgbClr val="334155"/>
                </a:solidFill>
              </a:rPr>
              <a:t>  Gemini Vision API requires active cloud internet connectivity; offline fallback runs lightweight edge YOLOv8 model locally.</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26. Future Scope &amp; Enhancement Roadmap</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3504895" cy="3931920"/>
          </a:xfrm>
          <a:prstGeom prst="roundRect">
            <a:avLst>
              <a:gd name="adj" fmla="val 1044"/>
            </a:avLst>
          </a:prstGeom>
          <a:solidFill>
            <a:srgbClr val="F8FAFC"/>
          </a:solidFill>
          <a:ln w="12700">
            <a:solidFill>
              <a:srgbClr val="E2E8F0"/>
            </a:solidFill>
            <a:prstDash val="solid"/>
          </a:ln>
        </p:spPr>
      </p:sp>
      <p:sp>
        <p:nvSpPr>
          <p:cNvPr id="6" name="Text 4"/>
          <p:cNvSpPr/>
          <p:nvPr/>
        </p:nvSpPr>
        <p:spPr>
          <a:xfrm>
            <a:off x="731520" y="1234440"/>
            <a:ext cx="3139135" cy="365760"/>
          </a:xfrm>
          <a:prstGeom prst="rect">
            <a:avLst/>
          </a:prstGeom>
          <a:noFill/>
          <a:ln/>
        </p:spPr>
        <p:txBody>
          <a:bodyPr wrap="square" rtlCol="0" anchor="ctr"/>
          <a:lstStyle/>
          <a:p>
            <a:pPr indent="0" marL="0">
              <a:buNone/>
            </a:pPr>
            <a:r>
              <a:rPr lang="en-US" sz="1300" b="1" dirty="0">
                <a:solidFill>
                  <a:srgbClr val="0F172A"/>
                </a:solidFill>
              </a:rPr>
              <a:t>PHASE 1 (Current Project)</a:t>
            </a:r>
            <a:endParaRPr lang="en-US" sz="1300" dirty="0"/>
          </a:p>
        </p:txBody>
      </p:sp>
      <p:sp>
        <p:nvSpPr>
          <p:cNvPr id="7" name="Text 5"/>
          <p:cNvSpPr/>
          <p:nvPr/>
        </p:nvSpPr>
        <p:spPr>
          <a:xfrm>
            <a:off x="731520" y="1691640"/>
            <a:ext cx="3139135" cy="3108960"/>
          </a:xfrm>
          <a:prstGeom prst="rect">
            <a:avLst/>
          </a:prstGeom>
          <a:noFill/>
          <a:ln/>
        </p:spPr>
        <p:txBody>
          <a:bodyPr wrap="square" rtlCol="0" anchor="ctr"/>
          <a:lstStyle/>
          <a:p>
            <a:pPr indent="0" marL="0">
              <a:buNone/>
            </a:pPr>
            <a:r>
              <a:rPr lang="en-US" sz="1050" dirty="0">
                <a:solidFill>
                  <a:srgbClr val="334155"/>
                </a:solidFill>
              </a:rPr>
              <a:t>• Web Portal &amp; GIS Map</a:t>
            </a:r>
            <a:endParaRPr lang="en-US" sz="1050" dirty="0"/>
          </a:p>
          <a:p>
            <a:pPr indent="0" marL="0">
              <a:buNone/>
            </a:pPr>
            <a:r>
              <a:rPr lang="en-US" sz="1050" dirty="0">
                <a:solidFill>
                  <a:srgbClr val="334155"/>
                </a:solidFill>
              </a:rPr>
              <a:t>• YOLOv8 + Gemini AI Triage</a:t>
            </a:r>
            <a:endParaRPr lang="en-US" sz="1050" dirty="0"/>
          </a:p>
          <a:p>
            <a:pPr indent="0" marL="0">
              <a:buNone/>
            </a:pPr>
            <a:r>
              <a:rPr lang="en-US" sz="1050" dirty="0">
                <a:solidFill>
                  <a:srgbClr val="334155"/>
                </a:solidFill>
              </a:rPr>
              <a:t>• 20m Spatial Deduplication</a:t>
            </a:r>
            <a:endParaRPr lang="en-US" sz="1050" dirty="0"/>
          </a:p>
          <a:p>
            <a:pPr indent="0" marL="0">
              <a:buNone/>
            </a:pPr>
            <a:r>
              <a:rPr lang="en-US" sz="1050" dirty="0">
                <a:solidFill>
                  <a:srgbClr val="334155"/>
                </a:solidFill>
              </a:rPr>
              <a:t>• Ward SLA Scorecards</a:t>
            </a:r>
            <a:endParaRPr lang="en-US" sz="1050" dirty="0"/>
          </a:p>
        </p:txBody>
      </p:sp>
      <p:sp>
        <p:nvSpPr>
          <p:cNvPr id="8" name="Shape 6"/>
          <p:cNvSpPr/>
          <p:nvPr/>
        </p:nvSpPr>
        <p:spPr>
          <a:xfrm>
            <a:off x="4343400" y="1097280"/>
            <a:ext cx="3504895" cy="3931920"/>
          </a:xfrm>
          <a:prstGeom prst="roundRect">
            <a:avLst>
              <a:gd name="adj" fmla="val 1044"/>
            </a:avLst>
          </a:prstGeom>
          <a:solidFill>
            <a:srgbClr val="F8FAFC"/>
          </a:solidFill>
          <a:ln w="12700">
            <a:solidFill>
              <a:srgbClr val="E2E8F0"/>
            </a:solidFill>
            <a:prstDash val="solid"/>
          </a:ln>
        </p:spPr>
      </p:sp>
      <p:sp>
        <p:nvSpPr>
          <p:cNvPr id="9" name="Text 7"/>
          <p:cNvSpPr/>
          <p:nvPr/>
        </p:nvSpPr>
        <p:spPr>
          <a:xfrm>
            <a:off x="4526280" y="1234440"/>
            <a:ext cx="3139135" cy="365760"/>
          </a:xfrm>
          <a:prstGeom prst="rect">
            <a:avLst/>
          </a:prstGeom>
          <a:noFill/>
          <a:ln/>
        </p:spPr>
        <p:txBody>
          <a:bodyPr wrap="square" rtlCol="0" anchor="ctr"/>
          <a:lstStyle/>
          <a:p>
            <a:pPr indent="0" marL="0">
              <a:buNone/>
            </a:pPr>
            <a:r>
              <a:rPr lang="en-US" sz="1300" b="1" dirty="0">
                <a:solidFill>
                  <a:srgbClr val="0F172A"/>
                </a:solidFill>
              </a:rPr>
              <a:t>PHASE 2 (Post-Graduation)</a:t>
            </a:r>
            <a:endParaRPr lang="en-US" sz="1300" dirty="0"/>
          </a:p>
        </p:txBody>
      </p:sp>
      <p:sp>
        <p:nvSpPr>
          <p:cNvPr id="10" name="Text 8"/>
          <p:cNvSpPr/>
          <p:nvPr/>
        </p:nvSpPr>
        <p:spPr>
          <a:xfrm>
            <a:off x="4526280" y="1691640"/>
            <a:ext cx="3139135" cy="3108960"/>
          </a:xfrm>
          <a:prstGeom prst="rect">
            <a:avLst/>
          </a:prstGeom>
          <a:noFill/>
          <a:ln/>
        </p:spPr>
        <p:txBody>
          <a:bodyPr wrap="square" rtlCol="0" anchor="ctr"/>
          <a:lstStyle/>
          <a:p>
            <a:pPr indent="0" marL="0">
              <a:buNone/>
            </a:pPr>
            <a:r>
              <a:rPr lang="en-US" sz="1050" dirty="0">
                <a:solidFill>
                  <a:srgbClr val="334155"/>
                </a:solidFill>
              </a:rPr>
              <a:t>• WhatsApp Bot API Filing</a:t>
            </a:r>
            <a:endParaRPr lang="en-US" sz="1050" dirty="0"/>
          </a:p>
          <a:p>
            <a:pPr indent="0" marL="0">
              <a:buNone/>
            </a:pPr>
            <a:r>
              <a:rPr lang="en-US" sz="1050" dirty="0">
                <a:solidFill>
                  <a:srgbClr val="334155"/>
                </a:solidFill>
              </a:rPr>
              <a:t>• PWA Full Offline Sync</a:t>
            </a:r>
            <a:endParaRPr lang="en-US" sz="1050" dirty="0"/>
          </a:p>
          <a:p>
            <a:pPr indent="0" marL="0">
              <a:buNone/>
            </a:pPr>
            <a:r>
              <a:rPr lang="en-US" sz="1050" dirty="0">
                <a:solidFill>
                  <a:srgbClr val="334155"/>
                </a:solidFill>
              </a:rPr>
              <a:t>• Drone Survey Image Ingestion</a:t>
            </a:r>
            <a:endParaRPr lang="en-US" sz="1050" dirty="0"/>
          </a:p>
        </p:txBody>
      </p:sp>
      <p:sp>
        <p:nvSpPr>
          <p:cNvPr id="11" name="Shape 9"/>
          <p:cNvSpPr/>
          <p:nvPr/>
        </p:nvSpPr>
        <p:spPr>
          <a:xfrm>
            <a:off x="8138160" y="1097280"/>
            <a:ext cx="3504895" cy="3931920"/>
          </a:xfrm>
          <a:prstGeom prst="roundRect">
            <a:avLst>
              <a:gd name="adj" fmla="val 1044"/>
            </a:avLst>
          </a:prstGeom>
          <a:solidFill>
            <a:srgbClr val="F8FAFC"/>
          </a:solidFill>
          <a:ln w="12700">
            <a:solidFill>
              <a:srgbClr val="E2E8F0"/>
            </a:solidFill>
            <a:prstDash val="solid"/>
          </a:ln>
        </p:spPr>
      </p:sp>
      <p:sp>
        <p:nvSpPr>
          <p:cNvPr id="12" name="Text 10"/>
          <p:cNvSpPr/>
          <p:nvPr/>
        </p:nvSpPr>
        <p:spPr>
          <a:xfrm>
            <a:off x="8321040" y="1234440"/>
            <a:ext cx="3139135" cy="365760"/>
          </a:xfrm>
          <a:prstGeom prst="rect">
            <a:avLst/>
          </a:prstGeom>
          <a:noFill/>
          <a:ln/>
        </p:spPr>
        <p:txBody>
          <a:bodyPr wrap="square" rtlCol="0" anchor="ctr"/>
          <a:lstStyle/>
          <a:p>
            <a:pPr indent="0" marL="0">
              <a:buNone/>
            </a:pPr>
            <a:r>
              <a:rPr lang="en-US" sz="1300" b="1" dirty="0">
                <a:solidFill>
                  <a:srgbClr val="0F172A"/>
                </a:solidFill>
              </a:rPr>
              <a:t>PHASE 3 (Future Vision)</a:t>
            </a:r>
            <a:endParaRPr lang="en-US" sz="1300" dirty="0"/>
          </a:p>
        </p:txBody>
      </p:sp>
      <p:sp>
        <p:nvSpPr>
          <p:cNvPr id="13" name="Text 11"/>
          <p:cNvSpPr/>
          <p:nvPr/>
        </p:nvSpPr>
        <p:spPr>
          <a:xfrm>
            <a:off x="8321040" y="1691640"/>
            <a:ext cx="3139135" cy="3108960"/>
          </a:xfrm>
          <a:prstGeom prst="rect">
            <a:avLst/>
          </a:prstGeom>
          <a:noFill/>
          <a:ln/>
        </p:spPr>
        <p:txBody>
          <a:bodyPr wrap="square" rtlCol="0" anchor="ctr"/>
          <a:lstStyle/>
          <a:p>
            <a:pPr indent="0" marL="0">
              <a:buNone/>
            </a:pPr>
            <a:r>
              <a:rPr lang="en-US" sz="1050" dirty="0">
                <a:solidFill>
                  <a:srgbClr val="334155"/>
                </a:solidFill>
              </a:rPr>
              <a:t>• Satellite GIS Risk Engine</a:t>
            </a:r>
            <a:endParaRPr lang="en-US" sz="1050" dirty="0"/>
          </a:p>
          <a:p>
            <a:pPr indent="0" marL="0">
              <a:buNone/>
            </a:pPr>
            <a:r>
              <a:rPr lang="en-US" sz="1050" dirty="0">
                <a:solidFill>
                  <a:srgbClr val="334155"/>
                </a:solidFill>
              </a:rPr>
              <a:t>• Pre-Monsoon Flood Predictive AI</a:t>
            </a:r>
            <a:endParaRPr lang="en-US" sz="1050" dirty="0"/>
          </a:p>
          <a:p>
            <a:pPr indent="0" marL="0">
              <a:buNone/>
            </a:pPr>
            <a:r>
              <a:rPr lang="en-US" sz="1050" dirty="0">
                <a:solidFill>
                  <a:srgbClr val="334155"/>
                </a:solidFill>
              </a:rPr>
              <a:t>• Smart City IoT Sensor Integration</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228600"/>
            <a:ext cx="11094415" cy="22860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B.E. MAJOR PROJECT REVIEW 1</a:t>
            </a:r>
            <a:endParaRPr lang="en-US" sz="950" dirty="0"/>
          </a:p>
        </p:txBody>
      </p:sp>
      <p:sp>
        <p:nvSpPr>
          <p:cNvPr id="3" name="Text 1"/>
          <p:cNvSpPr/>
          <p:nvPr/>
        </p:nvSpPr>
        <p:spPr>
          <a:xfrm>
            <a:off x="548640" y="457200"/>
            <a:ext cx="11094415" cy="41148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27. Academic Conclusion &amp; Summary</a:t>
            </a:r>
            <a:endParaRPr lang="en-US" sz="1800" dirty="0"/>
          </a:p>
        </p:txBody>
      </p:sp>
      <p:sp>
        <p:nvSpPr>
          <p:cNvPr id="4" name="Shape 2"/>
          <p:cNvSpPr/>
          <p:nvPr/>
        </p:nvSpPr>
        <p:spPr>
          <a:xfrm>
            <a:off x="548640" y="914400"/>
            <a:ext cx="11094415" cy="13716"/>
          </a:xfrm>
          <a:prstGeom prst="rect">
            <a:avLst/>
          </a:prstGeom>
          <a:solidFill>
            <a:srgbClr val="E2E8F0"/>
          </a:solidFill>
          <a:ln w="12700">
            <a:solidFill>
              <a:srgbClr val="E2E8F0"/>
            </a:solidFill>
            <a:prstDash val="solid"/>
          </a:ln>
        </p:spPr>
      </p:sp>
      <p:sp>
        <p:nvSpPr>
          <p:cNvPr id="5" name="Shape 3"/>
          <p:cNvSpPr/>
          <p:nvPr/>
        </p:nvSpPr>
        <p:spPr>
          <a:xfrm>
            <a:off x="548640" y="1097280"/>
            <a:ext cx="11094415" cy="2651760"/>
          </a:xfrm>
          <a:prstGeom prst="roundRect">
            <a:avLst>
              <a:gd name="adj" fmla="val 1379"/>
            </a:avLst>
          </a:prstGeom>
          <a:solidFill>
            <a:srgbClr val="F8FAFC"/>
          </a:solidFill>
          <a:ln w="12700">
            <a:solidFill>
              <a:srgbClr val="E2E8F0"/>
            </a:solidFill>
            <a:prstDash val="solid"/>
          </a:ln>
        </p:spPr>
      </p:sp>
      <p:sp>
        <p:nvSpPr>
          <p:cNvPr id="6" name="Text 4"/>
          <p:cNvSpPr/>
          <p:nvPr/>
        </p:nvSpPr>
        <p:spPr>
          <a:xfrm>
            <a:off x="731520" y="1234440"/>
            <a:ext cx="10698480" cy="274320"/>
          </a:xfrm>
          <a:prstGeom prst="rect">
            <a:avLst/>
          </a:prstGeom>
          <a:noFill/>
          <a:ln/>
        </p:spPr>
        <p:txBody>
          <a:bodyPr wrap="square" rtlCol="0" anchor="ctr"/>
          <a:lstStyle/>
          <a:p>
            <a:pPr indent="0" marL="0">
              <a:buNone/>
            </a:pPr>
            <a:r>
              <a:rPr lang="en-US" sz="1200" b="1" dirty="0">
                <a:solidFill>
                  <a:srgbClr val="10B981"/>
                </a:solidFill>
              </a:rPr>
              <a:t>ACADEMIC CONCLUSION</a:t>
            </a:r>
            <a:endParaRPr lang="en-US" sz="1200" dirty="0"/>
          </a:p>
        </p:txBody>
      </p:sp>
      <p:sp>
        <p:nvSpPr>
          <p:cNvPr id="7" name="Text 5"/>
          <p:cNvSpPr/>
          <p:nvPr/>
        </p:nvSpPr>
        <p:spPr>
          <a:xfrm>
            <a:off x="731520" y="1600200"/>
            <a:ext cx="10698480" cy="1920240"/>
          </a:xfrm>
          <a:prstGeom prst="rect">
            <a:avLst/>
          </a:prstGeom>
          <a:noFill/>
          <a:ln/>
        </p:spPr>
        <p:txBody>
          <a:bodyPr wrap="square" rtlCol="0" anchor="ctr"/>
          <a:lstStyle/>
          <a:p>
            <a:pPr indent="0" marL="0">
              <a:buNone/>
            </a:pPr>
            <a:r>
              <a:rPr lang="en-US" sz="1150" dirty="0">
                <a:solidFill>
                  <a:srgbClr val="334155"/>
                </a:solidFill>
              </a:rPr>
              <a:t>Smart Civic AI successfully addresses the critical inefficiencies of modern municipal grievance management by replacing slow manual triage with YOLOv8 Computer Vision and Google Gemini AI, solving database bloat via 20-meter Spatial Proximity Deduplication, and establishing transparent municipal accountability through Real-Time Ward Governance SLA Scorecards.</a:t>
            </a:r>
            <a:endParaRPr lang="en-US" sz="1150" dirty="0"/>
          </a:p>
        </p:txBody>
      </p:sp>
      <p:sp>
        <p:nvSpPr>
          <p:cNvPr id="8" name="Shape 6"/>
          <p:cNvSpPr/>
          <p:nvPr/>
        </p:nvSpPr>
        <p:spPr>
          <a:xfrm>
            <a:off x="548640" y="3931920"/>
            <a:ext cx="11094415" cy="1097280"/>
          </a:xfrm>
          <a:prstGeom prst="roundRect">
            <a:avLst>
              <a:gd name="adj" fmla="val 3333"/>
            </a:avLst>
          </a:prstGeom>
          <a:solidFill>
            <a:srgbClr val="0F172A"/>
          </a:solidFill>
          <a:ln w="12700">
            <a:solidFill>
              <a:srgbClr val="E2E8F0"/>
            </a:solidFill>
            <a:prstDash val="solid"/>
          </a:ln>
        </p:spPr>
      </p:sp>
      <p:sp>
        <p:nvSpPr>
          <p:cNvPr id="9" name="Text 7"/>
          <p:cNvSpPr/>
          <p:nvPr/>
        </p:nvSpPr>
        <p:spPr>
          <a:xfrm>
            <a:off x="731520" y="4023360"/>
            <a:ext cx="10698480" cy="457200"/>
          </a:xfrm>
          <a:prstGeom prst="rect">
            <a:avLst/>
          </a:prstGeom>
          <a:noFill/>
          <a:ln/>
        </p:spPr>
        <p:txBody>
          <a:bodyPr wrap="square" rtlCol="0" anchor="ctr"/>
          <a:lstStyle/>
          <a:p>
            <a:pPr algn="ctr" indent="0" marL="0">
              <a:buNone/>
            </a:pPr>
            <a:r>
              <a:rPr lang="en-US" sz="1600" b="1" dirty="0">
                <a:solidFill>
                  <a:srgbClr val="10B981"/>
                </a:solidFill>
              </a:rPr>
              <a:t>THANK YOU!</a:t>
            </a:r>
            <a:endParaRPr lang="en-US" sz="1600" dirty="0"/>
          </a:p>
          <a:p>
            <a:pPr algn="ctr" indent="0" marL="0">
              <a:buNone/>
            </a:pPr>
            <a:r>
              <a:rPr lang="en-US" sz="1600" b="1" dirty="0">
                <a:solidFill>
                  <a:srgbClr val="10B981"/>
                </a:solidFill>
              </a:rPr>
              <a:t>Questions &amp; Panel Discussion</a:t>
            </a:r>
            <a:endParaRPr lang="en-US" sz="1600" dirty="0"/>
          </a:p>
        </p:txBody>
      </p:sp>
      <p:sp>
        <p:nvSpPr>
          <p:cNvPr id="10" name="Text 8"/>
          <p:cNvSpPr/>
          <p:nvPr/>
        </p:nvSpPr>
        <p:spPr>
          <a:xfrm>
            <a:off x="731520" y="4526280"/>
            <a:ext cx="10698480" cy="365760"/>
          </a:xfrm>
          <a:prstGeom prst="rect">
            <a:avLst/>
          </a:prstGeom>
          <a:noFill/>
          <a:ln/>
        </p:spPr>
        <p:txBody>
          <a:bodyPr wrap="square" rtlCol="0" anchor="ctr"/>
          <a:lstStyle/>
          <a:p>
            <a:pPr algn="ctr" indent="0" marL="0">
              <a:buNone/>
            </a:pPr>
            <a:r>
              <a:rPr lang="en-US" sz="1000" dirty="0">
                <a:solidFill>
                  <a:srgbClr val="FFFFFF"/>
                </a:solidFill>
              </a:rPr>
              <a:t>Department of Information Technology • Vasantdada Patil Pratishthan's College of Engineering and Visual Arts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Smart Civic Intelligence &amp; Urban Issue Management System</dc:title>
  <dc:subject>PptxGenJS Presentation</dc:subject>
  <dc:creator>Department of Information Technology - VPPCOE&amp;VA</dc:creator>
  <cp:lastModifiedBy>Department of Information Technology - VPPCOE&amp;VA</cp:lastModifiedBy>
  <cp:revision>1</cp:revision>
  <dcterms:created xsi:type="dcterms:W3CDTF">2026-08-11T16:59:19Z</dcterms:created>
  <dcterms:modified xsi:type="dcterms:W3CDTF">2026-08-11T16:59:19Z</dcterms:modified>
</cp:coreProperties>
</file>